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Lora"/>
      <p:regular r:id="rId13"/>
      <p:bold r:id="rId14"/>
      <p:italic r:id="rId15"/>
      <p:boldItalic r:id="rId16"/>
    </p:embeddedFon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HGVUQhkfjTuiVfeskENapem4I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font" Target="fonts/Lora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ora-italic.fntdata"/><Relationship Id="rId14" Type="http://schemas.openxmlformats.org/officeDocument/2006/relationships/font" Target="fonts/Lora-bold.fntdata"/><Relationship Id="rId17" Type="http://schemas.openxmlformats.org/officeDocument/2006/relationships/font" Target="fonts/QuattrocentoSans-regular.fntdata"/><Relationship Id="rId16" Type="http://schemas.openxmlformats.org/officeDocument/2006/relationships/font" Target="fonts/Lora-boldItalic.fntdata"/><Relationship Id="rId5" Type="http://schemas.openxmlformats.org/officeDocument/2006/relationships/slide" Target="slides/slide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be246bff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bbe246bf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be246bff7_0_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be246bff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330b8285a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8330b8285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be246bff7_0_1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bbe246bff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be246bff7_0_3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bbe246bff7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be246bff7_0_2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bbe246bff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be246bff7_0_3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bbe246bff7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1" name="Google Shape;11;p24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4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5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5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5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latin typeface="Lora"/>
                <a:ea typeface="Lora"/>
                <a:cs typeface="Lora"/>
                <a:sym typeface="L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17" name="Google Shape;17;p25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18" name="Google Shape;18;p25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 txBox="1"/>
          <p:nvPr>
            <p:ph idx="1" type="subTitle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highlight>
                  <a:schemeClr val="accent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9pPr>
          </a:lstStyle>
          <a:p/>
        </p:txBody>
      </p:sp>
      <p:cxnSp>
        <p:nvCxnSpPr>
          <p:cNvPr id="24" name="Google Shape;24;p27"/>
          <p:cNvCxnSpPr/>
          <p:nvPr/>
        </p:nvCxnSpPr>
        <p:spPr>
          <a:xfrm>
            <a:off x="-6025" y="2571762"/>
            <a:ext cx="1984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27"/>
          <p:cNvSpPr/>
          <p:nvPr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7"/>
          <p:cNvSpPr txBox="1"/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27" name="Google Shape;27;p27"/>
          <p:cNvCxnSpPr/>
          <p:nvPr/>
        </p:nvCxnSpPr>
        <p:spPr>
          <a:xfrm>
            <a:off x="5898975" y="2571750"/>
            <a:ext cx="3251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810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Lora"/>
              <a:buChar char="◉"/>
              <a:defRPr i="1" sz="2400">
                <a:latin typeface="Lora"/>
                <a:ea typeface="Lora"/>
                <a:cs typeface="Lora"/>
                <a:sym typeface="Lora"/>
              </a:defRPr>
            </a:lvl1pPr>
            <a:lvl2pPr indent="-355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  <a:defRPr i="1">
                <a:latin typeface="Lora"/>
                <a:ea typeface="Lora"/>
                <a:cs typeface="Lora"/>
                <a:sym typeface="Lora"/>
              </a:defRPr>
            </a:lvl2pPr>
            <a:lvl3pPr indent="-355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■"/>
              <a:defRPr i="1">
                <a:latin typeface="Lora"/>
                <a:ea typeface="Lora"/>
                <a:cs typeface="Lora"/>
                <a:sym typeface="Lora"/>
              </a:defRPr>
            </a:lvl3pPr>
            <a:lvl4pPr indent="-3810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i="1" sz="2400">
                <a:latin typeface="Lora"/>
                <a:ea typeface="Lora"/>
                <a:cs typeface="Lora"/>
                <a:sym typeface="Lora"/>
              </a:defRPr>
            </a:lvl4pPr>
            <a:lvl5pPr indent="-3810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i="1" sz="2400">
                <a:latin typeface="Lora"/>
                <a:ea typeface="Lora"/>
                <a:cs typeface="Lora"/>
                <a:sym typeface="Lora"/>
              </a:defRPr>
            </a:lvl5pPr>
            <a:lvl6pPr indent="-3810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i="1" sz="2400">
                <a:latin typeface="Lora"/>
                <a:ea typeface="Lora"/>
                <a:cs typeface="Lora"/>
                <a:sym typeface="Lora"/>
              </a:defRPr>
            </a:lvl6pPr>
            <a:lvl7pPr indent="-3810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i="1" sz="2400">
                <a:latin typeface="Lora"/>
                <a:ea typeface="Lora"/>
                <a:cs typeface="Lora"/>
                <a:sym typeface="Lora"/>
              </a:defRPr>
            </a:lvl7pPr>
            <a:lvl8pPr indent="-3810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i="1" sz="2400">
                <a:latin typeface="Lora"/>
                <a:ea typeface="Lora"/>
                <a:cs typeface="Lora"/>
                <a:sym typeface="Lora"/>
              </a:defRPr>
            </a:lvl8pPr>
            <a:lvl9pPr indent="-3810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i="1" sz="24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cxnSp>
        <p:nvCxnSpPr>
          <p:cNvPr id="31" name="Google Shape;31;p28"/>
          <p:cNvCxnSpPr/>
          <p:nvPr/>
        </p:nvCxnSpPr>
        <p:spPr>
          <a:xfrm>
            <a:off x="4584075" y="3676500"/>
            <a:ext cx="0" cy="148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8"/>
          <p:cNvSpPr/>
          <p:nvPr/>
        </p:nvSpPr>
        <p:spPr>
          <a:xfrm>
            <a:off x="428850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8"/>
          <p:cNvSpPr txBox="1"/>
          <p:nvPr/>
        </p:nvSpPr>
        <p:spPr>
          <a:xfrm>
            <a:off x="3593400" y="3412652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“</a:t>
            </a:r>
            <a:endParaRPr b="1" i="0" sz="36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4297650" y="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" type="body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8" name="Google Shape;38;p29"/>
          <p:cNvSpPr txBox="1"/>
          <p:nvPr>
            <p:ph idx="2" type="body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cxnSp>
        <p:nvCxnSpPr>
          <p:cNvPr id="39" name="Google Shape;39;p29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9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9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" type="body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2" type="body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3" type="body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48" name="Google Shape;48;p30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0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30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54" name="Google Shape;54;p31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1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31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idx="1" type="body"/>
          </p:nvPr>
        </p:nvSpPr>
        <p:spPr>
          <a:xfrm>
            <a:off x="1990450" y="4037375"/>
            <a:ext cx="516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Font typeface="Lora"/>
              <a:buNone/>
              <a:defRPr i="1" sz="1400">
                <a:latin typeface="Lora"/>
                <a:ea typeface="Lora"/>
                <a:cs typeface="Lora"/>
                <a:sym typeface="Lora"/>
              </a:defRPr>
            </a:lvl1pPr>
          </a:lstStyle>
          <a:p/>
        </p:txBody>
      </p:sp>
      <p:cxnSp>
        <p:nvCxnSpPr>
          <p:cNvPr id="60" name="Google Shape;60;p32"/>
          <p:cNvCxnSpPr/>
          <p:nvPr/>
        </p:nvCxnSpPr>
        <p:spPr>
          <a:xfrm>
            <a:off x="-6025" y="4666129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2"/>
          <p:cNvSpPr/>
          <p:nvPr/>
        </p:nvSpPr>
        <p:spPr>
          <a:xfrm>
            <a:off x="4457400" y="4551496"/>
            <a:ext cx="229200" cy="22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33"/>
          <p:cNvCxnSpPr/>
          <p:nvPr/>
        </p:nvCxnSpPr>
        <p:spPr>
          <a:xfrm>
            <a:off x="-6025" y="4513729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3"/>
          <p:cNvSpPr/>
          <p:nvPr/>
        </p:nvSpPr>
        <p:spPr>
          <a:xfrm>
            <a:off x="4293700" y="4235405"/>
            <a:ext cx="556500" cy="55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 txBox="1"/>
          <p:nvPr>
            <p:ph idx="12" type="sldNum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◉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○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■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●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type="title"/>
          </p:nvPr>
        </p:nvSpPr>
        <p:spPr>
          <a:xfrm>
            <a:off x="1381250" y="896549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alrIxT_ozKA&amp;list=PLXXrgAODNIazzgSIOuUSlwPkTg4jiyyWi&amp;index=2" TargetMode="External"/><Relationship Id="rId4" Type="http://schemas.openxmlformats.org/officeDocument/2006/relationships/hyperlink" Target="https://www.youtube.com/watch?v=KHbwOetbmbs&amp;list=PLzdnOPI1iJNeehd1RXhnVMBFi1WhWLx_Y&amp;index=2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10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ctrTitle"/>
          </p:nvPr>
        </p:nvSpPr>
        <p:spPr>
          <a:xfrm>
            <a:off x="1638275" y="2341401"/>
            <a:ext cx="58455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Giving Computers the Ability to Learn from Data</a:t>
            </a:r>
            <a:endParaRPr sz="3000"/>
          </a:p>
        </p:txBody>
      </p:sp>
      <p:grpSp>
        <p:nvGrpSpPr>
          <p:cNvPr id="72" name="Google Shape;72;p1"/>
          <p:cNvGrpSpPr/>
          <p:nvPr/>
        </p:nvGrpSpPr>
        <p:grpSpPr>
          <a:xfrm>
            <a:off x="1299165" y="3511424"/>
            <a:ext cx="215966" cy="342399"/>
            <a:chOff x="6718575" y="2318625"/>
            <a:chExt cx="256950" cy="407375"/>
          </a:xfrm>
        </p:grpSpPr>
        <p:sp>
          <p:nvSpPr>
            <p:cNvPr id="73" name="Google Shape;73;p1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"/>
          <p:cNvSpPr txBox="1"/>
          <p:nvPr>
            <p:ph idx="4294967295" type="subTitle"/>
          </p:nvPr>
        </p:nvSpPr>
        <p:spPr>
          <a:xfrm>
            <a:off x="3285275" y="3924975"/>
            <a:ext cx="25434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Concept &amp; Pathway</a:t>
            </a:r>
            <a:endParaRPr b="1" i="0" sz="2100" u="none" cap="none" strike="noStrike">
              <a:solidFill>
                <a:schemeClr val="accent2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0725" y="218900"/>
            <a:ext cx="4104552" cy="199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be246bff7_0_0"/>
          <p:cNvSpPr txBox="1"/>
          <p:nvPr>
            <p:ph type="title"/>
          </p:nvPr>
        </p:nvSpPr>
        <p:spPr>
          <a:xfrm>
            <a:off x="1305050" y="896100"/>
            <a:ext cx="4160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 Refresher</a:t>
            </a:r>
            <a:endParaRPr/>
          </a:p>
        </p:txBody>
      </p:sp>
      <p:sp>
        <p:nvSpPr>
          <p:cNvPr id="88" name="Google Shape;88;g3bbe246bff7_0_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g3bbe246bff7_0_0"/>
          <p:cNvSpPr txBox="1"/>
          <p:nvPr/>
        </p:nvSpPr>
        <p:spPr>
          <a:xfrm>
            <a:off x="578650" y="1527700"/>
            <a:ext cx="8170200" cy="1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Computer Science</a:t>
            </a:r>
            <a:r>
              <a:rPr b="0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r>
              <a:rPr b="0" i="1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is about studying how to use Algorithms to solve problems</a:t>
            </a:r>
            <a:endParaRPr b="0" i="1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Algorithms: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Sequences of instruction that 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does a task and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leads to a solution.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Program: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Algorithms expressed in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a language the computer can understand.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Artificial Intelligence:</a:t>
            </a:r>
            <a:r>
              <a:rPr b="1" i="1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b="1" i="1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Capability of computer systems to perform tasks typically associated with human intelligence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5143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0" name="Google Shape;90;g3bbe246bff7_0_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91" name="Google Shape;91;g3bbe246bff7_0_0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bbe246bff7_0_0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3bbe246bff7_0_0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bbe246bff7_0_0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g3bbe246bff7_0_0"/>
          <p:cNvSpPr/>
          <p:nvPr/>
        </p:nvSpPr>
        <p:spPr>
          <a:xfrm>
            <a:off x="0" y="3355325"/>
            <a:ext cx="9149700" cy="17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1" sz="13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" sz="13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Programming is Thinking, not Typing.</a:t>
            </a:r>
            <a:endParaRPr b="1" i="1" sz="13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1" sz="13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1" sz="10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" sz="1300" u="sng" cap="none" strike="noStrike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4"/>
              </a:rPr>
              <a:t>AI vs Programming:</a:t>
            </a:r>
            <a:endParaRPr b="1" i="1" sz="13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1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While traditional programmes follow fixed instructions, </a:t>
            </a:r>
            <a:endParaRPr b="0" i="1" sz="12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AI has the ability to learn, adapt, and make decisions based on the </a:t>
            </a:r>
            <a:r>
              <a:rPr b="1" i="1" lang="en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</a:t>
            </a:r>
            <a:r>
              <a:rPr b="0" i="1" lang="en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it processes</a:t>
            </a:r>
            <a:endParaRPr b="0" i="1" sz="12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be246bff7_0_74"/>
          <p:cNvSpPr txBox="1"/>
          <p:nvPr>
            <p:ph type="title"/>
          </p:nvPr>
        </p:nvSpPr>
        <p:spPr>
          <a:xfrm>
            <a:off x="1305050" y="896100"/>
            <a:ext cx="4160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How it all fits together!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1" name="Google Shape;101;g3bbe246bff7_0_7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2" name="Google Shape;102;g3bbe246bff7_0_74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03" name="Google Shape;103;g3bbe246bff7_0_74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bbe246bff7_0_74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bbe246bff7_0_74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bbe246bff7_0_74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g3bbe246bff7_0_74" title="Screen Shot 2025-05-04 at 4.17.07 PM.png"/>
          <p:cNvPicPr preferRelativeResize="0"/>
          <p:nvPr/>
        </p:nvPicPr>
        <p:blipFill rotWithShape="1">
          <a:blip r:embed="rId3">
            <a:alphaModFix/>
          </a:blip>
          <a:srcRect b="1933" l="0" r="0" t="14349"/>
          <a:stretch/>
        </p:blipFill>
        <p:spPr>
          <a:xfrm>
            <a:off x="1482800" y="1602225"/>
            <a:ext cx="5861775" cy="274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g3bbe246bff7_0_74"/>
          <p:cNvSpPr txBox="1"/>
          <p:nvPr/>
        </p:nvSpPr>
        <p:spPr>
          <a:xfrm>
            <a:off x="449250" y="2058150"/>
            <a:ext cx="2520000" cy="861900"/>
          </a:xfrm>
          <a:prstGeom prst="rect">
            <a:avLst/>
          </a:prstGeom>
          <a:noFill/>
          <a:ln cap="flat" cmpd="sng" w="28575">
            <a:solidFill>
              <a:srgbClr val="20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4E79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The process of examining, cleaning, transforming, and interpreting data to discover useful insights and support decision-making.</a:t>
            </a:r>
            <a:endParaRPr b="0" i="0" sz="1300" u="none" cap="none" strike="noStrike">
              <a:solidFill>
                <a:srgbClr val="204E7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9" name="Google Shape;109;g3bbe246bff7_0_74"/>
          <p:cNvSpPr txBox="1"/>
          <p:nvPr/>
        </p:nvSpPr>
        <p:spPr>
          <a:xfrm>
            <a:off x="5853750" y="1518900"/>
            <a:ext cx="2820900" cy="861900"/>
          </a:xfrm>
          <a:prstGeom prst="rect">
            <a:avLst/>
          </a:prstGeom>
          <a:noFill/>
          <a:ln cap="flat" cmpd="sng" w="28575">
            <a:solidFill>
              <a:srgbClr val="ED7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D7C31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Uses various techniques, including machine learning &amp; deep learning, to create systems that mimic human-like intelligence, reasoning, &amp; problem-solving.</a:t>
            </a:r>
            <a:endParaRPr b="0" i="0" sz="1200" u="none" cap="none" strike="noStrike">
              <a:solidFill>
                <a:srgbClr val="ED7C3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g3bbe246bff7_0_74"/>
          <p:cNvSpPr txBox="1"/>
          <p:nvPr/>
        </p:nvSpPr>
        <p:spPr>
          <a:xfrm>
            <a:off x="584250" y="3349138"/>
            <a:ext cx="2385000" cy="692700"/>
          </a:xfrm>
          <a:prstGeom prst="rect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66666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Involves the use of algorithms to enable computers to learn from data and make predictions or decisions.</a:t>
            </a:r>
            <a:endParaRPr b="0" i="0" sz="1200" u="none" cap="none" strike="noStrike">
              <a:solidFill>
                <a:srgbClr val="66666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1" name="Google Shape;111;g3bbe246bff7_0_74"/>
          <p:cNvSpPr txBox="1"/>
          <p:nvPr/>
        </p:nvSpPr>
        <p:spPr>
          <a:xfrm>
            <a:off x="6012750" y="2679100"/>
            <a:ext cx="2385000" cy="938100"/>
          </a:xfrm>
          <a:prstGeom prst="rect">
            <a:avLst/>
          </a:prstGeom>
          <a:noFill/>
          <a:ln cap="flat" cmpd="sng" w="28575">
            <a:solidFill>
              <a:srgbClr val="BF90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F9001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Focuses on neural networks with many layers. It excels at tasks involving unstructured data like images, audio, and natural language.</a:t>
            </a:r>
            <a:endParaRPr b="0" i="0" sz="1000" u="none" cap="none" strike="noStrike">
              <a:solidFill>
                <a:srgbClr val="BF9001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" name="Google Shape;112;g3bbe246bff7_0_74"/>
          <p:cNvSpPr txBox="1"/>
          <p:nvPr/>
        </p:nvSpPr>
        <p:spPr>
          <a:xfrm>
            <a:off x="5305000" y="4144700"/>
            <a:ext cx="3034200" cy="743400"/>
          </a:xfrm>
          <a:prstGeom prst="rect">
            <a:avLst/>
          </a:prstGeom>
          <a:noFill/>
          <a:ln cap="flat" cmpd="sng" w="2857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Focuses on creating systems capable of generating new and creative content, such as text, images, or music, in a human-like manner.</a:t>
            </a:r>
            <a:endParaRPr b="0" i="0" sz="1000" u="none" cap="none" strike="noStrike">
              <a:solidFill>
                <a:schemeClr val="dk1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3" name="Google Shape;113;g3bbe246bff7_0_74"/>
          <p:cNvCxnSpPr>
            <a:stCxn id="108" idx="3"/>
          </p:cNvCxnSpPr>
          <p:nvPr/>
        </p:nvCxnSpPr>
        <p:spPr>
          <a:xfrm flipH="1" rot="10800000">
            <a:off x="2969250" y="2480400"/>
            <a:ext cx="528600" cy="8700"/>
          </a:xfrm>
          <a:prstGeom prst="straightConnector1">
            <a:avLst/>
          </a:prstGeom>
          <a:noFill/>
          <a:ln cap="flat" cmpd="sng" w="28575">
            <a:solidFill>
              <a:srgbClr val="204E7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g3bbe246bff7_0_74"/>
          <p:cNvCxnSpPr>
            <a:stCxn id="110" idx="3"/>
          </p:cNvCxnSpPr>
          <p:nvPr/>
        </p:nvCxnSpPr>
        <p:spPr>
          <a:xfrm flipH="1" rot="10800000">
            <a:off x="2969250" y="3689788"/>
            <a:ext cx="781200" cy="5700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g3bbe246bff7_0_74"/>
          <p:cNvCxnSpPr>
            <a:stCxn id="112" idx="1"/>
          </p:cNvCxnSpPr>
          <p:nvPr/>
        </p:nvCxnSpPr>
        <p:spPr>
          <a:xfrm rot="10800000">
            <a:off x="4603000" y="4237100"/>
            <a:ext cx="702000" cy="279300"/>
          </a:xfrm>
          <a:prstGeom prst="straightConnector1">
            <a:avLst/>
          </a:prstGeom>
          <a:noFill/>
          <a:ln cap="flat" cmpd="sng" w="2857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g3bbe246bff7_0_74"/>
          <p:cNvCxnSpPr>
            <a:stCxn id="111" idx="1"/>
          </p:cNvCxnSpPr>
          <p:nvPr/>
        </p:nvCxnSpPr>
        <p:spPr>
          <a:xfrm flipH="1">
            <a:off x="4865250" y="3148150"/>
            <a:ext cx="1147500" cy="572400"/>
          </a:xfrm>
          <a:prstGeom prst="straightConnector1">
            <a:avLst/>
          </a:prstGeom>
          <a:noFill/>
          <a:ln cap="flat" cmpd="sng" w="28575">
            <a:solidFill>
              <a:srgbClr val="BF900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g3bbe246bff7_0_74"/>
          <p:cNvCxnSpPr>
            <a:stCxn id="109" idx="1"/>
          </p:cNvCxnSpPr>
          <p:nvPr/>
        </p:nvCxnSpPr>
        <p:spPr>
          <a:xfrm flipH="1">
            <a:off x="5191350" y="1949850"/>
            <a:ext cx="662400" cy="951900"/>
          </a:xfrm>
          <a:prstGeom prst="straightConnector1">
            <a:avLst/>
          </a:prstGeom>
          <a:noFill/>
          <a:ln cap="flat" cmpd="sng" w="28575">
            <a:solidFill>
              <a:srgbClr val="ED7C3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330b8285a_0_11"/>
          <p:cNvSpPr txBox="1"/>
          <p:nvPr>
            <p:ph type="title"/>
          </p:nvPr>
        </p:nvSpPr>
        <p:spPr>
          <a:xfrm>
            <a:off x="1381250" y="896100"/>
            <a:ext cx="7575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AI, ML, Deep Learning, &amp; Generative AI: How They Relate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123" name="Google Shape;123;g38330b8285a_0_11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4" name="Google Shape;124;g38330b8285a_0_11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8330b8285a_0_11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8330b8285a_0_11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8330b8285a_0_11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g38330b8285a_0_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g38330b8285a_0_11" title="1_BrzOfhL4anS8KK2G7b8nug.png"/>
          <p:cNvPicPr preferRelativeResize="0"/>
          <p:nvPr/>
        </p:nvPicPr>
        <p:blipFill rotWithShape="1">
          <a:blip r:embed="rId3">
            <a:alphaModFix/>
          </a:blip>
          <a:srcRect b="2456" l="1006" r="1231" t="3416"/>
          <a:stretch/>
        </p:blipFill>
        <p:spPr>
          <a:xfrm>
            <a:off x="1757713" y="1634088"/>
            <a:ext cx="5259575" cy="330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be246bff7_0_157"/>
          <p:cNvSpPr txBox="1"/>
          <p:nvPr>
            <p:ph type="title"/>
          </p:nvPr>
        </p:nvSpPr>
        <p:spPr>
          <a:xfrm>
            <a:off x="1305050" y="896100"/>
            <a:ext cx="4160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AI Pathway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35" name="Google Shape;135;g3bbe246bff7_0_15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6" name="Google Shape;136;g3bbe246bff7_0_15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37" name="Google Shape;137;g3bbe246bff7_0_157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bbe246bff7_0_157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bbe246bff7_0_157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bbe246bff7_0_157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1" name="Google Shape;141;g3bbe246bff7_0_157" title="MLPathway.png"/>
          <p:cNvPicPr preferRelativeResize="0"/>
          <p:nvPr/>
        </p:nvPicPr>
        <p:blipFill rotWithShape="1">
          <a:blip r:embed="rId3">
            <a:alphaModFix/>
          </a:blip>
          <a:srcRect b="7830" l="0" r="0" t="21308"/>
          <a:stretch/>
        </p:blipFill>
        <p:spPr>
          <a:xfrm>
            <a:off x="1222625" y="1771650"/>
            <a:ext cx="6778376" cy="25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be246bff7_0_304"/>
          <p:cNvSpPr txBox="1"/>
          <p:nvPr>
            <p:ph type="title"/>
          </p:nvPr>
        </p:nvSpPr>
        <p:spPr>
          <a:xfrm>
            <a:off x="1305050" y="896100"/>
            <a:ext cx="4160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ML Pathway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47" name="Google Shape;147;g3bbe246bff7_0_30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8" name="Google Shape;148;g3bbe246bff7_0_304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49" name="Google Shape;149;g3bbe246bff7_0_304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bbe246bff7_0_304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bbe246bff7_0_304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bbe246bff7_0_304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3" name="Google Shape;153;g3bbe246bff7_0_304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800" y="2481039"/>
            <a:ext cx="692275" cy="6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bbe246bff7_0_304" title="download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3797" y="2403119"/>
            <a:ext cx="848100" cy="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bbe246bff7_0_304"/>
          <p:cNvSpPr txBox="1"/>
          <p:nvPr/>
        </p:nvSpPr>
        <p:spPr>
          <a:xfrm>
            <a:off x="7756864" y="3306075"/>
            <a:ext cx="1132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Reports,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Visualization,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 Apps,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Websites, 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etc …  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6" name="Google Shape;156;g3bbe246bff7_0_304"/>
          <p:cNvSpPr txBox="1"/>
          <p:nvPr/>
        </p:nvSpPr>
        <p:spPr>
          <a:xfrm>
            <a:off x="368875" y="3231495"/>
            <a:ext cx="11322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World Problem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57" name="Google Shape;157;g3bbe246bff7_0_304"/>
          <p:cNvGrpSpPr/>
          <p:nvPr/>
        </p:nvGrpSpPr>
        <p:grpSpPr>
          <a:xfrm>
            <a:off x="3722959" y="1440739"/>
            <a:ext cx="2799600" cy="3386711"/>
            <a:chOff x="3722959" y="1440739"/>
            <a:chExt cx="2799600" cy="3386711"/>
          </a:xfrm>
        </p:grpSpPr>
        <p:pic>
          <p:nvPicPr>
            <p:cNvPr id="158" name="Google Shape;158;g3bbe246bff7_0_304" title="download (5)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88672" y="2361125"/>
              <a:ext cx="787460" cy="84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g3bbe246bff7_0_304" title="11083295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40434" y="2361125"/>
              <a:ext cx="848100" cy="84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g3bbe246bff7_0_304"/>
            <p:cNvSpPr txBox="1"/>
            <p:nvPr/>
          </p:nvSpPr>
          <p:spPr>
            <a:xfrm>
              <a:off x="3879533" y="3252150"/>
              <a:ext cx="13161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Clean &amp; Organize Data:</a:t>
              </a:r>
              <a:endPara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1" i="0" sz="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Recognize Data, Restructure Data, Dealing with Missing Data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etc.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1" name="Google Shape;161;g3bbe246bff7_0_304"/>
            <p:cNvSpPr txBox="1"/>
            <p:nvPr/>
          </p:nvSpPr>
          <p:spPr>
            <a:xfrm>
              <a:off x="5132750" y="3233725"/>
              <a:ext cx="11814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Exploratory Data Analysis:</a:t>
              </a:r>
              <a:endPara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1" i="0" sz="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Statistical Analysis, Visualization,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etc.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62" name="Google Shape;162;g3bbe246bff7_0_304" title="images.png"/>
            <p:cNvPicPr preferRelativeResize="0"/>
            <p:nvPr/>
          </p:nvPicPr>
          <p:blipFill rotWithShape="1">
            <a:blip r:embed="rId7">
              <a:alphaModFix/>
            </a:blip>
            <a:srcRect b="0" l="0" r="0" t="26524"/>
            <a:stretch/>
          </p:blipFill>
          <p:spPr>
            <a:xfrm rot="10800000">
              <a:off x="3888849" y="1859426"/>
              <a:ext cx="2325726" cy="44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g3bbe246bff7_0_304"/>
            <p:cNvSpPr txBox="1"/>
            <p:nvPr/>
          </p:nvSpPr>
          <p:spPr>
            <a:xfrm>
              <a:off x="3722959" y="1440739"/>
              <a:ext cx="2799600" cy="6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E6913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Data Analysis</a:t>
              </a:r>
              <a:endParaRPr b="1" i="0" sz="1400" u="none" cap="none" strike="noStrike">
                <a:solidFill>
                  <a:srgbClr val="E6913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E6913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(Data Analyst/ Data Scientist)</a:t>
              </a:r>
              <a:endParaRPr b="1" i="0" sz="1200" u="none" cap="none" strike="noStrike">
                <a:solidFill>
                  <a:srgbClr val="E6913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64" name="Google Shape;164;g3bbe246bff7_0_304"/>
          <p:cNvGrpSpPr/>
          <p:nvPr/>
        </p:nvGrpSpPr>
        <p:grpSpPr>
          <a:xfrm>
            <a:off x="5733625" y="1282205"/>
            <a:ext cx="2307861" cy="3527370"/>
            <a:chOff x="5733625" y="1282205"/>
            <a:chExt cx="2307861" cy="3527370"/>
          </a:xfrm>
        </p:grpSpPr>
        <p:pic>
          <p:nvPicPr>
            <p:cNvPr id="165" name="Google Shape;165;g3bbe246bff7_0_304" title="download (7).png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588869" y="2450136"/>
              <a:ext cx="692275" cy="740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g3bbe246bff7_0_304"/>
            <p:cNvSpPr txBox="1"/>
            <p:nvPr/>
          </p:nvSpPr>
          <p:spPr>
            <a:xfrm>
              <a:off x="6507600" y="3234275"/>
              <a:ext cx="11814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ML Models:</a:t>
              </a:r>
              <a:endPara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1" i="0" sz="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Predict an Outcome,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Discover Patterns in Data 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etc.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67" name="Google Shape;167;g3bbe246bff7_0_304" title="images.png"/>
            <p:cNvPicPr preferRelativeResize="0"/>
            <p:nvPr/>
          </p:nvPicPr>
          <p:blipFill rotWithShape="1">
            <a:blip r:embed="rId7">
              <a:alphaModFix/>
            </a:blip>
            <a:srcRect b="32251" l="0" r="11559" t="26526"/>
            <a:stretch/>
          </p:blipFill>
          <p:spPr>
            <a:xfrm rot="10800000">
              <a:off x="5733625" y="2015500"/>
              <a:ext cx="2056825" cy="247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g3bbe246bff7_0_304"/>
            <p:cNvSpPr txBox="1"/>
            <p:nvPr/>
          </p:nvSpPr>
          <p:spPr>
            <a:xfrm>
              <a:off x="6175486" y="1282205"/>
              <a:ext cx="1866000" cy="7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38761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Machine Learning</a:t>
              </a:r>
              <a:endParaRPr b="1" i="0" sz="1400" u="none" cap="none" strike="noStrike">
                <a:solidFill>
                  <a:srgbClr val="38761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38761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(ML Scientist/ML Engineer/Data Scientist)</a:t>
              </a:r>
              <a:endParaRPr b="1" i="0" sz="1200" u="none" cap="none" strike="noStrike">
                <a:solidFill>
                  <a:srgbClr val="38761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69" name="Google Shape;169;g3bbe246bff7_0_304"/>
          <p:cNvGrpSpPr/>
          <p:nvPr/>
        </p:nvGrpSpPr>
        <p:grpSpPr>
          <a:xfrm>
            <a:off x="1307054" y="1528506"/>
            <a:ext cx="2355983" cy="3298394"/>
            <a:chOff x="1307054" y="1528506"/>
            <a:chExt cx="2355983" cy="3298394"/>
          </a:xfrm>
        </p:grpSpPr>
        <p:pic>
          <p:nvPicPr>
            <p:cNvPr id="170" name="Google Shape;170;g3bbe246bff7_0_304" title="images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1307054" y="1915806"/>
              <a:ext cx="2325726" cy="599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g3bbe246bff7_0_304"/>
            <p:cNvSpPr txBox="1"/>
            <p:nvPr/>
          </p:nvSpPr>
          <p:spPr>
            <a:xfrm>
              <a:off x="1515837" y="3232050"/>
              <a:ext cx="10512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Raw Data:</a:t>
              </a:r>
              <a:endPara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1" i="0" sz="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Sensors,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Simulations,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Experiments,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Surveys,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Web,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etc.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72" name="Google Shape;172;g3bbe246bff7_0_304" title="download (3).png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676354" y="2422093"/>
              <a:ext cx="848100" cy="84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g3bbe246bff7_0_304" title="download (6).png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39919" y="2294630"/>
              <a:ext cx="1051125" cy="1051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g3bbe246bff7_0_304"/>
            <p:cNvSpPr txBox="1"/>
            <p:nvPr/>
          </p:nvSpPr>
          <p:spPr>
            <a:xfrm>
              <a:off x="2693137" y="3251600"/>
              <a:ext cx="9699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Process &amp; Store Data:</a:t>
              </a:r>
              <a:endPara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1" i="0" sz="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SQL DBs,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Excel,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CSV Files,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etc.</a:t>
              </a:r>
              <a:endParaRPr b="1" i="0" sz="10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5" name="Google Shape;175;g3bbe246bff7_0_304"/>
            <p:cNvSpPr txBox="1"/>
            <p:nvPr/>
          </p:nvSpPr>
          <p:spPr>
            <a:xfrm>
              <a:off x="1652997" y="1528506"/>
              <a:ext cx="1866000" cy="43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1155C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Data Engineering</a:t>
              </a:r>
              <a:endParaRPr b="1" i="0" sz="1400" u="none" cap="none" strike="noStrike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1155C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(Data Engineer)</a:t>
              </a:r>
              <a:endParaRPr b="1" i="0" sz="1400" u="none" cap="none" strike="noStrike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g3bbe246bff7_0_230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g3bbe246bff7_0_230"/>
          <p:cNvSpPr txBox="1"/>
          <p:nvPr>
            <p:ph idx="4294967295" type="ctrTitle"/>
          </p:nvPr>
        </p:nvSpPr>
        <p:spPr>
          <a:xfrm>
            <a:off x="2371625" y="816550"/>
            <a:ext cx="6105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Python Data Science/Data Analytics Libraries</a:t>
            </a:r>
            <a:endParaRPr b="1" i="0" sz="44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82" name="Google Shape;182;g3bbe246bff7_0_230"/>
          <p:cNvCxnSpPr/>
          <p:nvPr/>
        </p:nvCxnSpPr>
        <p:spPr>
          <a:xfrm>
            <a:off x="7972425" y="1428750"/>
            <a:ext cx="1171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g3bbe246bff7_0_230"/>
          <p:cNvSpPr/>
          <p:nvPr/>
        </p:nvSpPr>
        <p:spPr>
          <a:xfrm>
            <a:off x="831925" y="859175"/>
            <a:ext cx="1139100" cy="113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g3bbe246bff7_0_230"/>
          <p:cNvGrpSpPr/>
          <p:nvPr/>
        </p:nvGrpSpPr>
        <p:grpSpPr>
          <a:xfrm>
            <a:off x="1148902" y="1190763"/>
            <a:ext cx="505722" cy="475767"/>
            <a:chOff x="5972700" y="2330200"/>
            <a:chExt cx="411625" cy="387275"/>
          </a:xfrm>
        </p:grpSpPr>
        <p:sp>
          <p:nvSpPr>
            <p:cNvPr id="185" name="Google Shape;185;g3bbe246bff7_0_230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bbe246bff7_0_230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g3bbe246bff7_0_2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g3bbe246bff7_0_230"/>
          <p:cNvSpPr txBox="1"/>
          <p:nvPr/>
        </p:nvSpPr>
        <p:spPr>
          <a:xfrm>
            <a:off x="1066800" y="2438400"/>
            <a:ext cx="76188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Numpy:</a:t>
            </a:r>
            <a:r>
              <a:rPr b="1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It is a Python library used for working with arrays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Pandas: </a:t>
            </a: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Python library used for working with data sets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Matplotlib:</a:t>
            </a: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plotting library for Python programming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89" name="Google Shape;189;g3bbe246bff7_0_230" title="download (9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1450" y="1815100"/>
            <a:ext cx="2552250" cy="10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bbe246bff7_0_230" title="download (10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7488" y="2963725"/>
            <a:ext cx="1750125" cy="70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bbe246bff7_0_230" title="download (11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7591" y="3800425"/>
            <a:ext cx="1929909" cy="6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g3bbe246bff7_0_357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g3bbe246bff7_0_357"/>
          <p:cNvSpPr txBox="1"/>
          <p:nvPr>
            <p:ph idx="4294967295" type="ctrTitle"/>
          </p:nvPr>
        </p:nvSpPr>
        <p:spPr>
          <a:xfrm>
            <a:off x="2371625" y="816550"/>
            <a:ext cx="6105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Question?</a:t>
            </a:r>
            <a:endParaRPr b="1" i="0" sz="44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98" name="Google Shape;198;g3bbe246bff7_0_357"/>
          <p:cNvCxnSpPr/>
          <p:nvPr/>
        </p:nvCxnSpPr>
        <p:spPr>
          <a:xfrm>
            <a:off x="7972425" y="1428750"/>
            <a:ext cx="1171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g3bbe246bff7_0_357"/>
          <p:cNvSpPr/>
          <p:nvPr/>
        </p:nvSpPr>
        <p:spPr>
          <a:xfrm>
            <a:off x="831925" y="859175"/>
            <a:ext cx="1139100" cy="113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bbe246bff7_0_35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1" name="Google Shape;201;g3bbe246bff7_0_357"/>
          <p:cNvGrpSpPr/>
          <p:nvPr/>
        </p:nvGrpSpPr>
        <p:grpSpPr>
          <a:xfrm>
            <a:off x="1209514" y="1124425"/>
            <a:ext cx="383935" cy="608659"/>
            <a:chOff x="6718575" y="2318625"/>
            <a:chExt cx="256950" cy="407375"/>
          </a:xfrm>
        </p:grpSpPr>
        <p:sp>
          <p:nvSpPr>
            <p:cNvPr id="202" name="Google Shape;202;g3bbe246bff7_0_357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bbe246bff7_0_357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bbe246bff7_0_357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g3bbe246bff7_0_357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g3bbe246bff7_0_357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bbe246bff7_0_357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bbe246bff7_0_357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bbe246bff7_0_357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