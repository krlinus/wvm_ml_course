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Lora"/>
      <p:regular r:id="rId23"/>
      <p:bold r:id="rId24"/>
      <p:italic r:id="rId25"/>
      <p:boldItalic r:id="rId26"/>
    </p:embeddedFont>
    <p:embeddedFont>
      <p:font typeface="Quattrocen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UazsQ25GjiZGzNghbYYqCCcsS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8" Type="http://schemas.openxmlformats.org/officeDocument/2006/relationships/font" Target="fonts/QuattrocentoSans-bold.fntdata"/><Relationship Id="rId27" Type="http://schemas.openxmlformats.org/officeDocument/2006/relationships/font" Target="fonts/Quattrocento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Quattrocento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Quattrocen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330b8285a_0_4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8330b8285a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9638e4458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c9638e445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21ed7dcbd_2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f21ed7dcb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9638e4458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c9638e445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ec3599362_0_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8ec359936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💡 Why Square?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we only took raw errors (yi−y^iy_i - \hat{y}_iyi​−y^​i​), positives and negatives cancel out.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Squaring ensures </a:t>
            </a:r>
            <a:r>
              <a:rPr b="1" lang="en">
                <a:solidFill>
                  <a:schemeClr val="dk1"/>
                </a:solidFill>
              </a:rPr>
              <a:t>every mistake counts</a:t>
            </a:r>
            <a:r>
              <a:rPr lang="en">
                <a:solidFill>
                  <a:schemeClr val="dk1"/>
                </a:solidFill>
              </a:rPr>
              <a:t>, and big mistakes hurt more.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1/2 is for </a:t>
            </a:r>
            <a:r>
              <a:rPr b="1" lang="en">
                <a:solidFill>
                  <a:schemeClr val="dk1"/>
                </a:solidFill>
              </a:rPr>
              <a:t>mathematical convenience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When taking derivatives: The 2 cancels cleanly</a:t>
            </a:r>
            <a:br>
              <a:rPr lang="en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The term is just added for our convenience and will make it easier to derive the gradient of the loss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r>
              <a:rPr lang="en" sz="1000">
                <a:solidFill>
                  <a:schemeClr val="dk1"/>
                </a:solidFill>
              </a:rPr>
              <a:t>another nice property of this loss function is that it is convex; thus, we can use a very simple yet powerful optimization algorithm called gradient descent to find the weights that minimize our loss function to classify the examples in the Iris dataset.</a:t>
            </a:r>
            <a:r>
              <a:rPr lang="en">
                <a:solidFill>
                  <a:schemeClr val="dk1"/>
                </a:solidFill>
              </a:rPr>
              <a:t>		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Convex Loss Function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 convex function is shaped like a </a:t>
            </a:r>
            <a:r>
              <a:rPr b="1" lang="en">
                <a:solidFill>
                  <a:schemeClr val="dk1"/>
                </a:solidFill>
              </a:rPr>
              <a:t>bowl</a:t>
            </a:r>
            <a:r>
              <a:rPr lang="en">
                <a:solidFill>
                  <a:schemeClr val="dk1"/>
                </a:solidFill>
              </a:rPr>
              <a:t> (U-shape).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means there is only </a:t>
            </a:r>
            <a:r>
              <a:rPr b="1" lang="en">
                <a:solidFill>
                  <a:schemeClr val="dk1"/>
                </a:solidFill>
              </a:rPr>
              <a:t>one lowest point</a:t>
            </a:r>
            <a:r>
              <a:rPr lang="en">
                <a:solidFill>
                  <a:schemeClr val="dk1"/>
                </a:solidFill>
              </a:rPr>
              <a:t> (the global minimum).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If you roll a ball inside the bowl, it will always settle at the bottom.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ML, this bottom is the </a:t>
            </a:r>
            <a:r>
              <a:rPr b="1" lang="en">
                <a:solidFill>
                  <a:schemeClr val="dk1"/>
                </a:solidFill>
              </a:rPr>
              <a:t>best weights</a:t>
            </a:r>
            <a:r>
              <a:rPr lang="en">
                <a:solidFill>
                  <a:schemeClr val="dk1"/>
                </a:solidFill>
              </a:rPr>
              <a:t> for your model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Why Convex is Nice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 tricky “traps” (local minima) to get stuck in.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Guarantees gradient descent can find the best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9638e4458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c9638e445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does “minimize a function” mean </a:t>
            </a:r>
            <a:r>
              <a:rPr b="1" i="1" lang="en" sz="1300">
                <a:solidFill>
                  <a:schemeClr val="dk1"/>
                </a:solidFill>
              </a:rPr>
              <a:t>take the derivative and set it equal to zero</a:t>
            </a:r>
            <a:r>
              <a:rPr b="1" lang="en" sz="1300">
                <a:solidFill>
                  <a:schemeClr val="dk1"/>
                </a:solidFill>
              </a:rPr>
              <a:t>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What the derivative tells us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derivative</a:t>
            </a:r>
            <a:r>
              <a:rPr lang="en">
                <a:solidFill>
                  <a:schemeClr val="dk1"/>
                </a:solidFill>
              </a:rPr>
              <a:t> of a function measures its </a:t>
            </a:r>
            <a:r>
              <a:rPr b="1" lang="en">
                <a:solidFill>
                  <a:schemeClr val="dk1"/>
                </a:solidFill>
              </a:rPr>
              <a:t>slope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Slope answers the question: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i="1" lang="en">
                <a:solidFill>
                  <a:schemeClr val="dk1"/>
                </a:solidFill>
              </a:rPr>
              <a:t>If I move slightly to the right, does the function go up or down?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Behavior at a minimum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a </a:t>
            </a:r>
            <a:r>
              <a:rPr b="1" lang="en">
                <a:solidFill>
                  <a:schemeClr val="dk1"/>
                </a:solidFill>
              </a:rPr>
              <a:t>minimum point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decreasing </a:t>
            </a:r>
            <a:r>
              <a:rPr b="1" lang="en">
                <a:solidFill>
                  <a:schemeClr val="dk1"/>
                </a:solidFill>
              </a:rPr>
              <a:t>before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increasing </a:t>
            </a:r>
            <a:r>
              <a:rPr b="1" lang="en">
                <a:solidFill>
                  <a:schemeClr val="dk1"/>
                </a:solidFill>
              </a:rPr>
              <a:t>after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That means: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slope transitions from </a:t>
            </a:r>
            <a:r>
              <a:rPr b="1" lang="en">
                <a:solidFill>
                  <a:schemeClr val="dk1"/>
                </a:solidFill>
              </a:rPr>
              <a:t>negative → positive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Exactly at that point: slope=0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4. Simple visual intuition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Imagine a valley: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downhill → slope is negative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uphill → slope is positive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the </a:t>
            </a:r>
            <a:r>
              <a:rPr b="1" lang="en">
                <a:solidFill>
                  <a:schemeClr val="dk1"/>
                </a:solidFill>
              </a:rPr>
              <a:t>bottom of the valley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You are not going up or down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Slope =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Convex Loss Function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 convex function is shaped like a </a:t>
            </a:r>
            <a:r>
              <a:rPr b="1" lang="en">
                <a:solidFill>
                  <a:schemeClr val="dk1"/>
                </a:solidFill>
              </a:rPr>
              <a:t>bowl</a:t>
            </a:r>
            <a:r>
              <a:rPr lang="en">
                <a:solidFill>
                  <a:schemeClr val="dk1"/>
                </a:solidFill>
              </a:rPr>
              <a:t> (U-shape).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means there is only </a:t>
            </a:r>
            <a:r>
              <a:rPr b="1" lang="en">
                <a:solidFill>
                  <a:schemeClr val="dk1"/>
                </a:solidFill>
              </a:rPr>
              <a:t>one lowest point</a:t>
            </a:r>
            <a:r>
              <a:rPr lang="en">
                <a:solidFill>
                  <a:schemeClr val="dk1"/>
                </a:solidFill>
              </a:rPr>
              <a:t> (the global minimum).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If you roll a ball inside the bowl, it will always settle at the bottom.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ML, this bottom is the </a:t>
            </a:r>
            <a:r>
              <a:rPr b="1" lang="en">
                <a:solidFill>
                  <a:schemeClr val="dk1"/>
                </a:solidFill>
              </a:rPr>
              <a:t>best weights</a:t>
            </a:r>
            <a:r>
              <a:rPr lang="en">
                <a:solidFill>
                  <a:schemeClr val="dk1"/>
                </a:solidFill>
              </a:rPr>
              <a:t> for your model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Why Convex is Nice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 tricky “traps” (local minima) to get stuck in.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Guarantees gradient descent can find the best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21ed7dcbd_3_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f21ed7dcbd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does “minimize a function” mean </a:t>
            </a:r>
            <a:r>
              <a:rPr b="1" i="1" lang="en" sz="1300">
                <a:solidFill>
                  <a:schemeClr val="dk1"/>
                </a:solidFill>
              </a:rPr>
              <a:t>take the derivative and set it equal to zero</a:t>
            </a:r>
            <a:r>
              <a:rPr b="1" lang="en" sz="1300">
                <a:solidFill>
                  <a:schemeClr val="dk1"/>
                </a:solidFill>
              </a:rPr>
              <a:t>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What the derivative tells us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derivative</a:t>
            </a:r>
            <a:r>
              <a:rPr lang="en">
                <a:solidFill>
                  <a:schemeClr val="dk1"/>
                </a:solidFill>
              </a:rPr>
              <a:t> of a function measures its </a:t>
            </a:r>
            <a:r>
              <a:rPr b="1" lang="en">
                <a:solidFill>
                  <a:schemeClr val="dk1"/>
                </a:solidFill>
              </a:rPr>
              <a:t>slope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Slope answers the question: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i="1" lang="en">
                <a:solidFill>
                  <a:schemeClr val="dk1"/>
                </a:solidFill>
              </a:rPr>
              <a:t>If I move slightly to the right, does the function go up or down?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Behavior at a minimum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a </a:t>
            </a:r>
            <a:r>
              <a:rPr b="1" lang="en">
                <a:solidFill>
                  <a:schemeClr val="dk1"/>
                </a:solidFill>
              </a:rPr>
              <a:t>minimum point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decreasing </a:t>
            </a:r>
            <a:r>
              <a:rPr b="1" lang="en">
                <a:solidFill>
                  <a:schemeClr val="dk1"/>
                </a:solidFill>
              </a:rPr>
              <a:t>before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increasing </a:t>
            </a:r>
            <a:r>
              <a:rPr b="1" lang="en">
                <a:solidFill>
                  <a:schemeClr val="dk1"/>
                </a:solidFill>
              </a:rPr>
              <a:t>after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That means: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slope transitions from </a:t>
            </a:r>
            <a:r>
              <a:rPr b="1" lang="en">
                <a:solidFill>
                  <a:schemeClr val="dk1"/>
                </a:solidFill>
              </a:rPr>
              <a:t>negative → positive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Exactly at that point: slope=0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4. Simple visual intuition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Imagine a valley: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downhill → slope is negative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uphill → slope is positive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the </a:t>
            </a:r>
            <a:r>
              <a:rPr b="1" lang="en">
                <a:solidFill>
                  <a:schemeClr val="dk1"/>
                </a:solidFill>
              </a:rPr>
              <a:t>bottom of the valley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You are not going up or down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Slope =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Convex Loss Function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 convex function is shaped like a </a:t>
            </a:r>
            <a:r>
              <a:rPr b="1" lang="en">
                <a:solidFill>
                  <a:schemeClr val="dk1"/>
                </a:solidFill>
              </a:rPr>
              <a:t>bowl</a:t>
            </a:r>
            <a:r>
              <a:rPr lang="en">
                <a:solidFill>
                  <a:schemeClr val="dk1"/>
                </a:solidFill>
              </a:rPr>
              <a:t> (U-shape).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means there is only </a:t>
            </a:r>
            <a:r>
              <a:rPr b="1" lang="en">
                <a:solidFill>
                  <a:schemeClr val="dk1"/>
                </a:solidFill>
              </a:rPr>
              <a:t>one lowest point</a:t>
            </a:r>
            <a:r>
              <a:rPr lang="en">
                <a:solidFill>
                  <a:schemeClr val="dk1"/>
                </a:solidFill>
              </a:rPr>
              <a:t> (the global minimum).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If you roll a ball inside the bowl, it will always settle at the bottom.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ML, this bottom is the </a:t>
            </a:r>
            <a:r>
              <a:rPr b="1" lang="en">
                <a:solidFill>
                  <a:schemeClr val="dk1"/>
                </a:solidFill>
              </a:rPr>
              <a:t>best weights</a:t>
            </a:r>
            <a:r>
              <a:rPr lang="en">
                <a:solidFill>
                  <a:schemeClr val="dk1"/>
                </a:solidFill>
              </a:rPr>
              <a:t> for your model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Why Convex is Nice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 tricky “traps” (local minima) to get stuck in.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Guarantees gradient descent can find the best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21ed7dcbd_3_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f21ed7dcbd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does “minimize a function” mean </a:t>
            </a:r>
            <a:r>
              <a:rPr b="1" i="1" lang="en" sz="1300">
                <a:solidFill>
                  <a:schemeClr val="dk1"/>
                </a:solidFill>
              </a:rPr>
              <a:t>take the derivative and set it equal to zero</a:t>
            </a:r>
            <a:r>
              <a:rPr b="1" lang="en" sz="1300">
                <a:solidFill>
                  <a:schemeClr val="dk1"/>
                </a:solidFill>
              </a:rPr>
              <a:t>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What the derivative tells us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derivative</a:t>
            </a:r>
            <a:r>
              <a:rPr lang="en">
                <a:solidFill>
                  <a:schemeClr val="dk1"/>
                </a:solidFill>
              </a:rPr>
              <a:t> of a function measures its </a:t>
            </a:r>
            <a:r>
              <a:rPr b="1" lang="en">
                <a:solidFill>
                  <a:schemeClr val="dk1"/>
                </a:solidFill>
              </a:rPr>
              <a:t>slope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Slope answers the question: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i="1" lang="en">
                <a:solidFill>
                  <a:schemeClr val="dk1"/>
                </a:solidFill>
              </a:rPr>
              <a:t>If I move slightly to the right, does the function go up or down?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Behavior at a minimum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a </a:t>
            </a:r>
            <a:r>
              <a:rPr b="1" lang="en">
                <a:solidFill>
                  <a:schemeClr val="dk1"/>
                </a:solidFill>
              </a:rPr>
              <a:t>minimum point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decreasing </a:t>
            </a:r>
            <a:r>
              <a:rPr b="1" lang="en">
                <a:solidFill>
                  <a:schemeClr val="dk1"/>
                </a:solidFill>
              </a:rPr>
              <a:t>before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increasing </a:t>
            </a:r>
            <a:r>
              <a:rPr b="1" lang="en">
                <a:solidFill>
                  <a:schemeClr val="dk1"/>
                </a:solidFill>
              </a:rPr>
              <a:t>after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That means: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slope transitions from </a:t>
            </a:r>
            <a:r>
              <a:rPr b="1" lang="en">
                <a:solidFill>
                  <a:schemeClr val="dk1"/>
                </a:solidFill>
              </a:rPr>
              <a:t>negative → positive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Exactly at that point: slope=0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4. Simple visual intuition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Imagine a valley: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downhill → slope is negative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uphill → slope is positive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the </a:t>
            </a:r>
            <a:r>
              <a:rPr b="1" lang="en">
                <a:solidFill>
                  <a:schemeClr val="dk1"/>
                </a:solidFill>
              </a:rPr>
              <a:t>bottom of the valley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You are not going up or down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Slope =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Convex Loss Function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 convex function is shaped like a </a:t>
            </a:r>
            <a:r>
              <a:rPr b="1" lang="en">
                <a:solidFill>
                  <a:schemeClr val="dk1"/>
                </a:solidFill>
              </a:rPr>
              <a:t>bowl</a:t>
            </a:r>
            <a:r>
              <a:rPr lang="en">
                <a:solidFill>
                  <a:schemeClr val="dk1"/>
                </a:solidFill>
              </a:rPr>
              <a:t> (U-shape).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means there is only </a:t>
            </a:r>
            <a:r>
              <a:rPr b="1" lang="en">
                <a:solidFill>
                  <a:schemeClr val="dk1"/>
                </a:solidFill>
              </a:rPr>
              <a:t>one lowest point</a:t>
            </a:r>
            <a:r>
              <a:rPr lang="en">
                <a:solidFill>
                  <a:schemeClr val="dk1"/>
                </a:solidFill>
              </a:rPr>
              <a:t> (the global minimum).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If you roll a ball inside the bowl, it will always settle at the bottom.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ML, this bottom is the </a:t>
            </a:r>
            <a:r>
              <a:rPr b="1" lang="en">
                <a:solidFill>
                  <a:schemeClr val="dk1"/>
                </a:solidFill>
              </a:rPr>
              <a:t>best weights</a:t>
            </a:r>
            <a:r>
              <a:rPr lang="en">
                <a:solidFill>
                  <a:schemeClr val="dk1"/>
                </a:solidFill>
              </a:rPr>
              <a:t> for your model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Why Convex is Nice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 tricky “traps” (local minima) to get stuck in.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Guarantees gradient descent can find the best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21ed7dcbd_3_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f21ed7dcbd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does “minimize a function” mean </a:t>
            </a:r>
            <a:r>
              <a:rPr b="1" i="1" lang="en" sz="1300">
                <a:solidFill>
                  <a:schemeClr val="dk1"/>
                </a:solidFill>
              </a:rPr>
              <a:t>take the derivative and set it equal to zero</a:t>
            </a:r>
            <a:r>
              <a:rPr b="1" lang="en" sz="1300">
                <a:solidFill>
                  <a:schemeClr val="dk1"/>
                </a:solidFill>
              </a:rPr>
              <a:t>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What the derivative tells us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derivative</a:t>
            </a:r>
            <a:r>
              <a:rPr lang="en">
                <a:solidFill>
                  <a:schemeClr val="dk1"/>
                </a:solidFill>
              </a:rPr>
              <a:t> of a function measures its </a:t>
            </a:r>
            <a:r>
              <a:rPr b="1" lang="en">
                <a:solidFill>
                  <a:schemeClr val="dk1"/>
                </a:solidFill>
              </a:rPr>
              <a:t>slope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Slope answers the question: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i="1" lang="en">
                <a:solidFill>
                  <a:schemeClr val="dk1"/>
                </a:solidFill>
              </a:rPr>
              <a:t>If I move slightly to the right, does the function go up or down?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Behavior at a minimum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a </a:t>
            </a:r>
            <a:r>
              <a:rPr b="1" lang="en">
                <a:solidFill>
                  <a:schemeClr val="dk1"/>
                </a:solidFill>
              </a:rPr>
              <a:t>minimum point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decreasing </a:t>
            </a:r>
            <a:r>
              <a:rPr b="1" lang="en">
                <a:solidFill>
                  <a:schemeClr val="dk1"/>
                </a:solidFill>
              </a:rPr>
              <a:t>before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increasing </a:t>
            </a:r>
            <a:r>
              <a:rPr b="1" lang="en">
                <a:solidFill>
                  <a:schemeClr val="dk1"/>
                </a:solidFill>
              </a:rPr>
              <a:t>after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That means: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slope transitions from </a:t>
            </a:r>
            <a:r>
              <a:rPr b="1" lang="en">
                <a:solidFill>
                  <a:schemeClr val="dk1"/>
                </a:solidFill>
              </a:rPr>
              <a:t>negative → positive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Exactly at that point: slope=0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4. Simple visual intuition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Imagine a valley: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downhill → slope is negative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uphill → slope is positive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the </a:t>
            </a:r>
            <a:r>
              <a:rPr b="1" lang="en">
                <a:solidFill>
                  <a:schemeClr val="dk1"/>
                </a:solidFill>
              </a:rPr>
              <a:t>bottom of the valley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You are not going up or down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Slope =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Convex Loss Function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 convex function is shaped like a </a:t>
            </a:r>
            <a:r>
              <a:rPr b="1" lang="en">
                <a:solidFill>
                  <a:schemeClr val="dk1"/>
                </a:solidFill>
              </a:rPr>
              <a:t>bowl</a:t>
            </a:r>
            <a:r>
              <a:rPr lang="en">
                <a:solidFill>
                  <a:schemeClr val="dk1"/>
                </a:solidFill>
              </a:rPr>
              <a:t> (U-shape).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means there is only </a:t>
            </a:r>
            <a:r>
              <a:rPr b="1" lang="en">
                <a:solidFill>
                  <a:schemeClr val="dk1"/>
                </a:solidFill>
              </a:rPr>
              <a:t>one lowest point</a:t>
            </a:r>
            <a:r>
              <a:rPr lang="en">
                <a:solidFill>
                  <a:schemeClr val="dk1"/>
                </a:solidFill>
              </a:rPr>
              <a:t> (the global minimum).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If you roll a ball inside the bowl, it will always settle at the bottom.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ML, this bottom is the </a:t>
            </a:r>
            <a:r>
              <a:rPr b="1" lang="en">
                <a:solidFill>
                  <a:schemeClr val="dk1"/>
                </a:solidFill>
              </a:rPr>
              <a:t>best weights</a:t>
            </a:r>
            <a:r>
              <a:rPr lang="en">
                <a:solidFill>
                  <a:schemeClr val="dk1"/>
                </a:solidFill>
              </a:rPr>
              <a:t> for your model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Why Convex is Nice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 tricky “traps” (local minima) to get stuck in.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Guarantees gradient descent can find the best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21ed7dcbd_3_1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f21ed7dcbd_3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does “minimize a function” mean </a:t>
            </a:r>
            <a:r>
              <a:rPr b="1" i="1" lang="en" sz="1300">
                <a:solidFill>
                  <a:schemeClr val="dk1"/>
                </a:solidFill>
              </a:rPr>
              <a:t>take the derivative and set it equal to zero</a:t>
            </a:r>
            <a:r>
              <a:rPr b="1" lang="en" sz="1300">
                <a:solidFill>
                  <a:schemeClr val="dk1"/>
                </a:solidFill>
              </a:rPr>
              <a:t>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What the derivative tells us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derivative</a:t>
            </a:r>
            <a:r>
              <a:rPr lang="en">
                <a:solidFill>
                  <a:schemeClr val="dk1"/>
                </a:solidFill>
              </a:rPr>
              <a:t> of a function measures its </a:t>
            </a:r>
            <a:r>
              <a:rPr b="1" lang="en">
                <a:solidFill>
                  <a:schemeClr val="dk1"/>
                </a:solidFill>
              </a:rPr>
              <a:t>slope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Slope answers the question: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i="1" lang="en">
                <a:solidFill>
                  <a:schemeClr val="dk1"/>
                </a:solidFill>
              </a:rPr>
              <a:t>If I move slightly to the right, does the function go up or down?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Behavior at a minimum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a </a:t>
            </a:r>
            <a:r>
              <a:rPr b="1" lang="en">
                <a:solidFill>
                  <a:schemeClr val="dk1"/>
                </a:solidFill>
              </a:rPr>
              <a:t>minimum point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decreasing </a:t>
            </a:r>
            <a:r>
              <a:rPr b="1" lang="en">
                <a:solidFill>
                  <a:schemeClr val="dk1"/>
                </a:solidFill>
              </a:rPr>
              <a:t>before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function is increasing </a:t>
            </a:r>
            <a:r>
              <a:rPr b="1" lang="en">
                <a:solidFill>
                  <a:schemeClr val="dk1"/>
                </a:solidFill>
              </a:rPr>
              <a:t>after</a:t>
            </a:r>
            <a:r>
              <a:rPr lang="en">
                <a:solidFill>
                  <a:schemeClr val="dk1"/>
                </a:solidFill>
              </a:rPr>
              <a:t> the point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That means: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slope transitions from </a:t>
            </a:r>
            <a:r>
              <a:rPr b="1" lang="en">
                <a:solidFill>
                  <a:schemeClr val="dk1"/>
                </a:solidFill>
              </a:rPr>
              <a:t>negative → positive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Exactly at that point: slope=0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4. Simple visual intuition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Imagine a valley: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downhill → slope is negative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Walking uphill → slope is positive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 the </a:t>
            </a:r>
            <a:r>
              <a:rPr b="1" lang="en">
                <a:solidFill>
                  <a:schemeClr val="dk1"/>
                </a:solidFill>
              </a:rPr>
              <a:t>bottom of the valley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You are not going up or down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Slope =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Convex Loss Function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 convex function is shaped like a </a:t>
            </a:r>
            <a:r>
              <a:rPr b="1" lang="en">
                <a:solidFill>
                  <a:schemeClr val="dk1"/>
                </a:solidFill>
              </a:rPr>
              <a:t>bowl</a:t>
            </a:r>
            <a:r>
              <a:rPr lang="en">
                <a:solidFill>
                  <a:schemeClr val="dk1"/>
                </a:solidFill>
              </a:rPr>
              <a:t> (U-shape).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means there is only </a:t>
            </a:r>
            <a:r>
              <a:rPr b="1" lang="en">
                <a:solidFill>
                  <a:schemeClr val="dk1"/>
                </a:solidFill>
              </a:rPr>
              <a:t>one lowest point</a:t>
            </a:r>
            <a:r>
              <a:rPr lang="en">
                <a:solidFill>
                  <a:schemeClr val="dk1"/>
                </a:solidFill>
              </a:rPr>
              <a:t> (the global minimum).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If you roll a ball inside the bowl, it will always settle at the bottom.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ML, this bottom is the </a:t>
            </a:r>
            <a:r>
              <a:rPr b="1" lang="en">
                <a:solidFill>
                  <a:schemeClr val="dk1"/>
                </a:solidFill>
              </a:rPr>
              <a:t>best weights</a:t>
            </a:r>
            <a:r>
              <a:rPr lang="en">
                <a:solidFill>
                  <a:schemeClr val="dk1"/>
                </a:solidFill>
              </a:rPr>
              <a:t> for your model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Why Convex is Nice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 tricky “traps” (local minima) to get stuck in.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Guarantees gradient descent can find the best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ec3599362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8ec359936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We Do It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loss function</a:t>
            </a:r>
            <a:r>
              <a:rPr lang="en">
                <a:solidFill>
                  <a:schemeClr val="dk1"/>
                </a:solidFill>
              </a:rPr>
              <a:t> tells us “how wrong we are.”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Gradient descent</a:t>
            </a:r>
            <a:r>
              <a:rPr lang="en">
                <a:solidFill>
                  <a:schemeClr val="dk1"/>
                </a:solidFill>
              </a:rPr>
              <a:t> gives us a systematic way to </a:t>
            </a:r>
            <a:r>
              <a:rPr i="1" lang="en">
                <a:solidFill>
                  <a:schemeClr val="dk1"/>
                </a:solidFill>
              </a:rPr>
              <a:t>adjust weights</a:t>
            </a:r>
            <a:r>
              <a:rPr lang="en">
                <a:solidFill>
                  <a:schemeClr val="dk1"/>
                </a:solidFill>
              </a:rPr>
              <a:t> so the model improves over time.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Without minimizing loss, the model would just guess randomly and never learn.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"We don’t see the square in the code because we’re not directly minimizing the error — we’re minimizing its square. When you take the derivative, the square cancels one power out, leaving just the error term in the update rule."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ec3599362_0_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8ec359936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yi​ is constant w.r.t w, so derivative = 0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−(w⋅xi​+b) derivative w.r.t w = −xi​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9638e4458_0_1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c9638e445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yi​ is constant w.r.t w, so derivative = 0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−(w⋅xi​+b) derivative w.r.t w = −xi​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9638e4458_0_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c9638e445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We Do It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loss function</a:t>
            </a:r>
            <a:r>
              <a:rPr lang="en">
                <a:solidFill>
                  <a:schemeClr val="dk1"/>
                </a:solidFill>
              </a:rPr>
              <a:t> tells us “how wrong we are.”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Gradient descent</a:t>
            </a:r>
            <a:r>
              <a:rPr lang="en">
                <a:solidFill>
                  <a:schemeClr val="dk1"/>
                </a:solidFill>
              </a:rPr>
              <a:t> gives us a systematic way to </a:t>
            </a:r>
            <a:r>
              <a:rPr i="1" lang="en">
                <a:solidFill>
                  <a:schemeClr val="dk1"/>
                </a:solidFill>
              </a:rPr>
              <a:t>adjust weights</a:t>
            </a:r>
            <a:r>
              <a:rPr lang="en">
                <a:solidFill>
                  <a:schemeClr val="dk1"/>
                </a:solidFill>
              </a:rPr>
              <a:t> so the model improves over time.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Without minimizing loss, the model would just guess randomly and never learn.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"We don’t see the square in the code because we’re not directly minimizing the error — we’re minimizing its square. When you take the derivative, the square cancels one power out, leaving just the error term in the update rule."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21ed7dcbd_3_1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f21ed7dcbd_3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We Do It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loss function</a:t>
            </a:r>
            <a:r>
              <a:rPr lang="en">
                <a:solidFill>
                  <a:schemeClr val="dk1"/>
                </a:solidFill>
              </a:rPr>
              <a:t> tells us “how wrong we are.”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Gradient descent</a:t>
            </a:r>
            <a:r>
              <a:rPr lang="en">
                <a:solidFill>
                  <a:schemeClr val="dk1"/>
                </a:solidFill>
              </a:rPr>
              <a:t> gives us a systematic way to </a:t>
            </a:r>
            <a:r>
              <a:rPr i="1" lang="en">
                <a:solidFill>
                  <a:schemeClr val="dk1"/>
                </a:solidFill>
              </a:rPr>
              <a:t>adjust weights</a:t>
            </a:r>
            <a:r>
              <a:rPr lang="en">
                <a:solidFill>
                  <a:schemeClr val="dk1"/>
                </a:solidFill>
              </a:rPr>
              <a:t> so the model improves over time.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Without minimizing loss, the model would just guess randomly and never learn.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"We don’t see the square in the code because we’re not directly minimizing the error — we’re minimizing its square. When you take the derivative, the square cancels one power out, leaving just the error term in the update rule."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8bb02f37fd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8bb02f37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ec3599362_0_1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8ec359936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1" name="Google Shape;11;p24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4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5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5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5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latin typeface="Lora"/>
                <a:ea typeface="Lora"/>
                <a:cs typeface="Lora"/>
                <a:sym typeface="L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17" name="Google Shape;17;p25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18" name="Google Shape;18;p25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 txBox="1"/>
          <p:nvPr>
            <p:ph idx="1" type="subTitle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highlight>
                  <a:schemeClr val="accent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9pPr>
          </a:lstStyle>
          <a:p/>
        </p:txBody>
      </p:sp>
      <p:cxnSp>
        <p:nvCxnSpPr>
          <p:cNvPr id="24" name="Google Shape;24;p27"/>
          <p:cNvCxnSpPr/>
          <p:nvPr/>
        </p:nvCxnSpPr>
        <p:spPr>
          <a:xfrm>
            <a:off x="-6025" y="2571762"/>
            <a:ext cx="1984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27"/>
          <p:cNvSpPr/>
          <p:nvPr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7"/>
          <p:cNvSpPr txBox="1"/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27" name="Google Shape;27;p27"/>
          <p:cNvCxnSpPr/>
          <p:nvPr/>
        </p:nvCxnSpPr>
        <p:spPr>
          <a:xfrm>
            <a:off x="5898975" y="2571750"/>
            <a:ext cx="3251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810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Lora"/>
              <a:buChar char="◉"/>
              <a:defRPr i="1" sz="2400">
                <a:latin typeface="Lora"/>
                <a:ea typeface="Lora"/>
                <a:cs typeface="Lora"/>
                <a:sym typeface="Lora"/>
              </a:defRPr>
            </a:lvl1pPr>
            <a:lvl2pPr indent="-355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  <a:defRPr i="1">
                <a:latin typeface="Lora"/>
                <a:ea typeface="Lora"/>
                <a:cs typeface="Lora"/>
                <a:sym typeface="Lora"/>
              </a:defRPr>
            </a:lvl2pPr>
            <a:lvl3pPr indent="-355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■"/>
              <a:defRPr i="1">
                <a:latin typeface="Lora"/>
                <a:ea typeface="Lora"/>
                <a:cs typeface="Lora"/>
                <a:sym typeface="Lora"/>
              </a:defRPr>
            </a:lvl3pPr>
            <a:lvl4pPr indent="-3810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i="1" sz="2400">
                <a:latin typeface="Lora"/>
                <a:ea typeface="Lora"/>
                <a:cs typeface="Lora"/>
                <a:sym typeface="Lora"/>
              </a:defRPr>
            </a:lvl4pPr>
            <a:lvl5pPr indent="-3810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i="1" sz="2400">
                <a:latin typeface="Lora"/>
                <a:ea typeface="Lora"/>
                <a:cs typeface="Lora"/>
                <a:sym typeface="Lora"/>
              </a:defRPr>
            </a:lvl5pPr>
            <a:lvl6pPr indent="-3810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i="1" sz="2400">
                <a:latin typeface="Lora"/>
                <a:ea typeface="Lora"/>
                <a:cs typeface="Lora"/>
                <a:sym typeface="Lora"/>
              </a:defRPr>
            </a:lvl6pPr>
            <a:lvl7pPr indent="-3810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i="1" sz="2400">
                <a:latin typeface="Lora"/>
                <a:ea typeface="Lora"/>
                <a:cs typeface="Lora"/>
                <a:sym typeface="Lora"/>
              </a:defRPr>
            </a:lvl7pPr>
            <a:lvl8pPr indent="-3810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i="1" sz="2400">
                <a:latin typeface="Lora"/>
                <a:ea typeface="Lora"/>
                <a:cs typeface="Lora"/>
                <a:sym typeface="Lora"/>
              </a:defRPr>
            </a:lvl8pPr>
            <a:lvl9pPr indent="-3810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i="1" sz="24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cxnSp>
        <p:nvCxnSpPr>
          <p:cNvPr id="31" name="Google Shape;31;p28"/>
          <p:cNvCxnSpPr/>
          <p:nvPr/>
        </p:nvCxnSpPr>
        <p:spPr>
          <a:xfrm>
            <a:off x="4584075" y="3676500"/>
            <a:ext cx="0" cy="148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8"/>
          <p:cNvSpPr/>
          <p:nvPr/>
        </p:nvSpPr>
        <p:spPr>
          <a:xfrm>
            <a:off x="428850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8"/>
          <p:cNvSpPr txBox="1"/>
          <p:nvPr/>
        </p:nvSpPr>
        <p:spPr>
          <a:xfrm>
            <a:off x="3593400" y="3412652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“</a:t>
            </a:r>
            <a:endParaRPr b="1" i="0" sz="36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4297650" y="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" type="body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8" name="Google Shape;38;p29"/>
          <p:cNvSpPr txBox="1"/>
          <p:nvPr>
            <p:ph idx="2" type="body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cxnSp>
        <p:nvCxnSpPr>
          <p:cNvPr id="39" name="Google Shape;39;p29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9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9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" type="body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2" type="body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3" type="body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48" name="Google Shape;48;p30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0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30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54" name="Google Shape;54;p31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1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31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idx="1" type="body"/>
          </p:nvPr>
        </p:nvSpPr>
        <p:spPr>
          <a:xfrm>
            <a:off x="1990450" y="4037375"/>
            <a:ext cx="516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Font typeface="Lora"/>
              <a:buNone/>
              <a:defRPr i="1" sz="1400">
                <a:latin typeface="Lora"/>
                <a:ea typeface="Lora"/>
                <a:cs typeface="Lora"/>
                <a:sym typeface="Lora"/>
              </a:defRPr>
            </a:lvl1pPr>
          </a:lstStyle>
          <a:p/>
        </p:txBody>
      </p:sp>
      <p:cxnSp>
        <p:nvCxnSpPr>
          <p:cNvPr id="60" name="Google Shape;60;p32"/>
          <p:cNvCxnSpPr/>
          <p:nvPr/>
        </p:nvCxnSpPr>
        <p:spPr>
          <a:xfrm>
            <a:off x="-6025" y="4666129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2"/>
          <p:cNvSpPr/>
          <p:nvPr/>
        </p:nvSpPr>
        <p:spPr>
          <a:xfrm>
            <a:off x="4457400" y="4551496"/>
            <a:ext cx="229200" cy="22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33"/>
          <p:cNvCxnSpPr/>
          <p:nvPr/>
        </p:nvCxnSpPr>
        <p:spPr>
          <a:xfrm>
            <a:off x="-6025" y="4513729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3"/>
          <p:cNvSpPr/>
          <p:nvPr/>
        </p:nvSpPr>
        <p:spPr>
          <a:xfrm>
            <a:off x="4293700" y="4235405"/>
            <a:ext cx="556500" cy="55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 txBox="1"/>
          <p:nvPr>
            <p:ph idx="12" type="sldNum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◉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○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■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●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type="title"/>
          </p:nvPr>
        </p:nvSpPr>
        <p:spPr>
          <a:xfrm>
            <a:off x="1381250" y="896549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ctrTitle"/>
          </p:nvPr>
        </p:nvSpPr>
        <p:spPr>
          <a:xfrm>
            <a:off x="1638275" y="2341401"/>
            <a:ext cx="58455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Giving Computers the Ability to Learn from Data</a:t>
            </a:r>
            <a:endParaRPr sz="3000"/>
          </a:p>
        </p:txBody>
      </p:sp>
      <p:grpSp>
        <p:nvGrpSpPr>
          <p:cNvPr id="72" name="Google Shape;72;p1"/>
          <p:cNvGrpSpPr/>
          <p:nvPr/>
        </p:nvGrpSpPr>
        <p:grpSpPr>
          <a:xfrm>
            <a:off x="1299165" y="3511424"/>
            <a:ext cx="215966" cy="342399"/>
            <a:chOff x="6718575" y="2318625"/>
            <a:chExt cx="256950" cy="407375"/>
          </a:xfrm>
        </p:grpSpPr>
        <p:sp>
          <p:nvSpPr>
            <p:cNvPr id="73" name="Google Shape;73;p1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"/>
          <p:cNvSpPr txBox="1"/>
          <p:nvPr>
            <p:ph idx="4294967295" type="subTitle"/>
          </p:nvPr>
        </p:nvSpPr>
        <p:spPr>
          <a:xfrm>
            <a:off x="2258575" y="3924975"/>
            <a:ext cx="45636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b="1" i="0" lang="en" sz="2100" u="none" cap="none" strike="noStrike">
                <a:solidFill>
                  <a:schemeClr val="accent2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Cost Function &amp; Gradient Descent</a:t>
            </a:r>
            <a:endParaRPr b="1" i="0" sz="2100" u="none" cap="none" strike="noStrike">
              <a:solidFill>
                <a:schemeClr val="accent2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0725" y="218900"/>
            <a:ext cx="4104552" cy="199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330b8285a_0_427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We Know So Far?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88" name="Google Shape;88;g38330b8285a_0_42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89" name="Google Shape;89;g38330b8285a_0_427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38330b8285a_0_427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38330b8285a_0_427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8330b8285a_0_427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38330b8285a_0_4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g38330b8285a_0_427"/>
          <p:cNvSpPr txBox="1"/>
          <p:nvPr/>
        </p:nvSpPr>
        <p:spPr>
          <a:xfrm>
            <a:off x="684275" y="1547800"/>
            <a:ext cx="81729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Linear regression models a linear relationship between feature/s and target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Simple linear regression: 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simplest case (one feature)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Ordinary least square: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Solved directly for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attrocento Sans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Works well for one feature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attrocento Sans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But becomes unscalable with many features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We can represent data in matrix form → This leads to a generalized model for prediction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5" name="Google Shape;95;g38330b8285a_0_427" title="Screen Shot 2026-02-18 at 10.59.32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4900" y="2353950"/>
            <a:ext cx="1337188" cy="4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8330b8285a_0_427" title="Screen Shot 2026-02-18 at 11.00.48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3595" y="2254213"/>
            <a:ext cx="1426630" cy="59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8330b8285a_0_427" title="Screen Shot 2026-02-18 at 11.03.03 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6958" y="3017950"/>
            <a:ext cx="891650" cy="27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9638e4458_0_4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General Linear Regression Model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103" name="Google Shape;103;g3c9638e4458_0_4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04" name="Google Shape;104;g3c9638e4458_0_4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c9638e4458_0_4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c9638e4458_0_4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c9638e4458_0_4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g3c9638e4458_0_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g3c9638e4458_0_4"/>
          <p:cNvSpPr txBox="1"/>
          <p:nvPr/>
        </p:nvSpPr>
        <p:spPr>
          <a:xfrm>
            <a:off x="684275" y="1547800"/>
            <a:ext cx="81729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Prediction formula: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feature        has a corresponding coefficient 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Goal: 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 the best values for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A best-fit model, minimizes the </a:t>
            </a: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error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between predictions and true values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We define error using </a:t>
            </a:r>
            <a:r>
              <a:rPr b="1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cost (loss) function</a:t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0" name="Google Shape;110;g3c9638e4458_0_4" title="Screen Shot 2026-02-18 at 11.23.03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2437" y="1547800"/>
            <a:ext cx="3373100" cy="4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c9638e4458_0_4" title="Screen Shot 2026-02-18 at 11.26.00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0325" y="1950044"/>
            <a:ext cx="1464350" cy="8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c9638e4458_0_4" title="Screen Shot 2026-02-18 at 11.28.08 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13100" y="2918930"/>
            <a:ext cx="276800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c9638e4458_0_4" title="Screen Shot 2026-02-18 at 11.28.13 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1852" y="2968942"/>
            <a:ext cx="214625" cy="22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c9638e4458_0_4" title="Screen Shot 2026-02-18 at 11.28.23 PM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80763" y="3293211"/>
            <a:ext cx="385775" cy="3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21ed7dcbd_2_0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Why Not using OLS?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120" name="Google Shape;120;g3f21ed7dcbd_2_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1" name="Google Shape;121;g3f21ed7dcbd_2_0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f21ed7dcbd_2_0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f21ed7dcbd_2_0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f21ed7dcbd_2_0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g3f21ed7dcbd_2_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g3f21ed7dcbd_2_0"/>
          <p:cNvSpPr txBox="1"/>
          <p:nvPr/>
        </p:nvSpPr>
        <p:spPr>
          <a:xfrm>
            <a:off x="684275" y="1547800"/>
            <a:ext cx="81729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Analytical solutions (like ordinary least squares) work for a single feature.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Expanding to multiple features makes analytical solutions quickly unscalable.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multiple features, we shift focus to minimizing a cost function.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Gradient descent is the preferred method to minimize the cost function efficiently.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9638e4458_0_23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Residual Error &amp; Cost Function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132" name="Google Shape;132;g3c9638e4458_0_23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33" name="Google Shape;133;g3c9638e4458_0_23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c9638e4458_0_23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c9638e4458_0_23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3c9638e4458_0_23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g3c9638e4458_0_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g3c9638e4458_0_23"/>
          <p:cNvSpPr txBox="1"/>
          <p:nvPr/>
        </p:nvSpPr>
        <p:spPr>
          <a:xfrm>
            <a:off x="684275" y="1547800"/>
            <a:ext cx="8172900" cy="3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Residual error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measures the mistake for a single data point: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represents the difference between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value and the model 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prediction</a:t>
            </a:r>
            <a:endParaRPr b="1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evaluate the model 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 a whole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we combine all residuals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Cost function aggregates residual errors across the dataset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loss function (Cost function or Objective function) measures 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wrong the model is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It gives the model a score → lower is better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Common Loss Functions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 Squared Error (MSE)</a:t>
            </a: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Regression (continuous predictions)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 Absolute Error (MAE)</a:t>
            </a: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Regression, less sensitive to outliers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Cross-Entropy Loss</a:t>
            </a: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Classification problems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39" name="Google Shape;139;g3c9638e4458_0_23" title="Screen Shot 2026-02-18 at 11.42.13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4400" y="1640750"/>
            <a:ext cx="216480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ec3599362_0_45"/>
          <p:cNvSpPr txBox="1"/>
          <p:nvPr>
            <p:ph type="title"/>
          </p:nvPr>
        </p:nvSpPr>
        <p:spPr>
          <a:xfrm>
            <a:off x="1381250" y="896100"/>
            <a:ext cx="6611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Mean Squared Error (MSE)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145" name="Google Shape;145;g38ec3599362_0_45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46" name="Google Shape;146;g38ec3599362_0_45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8ec3599362_0_45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38ec3599362_0_45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8ec3599362_0_45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g38ec3599362_0_4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g38ec3599362_0_45"/>
          <p:cNvSpPr txBox="1"/>
          <p:nvPr/>
        </p:nvSpPr>
        <p:spPr>
          <a:xfrm>
            <a:off x="684275" y="1547800"/>
            <a:ext cx="78588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Measures the average of the squared differences between the predicted and the actual values.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Square: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ensures all errors are positive and punishes large errors more.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Mean: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averages the errors across all samples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2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Intuition:</a:t>
            </a: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On average, how far are our predictions from the truth?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52" name="Google Shape;152;g38ec3599362_0_45"/>
          <p:cNvGrpSpPr/>
          <p:nvPr/>
        </p:nvGrpSpPr>
        <p:grpSpPr>
          <a:xfrm>
            <a:off x="1131086" y="2045040"/>
            <a:ext cx="2335737" cy="1555159"/>
            <a:chOff x="5649863" y="2098450"/>
            <a:chExt cx="2520761" cy="1678350"/>
          </a:xfrm>
        </p:grpSpPr>
        <p:pic>
          <p:nvPicPr>
            <p:cNvPr id="153" name="Google Shape;153;g38ec3599362_0_45" title="Screen Shot 2025-10-03 at 11.37.34 AM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49863" y="2098450"/>
              <a:ext cx="2520761" cy="79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g38ec3599362_0_45" title="Screen Shot 2025-10-03 at 11.39.48 AM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4714" y="2891050"/>
              <a:ext cx="2258050" cy="885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5" name="Google Shape;155;g38ec3599362_0_45" title="Screen Shot 2026-06-21 at 11.31.52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4627" y="2117493"/>
            <a:ext cx="1949692" cy="59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g38ec3599362_0_45"/>
          <p:cNvCxnSpPr>
            <a:stCxn id="153" idx="3"/>
          </p:cNvCxnSpPr>
          <p:nvPr/>
        </p:nvCxnSpPr>
        <p:spPr>
          <a:xfrm flipH="1" rot="10800000">
            <a:off x="3466823" y="2408052"/>
            <a:ext cx="2223900" cy="4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7" name="Google Shape;157;g38ec3599362_0_45" title="Screen Shot 2026-06-21 at 11.31.42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068" y="2169575"/>
            <a:ext cx="613214" cy="2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9638e4458_0_52"/>
          <p:cNvSpPr txBox="1"/>
          <p:nvPr>
            <p:ph type="title"/>
          </p:nvPr>
        </p:nvSpPr>
        <p:spPr>
          <a:xfrm>
            <a:off x="1381250" y="896100"/>
            <a:ext cx="7161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Minimizing the Cost Function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163" name="Google Shape;163;g3c9638e4458_0_52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64" name="Google Shape;164;g3c9638e4458_0_52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c9638e4458_0_52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c9638e4458_0_52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3c9638e4458_0_52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g3c9638e4458_0_5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g3c9638e4458_0_52"/>
          <p:cNvSpPr txBox="1"/>
          <p:nvPr/>
        </p:nvSpPr>
        <p:spPr>
          <a:xfrm>
            <a:off x="684275" y="1547800"/>
            <a:ext cx="78588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Suppose we randomly chose some values for the coefficients.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 computing the MSE, we ask: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7000" lvl="1" marL="5715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○"/>
            </a:pPr>
            <a:r>
              <a:rPr i="1"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Which coefficient should change, and by how much, to reduce the error?</a:t>
            </a:r>
            <a:endParaRPr i="1"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calculus: 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39700" lvl="1" marL="5715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○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minimize a function </a:t>
            </a:r>
            <a:r>
              <a:rPr b="1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take derivatives → Set to zero</a:t>
            </a:r>
            <a:endParaRPr sz="1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70" name="Google Shape;170;g3c9638e4458_0_52" title="DerivativeOfXSqua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5434" y="2714784"/>
            <a:ext cx="2762750" cy="21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21ed7dcbd_3_37"/>
          <p:cNvSpPr txBox="1"/>
          <p:nvPr>
            <p:ph type="title"/>
          </p:nvPr>
        </p:nvSpPr>
        <p:spPr>
          <a:xfrm>
            <a:off x="1381250" y="896100"/>
            <a:ext cx="7161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is a Derivative?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176" name="Google Shape;176;g3f21ed7dcbd_3_3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77" name="Google Shape;177;g3f21ed7dcbd_3_37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f21ed7dcbd_3_37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f21ed7dcbd_3_37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f21ed7dcbd_3_37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g3f21ed7dcbd_3_3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g3f21ed7dcbd_3_37"/>
          <p:cNvSpPr txBox="1"/>
          <p:nvPr/>
        </p:nvSpPr>
        <p:spPr>
          <a:xfrm>
            <a:off x="684275" y="1547800"/>
            <a:ext cx="78588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derivative measures </a:t>
            </a:r>
            <a:r>
              <a:rPr b="1"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fast a function changes when its input changes</a:t>
            </a: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Suppose we have a function                       , The derivative is written as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answers the question: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39700" lvl="1" marL="5715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b="1" i="1"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I increase x by a tiny amount, how much will y change?</a:t>
            </a:r>
            <a:endParaRPr b="1" i="1" sz="1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Think of driving a car.</a:t>
            </a:r>
            <a:endParaRPr sz="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7000" lvl="1" marL="5715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</a:pPr>
            <a:r>
              <a:rPr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Position tells you where you are.</a:t>
            </a:r>
            <a:endParaRPr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700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</a:pPr>
            <a:r>
              <a:rPr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Speed tells you how fast your position changes.</a:t>
            </a:r>
            <a:endParaRPr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Similarly,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7000" lvl="1" marL="5715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</a:pPr>
            <a:r>
              <a:rPr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function tells you the value.</a:t>
            </a:r>
            <a:endParaRPr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700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</a:pPr>
            <a:r>
              <a:rPr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derivative tells you how quickly that value changes.</a:t>
            </a:r>
            <a:endParaRPr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Geometric Meaning: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39700" lvl="1" marL="5715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b="1" i="1"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derivative is simply the slope of the curve at a particular point.</a:t>
            </a:r>
            <a:endParaRPr b="1"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83" name="Google Shape;183;g3f21ed7dcbd_3_37" title="Screen Shot 2026-06-21 at 11.59.0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1057" y="1913025"/>
            <a:ext cx="801775" cy="30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f21ed7dcbd_3_37" title="Screen Shot 2026-06-21 at 11.59.16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4800" y="1901666"/>
            <a:ext cx="349975" cy="4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21ed7dcbd_3_66"/>
          <p:cNvSpPr txBox="1"/>
          <p:nvPr>
            <p:ph type="title"/>
          </p:nvPr>
        </p:nvSpPr>
        <p:spPr>
          <a:xfrm>
            <a:off x="1381250" y="896100"/>
            <a:ext cx="7161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Why Do We Need Derivatives in Machine Learning?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190" name="Google Shape;190;g3f21ed7dcbd_3_66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91" name="Google Shape;191;g3f21ed7dcbd_3_66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f21ed7dcbd_3_66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f21ed7dcbd_3_66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f21ed7dcbd_3_66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g3f21ed7dcbd_3_6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g3f21ed7dcbd_3_66"/>
          <p:cNvSpPr txBox="1"/>
          <p:nvPr/>
        </p:nvSpPr>
        <p:spPr>
          <a:xfrm>
            <a:off x="684275" y="1547800"/>
            <a:ext cx="78588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goal is to minimize the loss function (for example, the MSE)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loss depends on the model parameters.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linear regression,			, We want to know: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39700" lvl="1" marL="5715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b="1" i="1"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I change one coefficient slightly, what happens to the MSE?</a:t>
            </a:r>
            <a:endParaRPr b="1" i="1" sz="1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derivative answers exactly that question.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derivative tell us the slope of the MSE curve.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97" name="Google Shape;197;g3f21ed7dcbd_3_66" title="Screen Shot 2026-06-22 at 12.17.3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325" y="2305965"/>
            <a:ext cx="1110700" cy="2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f21ed7dcbd_3_89" title="Screen Shot 2026-06-22 at 12.28.3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179" y="2794327"/>
            <a:ext cx="1291800" cy="15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f21ed7dcbd_3_89"/>
          <p:cNvSpPr txBox="1"/>
          <p:nvPr>
            <p:ph type="title"/>
          </p:nvPr>
        </p:nvSpPr>
        <p:spPr>
          <a:xfrm>
            <a:off x="1381250" y="896100"/>
            <a:ext cx="7161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is the Gradient?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04" name="Google Shape;204;g3f21ed7dcbd_3_8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05" name="Google Shape;205;g3f21ed7dcbd_3_89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g3f21ed7dcbd_3_89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f21ed7dcbd_3_89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f21ed7dcbd_3_89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g3f21ed7dcbd_3_8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g3f21ed7dcbd_3_89"/>
          <p:cNvSpPr txBox="1"/>
          <p:nvPr/>
        </p:nvSpPr>
        <p:spPr>
          <a:xfrm>
            <a:off x="684275" y="1547800"/>
            <a:ext cx="78588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normal derivative is used when a function has one variable.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But machine learning models usually have </a:t>
            </a:r>
            <a:r>
              <a:rPr b="1"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many parameters.</a:t>
            </a:r>
            <a:endParaRPr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see how the MSE changes with respect to only one coefficient, we use a </a:t>
            </a:r>
            <a:r>
              <a:rPr b="1"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partial derivative.</a:t>
            </a:r>
            <a:endParaRPr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example,                     means  </a:t>
            </a:r>
            <a:r>
              <a:rPr i="1"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"Only change β2​. Keep every other coefficient fixed."</a:t>
            </a:r>
            <a:endParaRPr i="1"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gradient is simply all of the partial derivatives collected into one vector.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Gradient = multi-dimensional derivative</a:t>
            </a:r>
            <a:endParaRPr b="1" sz="1300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gradient tells us: 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39700" lvl="1" marL="5715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b="1" i="1"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the MSE changes with respect to every coefficient simultaneously.</a:t>
            </a:r>
            <a:endParaRPr b="1"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9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11" name="Google Shape;211;g3f21ed7dcbd_3_89" title="Screen Shot 2026-06-22 at 12.23.09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0275" y="1926400"/>
            <a:ext cx="2278975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f21ed7dcbd_3_89" title="Screen Shot 2026-06-22 at 12.24.48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5175" y="2651400"/>
            <a:ext cx="620025" cy="4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21ed7dcbd_3_118"/>
          <p:cNvSpPr txBox="1"/>
          <p:nvPr>
            <p:ph type="title"/>
          </p:nvPr>
        </p:nvSpPr>
        <p:spPr>
          <a:xfrm>
            <a:off x="1381250" y="896100"/>
            <a:ext cx="7161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"/>
              <a:t>Connecting It to Machine Learning</a:t>
            </a:r>
            <a:endParaRPr/>
          </a:p>
        </p:txBody>
      </p:sp>
      <p:grpSp>
        <p:nvGrpSpPr>
          <p:cNvPr id="218" name="Google Shape;218;g3f21ed7dcbd_3_118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19" name="Google Shape;219;g3f21ed7dcbd_3_118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f21ed7dcbd_3_118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f21ed7dcbd_3_118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f21ed7dcbd_3_118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g3f21ed7dcbd_3_11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g3f21ed7dcbd_3_118"/>
          <p:cNvSpPr txBox="1"/>
          <p:nvPr/>
        </p:nvSpPr>
        <p:spPr>
          <a:xfrm>
            <a:off x="684275" y="1547800"/>
            <a:ext cx="72669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The MSE is a function of the coefficients: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47650" lvl="0" marL="4000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The derivative (or partial derivative) tells us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7000" lvl="1" marL="7429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○"/>
            </a:pPr>
            <a:r>
              <a:rPr b="1" i="1" lang="en" sz="130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"How will the MSE change if I adjust one coefficient?"</a:t>
            </a:r>
            <a:endParaRPr b="1" i="1" sz="1300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47650" lvl="0" marL="40005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The gradient tells us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7000" lvl="1" marL="7429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○"/>
            </a:pPr>
            <a:r>
              <a:rPr b="1" i="1" lang="en" sz="130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"How will the MSE change if I adjust all coefficients?"</a:t>
            </a:r>
            <a:endParaRPr b="1" i="1" sz="1300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47650" lvl="0" marL="40005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For multiple coefficients: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39700" lvl="1" marL="7429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Gradient become complex &amp; solving it hard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397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Closed-form solutions are impractical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47650" lvl="0" marL="40005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Instead, we use a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computational approach; Gradient Descent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47650" lvl="0" marL="40005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◉"/>
            </a:pPr>
            <a:r>
              <a:rPr lang="e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Finally, Gradient Descent uses these information to update the coefficients:</a:t>
            </a:r>
            <a:endParaRPr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25" name="Google Shape;225;g3f21ed7dcbd_3_118" title="Screen Shot 2026-06-22 at 12.23.0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597" y="1593236"/>
            <a:ext cx="2278975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f21ed7dcbd_3_118" title="Screen Shot 2026-06-22 at 12.44.08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0250" y="4343875"/>
            <a:ext cx="1972975" cy="27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ec3599362_0_12"/>
          <p:cNvSpPr txBox="1"/>
          <p:nvPr>
            <p:ph type="title"/>
          </p:nvPr>
        </p:nvSpPr>
        <p:spPr>
          <a:xfrm>
            <a:off x="1381250" y="896100"/>
            <a:ext cx="6611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Gradient Descent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32" name="Google Shape;232;g38ec3599362_0_12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33" name="Google Shape;233;g38ec3599362_0_12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8ec3599362_0_12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8ec3599362_0_12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8ec3599362_0_12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g38ec3599362_0_1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g38ec3599362_0_12"/>
          <p:cNvSpPr txBox="1"/>
          <p:nvPr/>
        </p:nvSpPr>
        <p:spPr>
          <a:xfrm>
            <a:off x="684275" y="1547800"/>
            <a:ext cx="79665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method to find the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minimum of a function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(like our loss function).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iterative optimization algorithm,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move towards the minimum of the cost function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Think of it as going 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downhill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reach the lowest point.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Intuitive Analogy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Imagine standing on a hilly landscape in the fog.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Your goal: reach the bottom of the valley.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 can’t see far, but you can feel the slope.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Strategy: 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2" marL="10858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■"/>
            </a:pP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downhill, 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2" marL="10858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■"/>
            </a:pP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Recalculate slope, 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4800" lvl="2" marL="10858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■"/>
            </a:pP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Repeat until ground is flat</a:t>
            </a:r>
            <a:endParaRPr b="0" i="0" sz="12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39" name="Google Shape;239;g38ec3599362_0_12" title="Screen Shot 2025-10-03 at 12.06.43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4213" y="2371061"/>
            <a:ext cx="3352600" cy="16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ec3599362_0_81"/>
          <p:cNvSpPr txBox="1"/>
          <p:nvPr>
            <p:ph type="title"/>
          </p:nvPr>
        </p:nvSpPr>
        <p:spPr>
          <a:xfrm>
            <a:off x="1381250" y="896100"/>
            <a:ext cx="6611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Gradient Descent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45" name="Google Shape;245;g38ec3599362_0_81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46" name="Google Shape;246;g38ec3599362_0_81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8ec3599362_0_81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8ec3599362_0_81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38ec3599362_0_81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g38ec3599362_0_8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g38ec3599362_0_81"/>
          <p:cNvSpPr txBox="1"/>
          <p:nvPr/>
        </p:nvSpPr>
        <p:spPr>
          <a:xfrm>
            <a:off x="684275" y="1547800"/>
            <a:ext cx="4080000" cy="3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◉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                                                     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◉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Compute Gradient: Take derivatives w.r.t coeffs: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◉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Substitute back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◉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do that for each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◉"/>
            </a:pPr>
            <a:r>
              <a:rPr b="0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Then collect all partial derivatives into one object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52" name="Google Shape;252;g38ec3599362_0_81" title="Screen Shot 2026-02-19 at 1.36.11 AM.png"/>
          <p:cNvPicPr preferRelativeResize="0"/>
          <p:nvPr/>
        </p:nvPicPr>
        <p:blipFill rotWithShape="1">
          <a:blip r:embed="rId3">
            <a:alphaModFix/>
          </a:blip>
          <a:srcRect b="0" l="18599" r="0" t="0"/>
          <a:stretch/>
        </p:blipFill>
        <p:spPr>
          <a:xfrm>
            <a:off x="2597846" y="3726205"/>
            <a:ext cx="214625" cy="36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8ec3599362_0_81" title="Screen Shot 2026-06-22 at 12.56.44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550" y="1413250"/>
            <a:ext cx="1257554" cy="59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8ec3599362_0_81" title="Screen Shot 2026-06-22 at 12.57.27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1829" y="1428000"/>
            <a:ext cx="2749161" cy="59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g38ec3599362_0_81"/>
          <p:cNvGrpSpPr/>
          <p:nvPr/>
        </p:nvGrpSpPr>
        <p:grpSpPr>
          <a:xfrm>
            <a:off x="4974973" y="2115594"/>
            <a:ext cx="2714877" cy="583575"/>
            <a:chOff x="4974973" y="2115594"/>
            <a:chExt cx="2714877" cy="583575"/>
          </a:xfrm>
        </p:grpSpPr>
        <p:pic>
          <p:nvPicPr>
            <p:cNvPr id="256" name="Google Shape;256;g38ec3599362_0_81" title="Screen Shot 2026-02-19 at 1.32.33 AM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69175" y="2115594"/>
              <a:ext cx="2520675" cy="58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g38ec3599362_0_81" title="Screen Shot 2026-06-22 at 1.10.35 AM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974973" y="2174450"/>
              <a:ext cx="548700" cy="4692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8" name="Google Shape;258;g38ec3599362_0_81"/>
          <p:cNvGrpSpPr/>
          <p:nvPr/>
        </p:nvGrpSpPr>
        <p:grpSpPr>
          <a:xfrm>
            <a:off x="4934270" y="2920906"/>
            <a:ext cx="2343485" cy="543707"/>
            <a:chOff x="4934270" y="2920906"/>
            <a:chExt cx="2343485" cy="543707"/>
          </a:xfrm>
        </p:grpSpPr>
        <p:pic>
          <p:nvPicPr>
            <p:cNvPr id="259" name="Google Shape;259;g38ec3599362_0_81" title="Screen Shot 2026-02-19 at 1.33.59 AM.png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84056" y="2920906"/>
              <a:ext cx="2093700" cy="543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g38ec3599362_0_81" title="Screen Shot 2026-06-22 at 1.10.35 AM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934270" y="2928877"/>
              <a:ext cx="548700" cy="46927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1" name="Google Shape;261;g38ec3599362_0_81" title="Screen Shot 2026-06-22 at 1.20.07 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27257" y="3759821"/>
            <a:ext cx="1531100" cy="118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9638e4458_0_100"/>
          <p:cNvSpPr txBox="1"/>
          <p:nvPr>
            <p:ph type="title"/>
          </p:nvPr>
        </p:nvSpPr>
        <p:spPr>
          <a:xfrm>
            <a:off x="1381250" y="896100"/>
            <a:ext cx="6611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The Matrix Form of Gradient Descent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67" name="Google Shape;267;g3c9638e4458_0_10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68" name="Google Shape;268;g3c9638e4458_0_100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c9638e4458_0_100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c9638e4458_0_100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3c9638e4458_0_100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" name="Google Shape;272;g3c9638e4458_0_10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3" name="Google Shape;273;g3c9638e4458_0_100" title="Screen Shot 2026-02-19 at 1.41.30 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725" y="1412175"/>
            <a:ext cx="4060175" cy="35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9638e4458_0_79"/>
          <p:cNvSpPr txBox="1"/>
          <p:nvPr>
            <p:ph type="title"/>
          </p:nvPr>
        </p:nvSpPr>
        <p:spPr>
          <a:xfrm>
            <a:off x="1381250" y="896100"/>
            <a:ext cx="6611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Interpretation &amp; Update Rule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79" name="Google Shape;279;g3c9638e4458_0_7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80" name="Google Shape;280;g3c9638e4458_0_79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c9638e4458_0_79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c9638e4458_0_79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c9638e4458_0_79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" name="Google Shape;284;g3c9638e4458_0_7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g3c9638e4458_0_79"/>
          <p:cNvSpPr txBox="1"/>
          <p:nvPr/>
        </p:nvSpPr>
        <p:spPr>
          <a:xfrm>
            <a:off x="684275" y="1547800"/>
            <a:ext cx="7966500" cy="29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Gradient = multi-dimensional derivative</a:t>
            </a:r>
            <a:endParaRPr b="1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partial derivative tells us how one coefficient affects error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gradient combines all and tells us how to 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move all coefficients at once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reduce the cost.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That direction is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steepest increase</a:t>
            </a:r>
            <a:endParaRPr b="1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Gradient descent moves in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negative</a:t>
            </a: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gradient direction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◉"/>
            </a:pPr>
            <a:r>
              <a:rPr b="0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Gradient descent updates parameters using: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86" name="Google Shape;286;g3c9638e4458_0_79" title="Screen Shot 2026-02-19 at 1.47.39 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8740" y="3553862"/>
            <a:ext cx="4009025" cy="93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21ed7dcbd_3_152"/>
          <p:cNvSpPr txBox="1"/>
          <p:nvPr>
            <p:ph type="title"/>
          </p:nvPr>
        </p:nvSpPr>
        <p:spPr>
          <a:xfrm>
            <a:off x="1381250" y="896100"/>
            <a:ext cx="6611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Gradient </a:t>
            </a:r>
            <a:r>
              <a:rPr lang="en"/>
              <a:t>Descent Flowchart</a:t>
            </a:r>
            <a:r>
              <a:rPr lang="en"/>
              <a:t> 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92" name="Google Shape;292;g3f21ed7dcbd_3_152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93" name="Google Shape;293;g3f21ed7dcbd_3_152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f21ed7dcbd_3_152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3f21ed7dcbd_3_152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f21ed7dcbd_3_152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g3f21ed7dcbd_3_15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8" name="Google Shape;298;g3f21ed7dcbd_3_152" title="7cbc4479-4a12-496d-95fd-2d1da6f87a3a.png"/>
          <p:cNvPicPr preferRelativeResize="0"/>
          <p:nvPr/>
        </p:nvPicPr>
        <p:blipFill rotWithShape="1">
          <a:blip r:embed="rId3">
            <a:alphaModFix/>
          </a:blip>
          <a:srcRect b="0" l="0" r="0" t="5294"/>
          <a:stretch/>
        </p:blipFill>
        <p:spPr>
          <a:xfrm>
            <a:off x="5037604" y="340782"/>
            <a:ext cx="2840125" cy="47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bb02f37fd_0_0"/>
          <p:cNvSpPr txBox="1"/>
          <p:nvPr>
            <p:ph type="title"/>
          </p:nvPr>
        </p:nvSpPr>
        <p:spPr>
          <a:xfrm>
            <a:off x="1381250" y="896100"/>
            <a:ext cx="6611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Choosing Learning Rate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304" name="Google Shape;304;g38bb02f37fd_0_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305" name="Google Shape;305;g38bb02f37fd_0_0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8bb02f37fd_0_0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8bb02f37fd_0_0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8bb02f37fd_0_0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9" name="Google Shape;309;g38bb02f37fd_0_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0" name="Google Shape;310;g38bb02f37fd_0_0"/>
          <p:cNvSpPr txBox="1"/>
          <p:nvPr/>
        </p:nvSpPr>
        <p:spPr>
          <a:xfrm>
            <a:off x="684275" y="1547800"/>
            <a:ext cx="3774900" cy="13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◉"/>
            </a:pPr>
            <a:r>
              <a:rPr b="1" i="0" lang="en" sz="13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Learning Rate Controls Step Size</a:t>
            </a:r>
            <a:endParaRPr b="1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◉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Too small:</a:t>
            </a:r>
            <a:endParaRPr b="1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1" marL="51435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Updates are tiny → convergence is very slow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Might take forever to reach minimum</a:t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1" name="Google Shape;311;g38bb02f37fd_0_0"/>
          <p:cNvSpPr txBox="1"/>
          <p:nvPr/>
        </p:nvSpPr>
        <p:spPr>
          <a:xfrm>
            <a:off x="4874900" y="1552251"/>
            <a:ext cx="37749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◉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Too large:</a:t>
            </a:r>
            <a:endParaRPr b="1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1" marL="51435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Updates overshoot minimum → divergence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41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Quattrocento Sans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Loss may oscillate or explode</a:t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12" name="Google Shape;312;g38bb02f37fd_0_0"/>
          <p:cNvGrpSpPr/>
          <p:nvPr/>
        </p:nvGrpSpPr>
        <p:grpSpPr>
          <a:xfrm>
            <a:off x="1785833" y="2786547"/>
            <a:ext cx="5162899" cy="2233982"/>
            <a:chOff x="1785833" y="2786547"/>
            <a:chExt cx="5162899" cy="2233982"/>
          </a:xfrm>
        </p:grpSpPr>
        <p:pic>
          <p:nvPicPr>
            <p:cNvPr id="313" name="Google Shape;313;g38bb02f37fd_0_0" title="learning_rate_choice.png"/>
            <p:cNvPicPr preferRelativeResize="0"/>
            <p:nvPr/>
          </p:nvPicPr>
          <p:blipFill rotWithShape="1">
            <a:blip r:embed="rId3">
              <a:alphaModFix/>
            </a:blip>
            <a:srcRect b="10785" l="6305" r="0" t="0"/>
            <a:stretch/>
          </p:blipFill>
          <p:spPr>
            <a:xfrm>
              <a:off x="2334533" y="2786547"/>
              <a:ext cx="4614199" cy="1961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g38bb02f37fd_0_0"/>
            <p:cNvSpPr txBox="1"/>
            <p:nvPr/>
          </p:nvSpPr>
          <p:spPr>
            <a:xfrm>
              <a:off x="1785833" y="3597560"/>
              <a:ext cx="5487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J(β)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" name="Google Shape;315;g38bb02f37fd_0_0"/>
            <p:cNvSpPr txBox="1"/>
            <p:nvPr/>
          </p:nvSpPr>
          <p:spPr>
            <a:xfrm>
              <a:off x="2921583" y="4647498"/>
              <a:ext cx="5487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β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" name="Google Shape;316;g38bb02f37fd_0_0"/>
            <p:cNvSpPr txBox="1"/>
            <p:nvPr/>
          </p:nvSpPr>
          <p:spPr>
            <a:xfrm>
              <a:off x="5968630" y="4647504"/>
              <a:ext cx="5487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β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" name="Google Shape;317;g38bb02f37fd_0_0"/>
            <p:cNvSpPr txBox="1"/>
            <p:nvPr/>
          </p:nvSpPr>
          <p:spPr>
            <a:xfrm>
              <a:off x="4454930" y="4681529"/>
              <a:ext cx="5487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β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318" name="Google Shape;318;g38bb02f37fd_0_0" title="Screen Shot 2026-02-19 at 1.54.12 AM.png"/>
            <p:cNvPicPr preferRelativeResize="0"/>
            <p:nvPr/>
          </p:nvPicPr>
          <p:blipFill rotWithShape="1">
            <a:blip r:embed="rId4">
              <a:alphaModFix/>
            </a:blip>
            <a:srcRect b="29256" l="11878" r="0" t="19819"/>
            <a:stretch/>
          </p:blipFill>
          <p:spPr>
            <a:xfrm>
              <a:off x="2706951" y="2846504"/>
              <a:ext cx="214625" cy="150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g38bb02f37fd_0_0" title="Screen Shot 2026-02-19 at 1.54.12 AM.png"/>
            <p:cNvPicPr preferRelativeResize="0"/>
            <p:nvPr/>
          </p:nvPicPr>
          <p:blipFill rotWithShape="1">
            <a:blip r:embed="rId4">
              <a:alphaModFix/>
            </a:blip>
            <a:srcRect b="29256" l="11878" r="0" t="19819"/>
            <a:stretch/>
          </p:blipFill>
          <p:spPr>
            <a:xfrm>
              <a:off x="4190201" y="2846510"/>
              <a:ext cx="214625" cy="150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g38bb02f37fd_0_0" title="Screen Shot 2026-02-19 at 1.54.12 AM.png"/>
            <p:cNvPicPr preferRelativeResize="0"/>
            <p:nvPr/>
          </p:nvPicPr>
          <p:blipFill rotWithShape="1">
            <a:blip r:embed="rId4">
              <a:alphaModFix/>
            </a:blip>
            <a:srcRect b="29256" l="11878" r="0" t="19819"/>
            <a:stretch/>
          </p:blipFill>
          <p:spPr>
            <a:xfrm>
              <a:off x="5754001" y="2846510"/>
              <a:ext cx="214625" cy="1501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g38ec3599362_0_102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g38ec3599362_0_102"/>
          <p:cNvSpPr txBox="1"/>
          <p:nvPr>
            <p:ph idx="4294967295" type="ctrTitle"/>
          </p:nvPr>
        </p:nvSpPr>
        <p:spPr>
          <a:xfrm>
            <a:off x="1407350" y="2331883"/>
            <a:ext cx="67623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6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Implementing Gradient Descent in Python</a:t>
            </a:r>
            <a:endParaRPr b="1" i="0" sz="50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27" name="Google Shape;327;g38ec3599362_0_102"/>
          <p:cNvCxnSpPr/>
          <p:nvPr/>
        </p:nvCxnSpPr>
        <p:spPr>
          <a:xfrm>
            <a:off x="6319150" y="1424350"/>
            <a:ext cx="2824500" cy="4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g38ec3599362_0_102"/>
          <p:cNvSpPr/>
          <p:nvPr/>
        </p:nvSpPr>
        <p:spPr>
          <a:xfrm>
            <a:off x="831925" y="859175"/>
            <a:ext cx="1139100" cy="113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8ec3599362_0_10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30" name="Google Shape;330;g38ec3599362_0_102"/>
          <p:cNvGrpSpPr/>
          <p:nvPr/>
        </p:nvGrpSpPr>
        <p:grpSpPr>
          <a:xfrm>
            <a:off x="1070856" y="1019631"/>
            <a:ext cx="647216" cy="680979"/>
            <a:chOff x="2594050" y="1631825"/>
            <a:chExt cx="439625" cy="439625"/>
          </a:xfrm>
        </p:grpSpPr>
        <p:sp>
          <p:nvSpPr>
            <p:cNvPr id="331" name="Google Shape;331;g38ec3599362_0_102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287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5700" lIns="275700" spcFirstLastPara="1" rIns="275700" wrap="square" tIns="27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22"/>
                <a:buFont typeface="Arial"/>
                <a:buNone/>
              </a:pPr>
              <a:r>
                <a:t/>
              </a:r>
              <a:endParaRPr b="0" i="0" sz="42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38ec3599362_0_102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287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5700" lIns="275700" spcFirstLastPara="1" rIns="275700" wrap="square" tIns="27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22"/>
                <a:buFont typeface="Arial"/>
                <a:buNone/>
              </a:pPr>
              <a:r>
                <a:t/>
              </a:r>
              <a:endParaRPr b="0" i="0" sz="42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38ec3599362_0_102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287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5700" lIns="275700" spcFirstLastPara="1" rIns="275700" wrap="square" tIns="27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22"/>
                <a:buFont typeface="Arial"/>
                <a:buNone/>
              </a:pPr>
              <a:r>
                <a:t/>
              </a:r>
              <a:endParaRPr b="0" i="0" sz="42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8ec3599362_0_102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287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5700" lIns="275700" spcFirstLastPara="1" rIns="275700" wrap="square" tIns="27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22"/>
                <a:buFont typeface="Arial"/>
                <a:buNone/>
              </a:pPr>
              <a:r>
                <a:t/>
              </a:r>
              <a:endParaRPr b="0" i="0" sz="42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g38ec3599362_0_102"/>
          <p:cNvSpPr/>
          <p:nvPr/>
        </p:nvSpPr>
        <p:spPr>
          <a:xfrm>
            <a:off x="0" y="4539250"/>
            <a:ext cx="9149700" cy="6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1" sz="16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