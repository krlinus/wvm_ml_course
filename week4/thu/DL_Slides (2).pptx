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Lst>
  <p:sldSz cy="5143500" cx="9144000"/>
  <p:notesSz cx="6858000" cy="9144000"/>
  <p:embeddedFontLst>
    <p:embeddedFont>
      <p:font typeface="Lora"/>
      <p:regular r:id="rId58"/>
      <p:bold r:id="rId59"/>
      <p:italic r:id="rId60"/>
      <p:boldItalic r:id="rId61"/>
    </p:embeddedFont>
    <p:embeddedFont>
      <p:font typeface="Quattrocento Sans"/>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6" roundtripDataSignature="AMtx7mgo4yjLZmJQwjz+RSalIx7W9mXX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QuattrocentoSans-regular.fntdata"/><Relationship Id="rId61" Type="http://schemas.openxmlformats.org/officeDocument/2006/relationships/font" Target="fonts/Lora-boldItalic.fntdata"/><Relationship Id="rId20" Type="http://schemas.openxmlformats.org/officeDocument/2006/relationships/slide" Target="slides/slide16.xml"/><Relationship Id="rId64" Type="http://schemas.openxmlformats.org/officeDocument/2006/relationships/font" Target="fonts/QuattrocentoSans-italic.fntdata"/><Relationship Id="rId63" Type="http://schemas.openxmlformats.org/officeDocument/2006/relationships/font" Target="fonts/QuattrocentoSans-bold.fntdata"/><Relationship Id="rId22" Type="http://schemas.openxmlformats.org/officeDocument/2006/relationships/slide" Target="slides/slide18.xml"/><Relationship Id="rId66" Type="http://customschemas.google.com/relationships/presentationmetadata" Target="metadata"/><Relationship Id="rId21" Type="http://schemas.openxmlformats.org/officeDocument/2006/relationships/slide" Target="slides/slide17.xml"/><Relationship Id="rId65" Type="http://schemas.openxmlformats.org/officeDocument/2006/relationships/font" Target="fonts/QuattrocentoSans-boldItalic.fntdata"/><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Lora-italic.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font" Target="fonts/Lora-bold.fntdata"/><Relationship Id="rId14" Type="http://schemas.openxmlformats.org/officeDocument/2006/relationships/slide" Target="slides/slide10.xml"/><Relationship Id="rId58" Type="http://schemas.openxmlformats.org/officeDocument/2006/relationships/font" Target="fonts/Lora-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8330b8285a_0_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38330b8285a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be246bff7_0_1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bbe246bff7_0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be246bff7_0_3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bbe246bff7_0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be246bff7_0_2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bbe246bff7_0_2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330b8285a_0_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38330b8285a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8330b8285a_0_18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38330b8285a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d637020ec_0_32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dd637020ec_0_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d637020ec_0_3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dd637020ec_0_3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000">
                <a:solidFill>
                  <a:schemeClr val="dk1"/>
                </a:solidFill>
              </a:rPr>
              <a:t>“A biological neuron gets signals, processes them, and fires an output. The perceptron does the same, but with numbers.”</a:t>
            </a:r>
            <a:endParaRPr sz="1000">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“Think of the perceptron as drawing a straight line to separate two groups of points — like separating cats vs. dogs based on features.”</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d637020ec_0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dd637020ec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000">
                <a:solidFill>
                  <a:schemeClr val="dk1"/>
                </a:solidFill>
              </a:rPr>
              <a:t>“A biological neuron gets signals, processes them, and fires an output. The perceptron does the same, but with numbers.”</a:t>
            </a:r>
            <a:endParaRPr sz="1000">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“Think of the perceptron as drawing a straight line to separate two groups of points — like separating cats vs. dogs based on features.”</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d637020ec_0_3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dd637020ec_0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000">
                <a:solidFill>
                  <a:schemeClr val="dk1"/>
                </a:solidFill>
              </a:rPr>
              <a:t>“A biological neuron gets signals, processes them, and fires an output. The perceptron does the same, but with numbers.”</a:t>
            </a:r>
            <a:endParaRPr sz="1000">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“Think of the perceptron as drawing a straight line to separate two groups of points — like separating cats vs. dogs based on features.”</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dd637020ec_0_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3dd637020ec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rPr>
              <a:t>Analogy:</a:t>
            </a:r>
            <a:br>
              <a:rPr b="1" lang="en">
                <a:solidFill>
                  <a:schemeClr val="dk1"/>
                </a:solidFill>
              </a:rPr>
            </a:br>
            <a:r>
              <a:rPr lang="en">
                <a:solidFill>
                  <a:schemeClr val="dk1"/>
                </a:solidFill>
              </a:rPr>
              <a:t> Imagine applying for a college: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Inputs = GPA, test score, recommendation letters.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Weights = how much the school cares about each factor.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Weighted sum = overall admission score.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Activation = if score ≥ threshold, you’re accepted; otherwise, rejected.</a:t>
            </a:r>
            <a:br>
              <a:rPr lang="en">
                <a:solidFill>
                  <a:schemeClr val="dk1"/>
                </a:solidFill>
              </a:rPr>
            </a:b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In the formula for a perceptron (or neuron):</a:t>
            </a: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z=w1x1+w2x2+⋯+wnxn+bz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x1​,x2​,…,xn​ = inputs (features).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w1​,w2​,…,wn​ = weights (importance of each input).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b = bias.</a:t>
            </a:r>
            <a:endParaRPr b="1">
              <a:solidFill>
                <a:schemeClr val="dk1"/>
              </a:solidFill>
            </a:endParaRPr>
          </a:p>
          <a:p>
            <a:pPr indent="0" lvl="0" marL="0" rtl="0" algn="l">
              <a:lnSpc>
                <a:spcPct val="115000"/>
              </a:lnSpc>
              <a:spcBef>
                <a:spcPts val="1200"/>
              </a:spcBef>
              <a:spcAft>
                <a:spcPts val="0"/>
              </a:spcAft>
              <a:buSzPts val="1400"/>
              <a:buNone/>
            </a:pPr>
            <a:r>
              <a:rPr lang="en">
                <a:solidFill>
                  <a:schemeClr val="dk1"/>
                </a:solidFill>
              </a:rPr>
              <a:t>The </a:t>
            </a:r>
            <a:r>
              <a:rPr b="1" lang="en">
                <a:solidFill>
                  <a:schemeClr val="dk1"/>
                </a:solidFill>
              </a:rPr>
              <a:t>bias is like an extra adjustable constant</a:t>
            </a:r>
            <a:r>
              <a:rPr lang="en">
                <a:solidFill>
                  <a:schemeClr val="dk1"/>
                </a:solidFill>
              </a:rPr>
              <a:t> that shifts the decision boundary left, right, up, or down.</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Why Do We Use Bias?</a:t>
            </a:r>
            <a:endParaRPr b="1" sz="17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Flexibility in Decision Boundary</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Without bias, the decision line/plane must always pass through the origin (0,0).</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With bias, we can shift the line anywhere we need.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Example: Spam vs. Not Spam boundary doesn’t always go through (0,0).</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Analogy: Light Switch + Dimmer</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Weights = how strongly each feature contributes.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Bias = the </a:t>
            </a:r>
            <a:r>
              <a:rPr i="1" lang="en">
                <a:solidFill>
                  <a:schemeClr val="dk1"/>
                </a:solidFill>
              </a:rPr>
              <a:t>baseline setting</a:t>
            </a:r>
            <a:r>
              <a:rPr lang="en">
                <a:solidFill>
                  <a:schemeClr val="dk1"/>
                </a:solidFill>
              </a:rPr>
              <a:t> — like adjusting the dimmer before any light is added.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Mathematical Benefit</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Bias acts like the “intercept” in linear regression (the +c+ c+c in y=mx+cy = mx + cy=mx+c).</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allows the model to fit data better when the true boundary doesn’t cross the origin.</a:t>
            </a:r>
            <a:br>
              <a:rPr lang="en">
                <a:solidFill>
                  <a:schemeClr val="dk1"/>
                </a:solidFill>
              </a:rPr>
            </a:b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Example (Easy to Explain in Class)</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Imagine you’re deciding if a student passes an exam: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Score=5×hours studied+b\text{Score} = 5 \times \text{hours studied} + bScore=5×hours studied+b</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If b=0b = 0b=0: A student who studies 0 hours scores 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b=20b = 20b=20: Even if no hours are studied, the student starts with 20 points (bonus).</a:t>
            </a:r>
            <a:br>
              <a:rPr lang="en">
                <a:solidFill>
                  <a:schemeClr val="dk1"/>
                </a:solidFill>
              </a:rPr>
            </a:b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So </a:t>
            </a:r>
            <a:r>
              <a:rPr b="1" lang="en">
                <a:solidFill>
                  <a:schemeClr val="dk1"/>
                </a:solidFill>
              </a:rPr>
              <a:t>bias sets the baseline</a:t>
            </a:r>
            <a:r>
              <a:rPr lang="en">
                <a:solidFill>
                  <a:schemeClr val="dk1"/>
                </a:solidFill>
              </a:rPr>
              <a:t> before any input is considered.</a:t>
            </a: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 In summary: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Bias = baseline adjustment.</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lets the neuron “shift” its decision boundary.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Without bias, the model is too rigid and may fail to learn correctly.</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00000"/>
              </a:lnSpc>
              <a:spcBef>
                <a:spcPts val="1200"/>
              </a:spcBef>
              <a:spcAft>
                <a:spcPts val="0"/>
              </a:spcAft>
              <a:buSzPts val="1400"/>
              <a:buNone/>
            </a:pPr>
            <a:r>
              <a:t/>
            </a:r>
            <a:endParaRPr b="1"/>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d637020ec_0_4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3dd637020ec_0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000">
                <a:solidFill>
                  <a:schemeClr val="dk1"/>
                </a:solidFill>
              </a:rPr>
              <a:t>“A biological neuron gets signals, processes them, and fires an output. The perceptron does the same, but with numbers.”</a:t>
            </a:r>
            <a:endParaRPr sz="1000">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“Think of the perceptron as drawing a straight line to separate two groups of points — like separating cats vs. dogs based on features.”</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d637020ec_0_37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dd637020ec_0_3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rPr>
              <a:t>Analogy:</a:t>
            </a:r>
            <a:br>
              <a:rPr b="1" lang="en">
                <a:solidFill>
                  <a:schemeClr val="dk1"/>
                </a:solidFill>
              </a:rPr>
            </a:br>
            <a:r>
              <a:rPr lang="en">
                <a:solidFill>
                  <a:schemeClr val="dk1"/>
                </a:solidFill>
              </a:rPr>
              <a:t> Imagine applying for a college: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Inputs = GPA, test score, recommendation letters.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Weights = how much the school cares about each factor.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Weighted sum = overall admission score.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Activation = if score ≥ threshold, you’re accepted; otherwise, rejected.</a:t>
            </a:r>
            <a:br>
              <a:rPr lang="en">
                <a:solidFill>
                  <a:schemeClr val="dk1"/>
                </a:solidFill>
              </a:rPr>
            </a:b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In the formula for a perceptron (or neuron):</a:t>
            </a: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z=w1x1+w2x2+⋯+wnxn+bz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x1​,x2​,…,xn​ = inputs (features).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w1​,w2​,…,wn​ = weights (importance of each input).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b = bias.</a:t>
            </a:r>
            <a:endParaRPr b="1">
              <a:solidFill>
                <a:schemeClr val="dk1"/>
              </a:solidFill>
            </a:endParaRPr>
          </a:p>
          <a:p>
            <a:pPr indent="0" lvl="0" marL="0" rtl="0" algn="l">
              <a:lnSpc>
                <a:spcPct val="115000"/>
              </a:lnSpc>
              <a:spcBef>
                <a:spcPts val="1200"/>
              </a:spcBef>
              <a:spcAft>
                <a:spcPts val="0"/>
              </a:spcAft>
              <a:buSzPts val="1400"/>
              <a:buNone/>
            </a:pPr>
            <a:r>
              <a:rPr lang="en">
                <a:solidFill>
                  <a:schemeClr val="dk1"/>
                </a:solidFill>
              </a:rPr>
              <a:t>The </a:t>
            </a:r>
            <a:r>
              <a:rPr b="1" lang="en">
                <a:solidFill>
                  <a:schemeClr val="dk1"/>
                </a:solidFill>
              </a:rPr>
              <a:t>bias is like an extra adjustable constant</a:t>
            </a:r>
            <a:r>
              <a:rPr lang="en">
                <a:solidFill>
                  <a:schemeClr val="dk1"/>
                </a:solidFill>
              </a:rPr>
              <a:t> that shifts the decision boundary left, right, up, or down.</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Why Do We Use Bias?</a:t>
            </a:r>
            <a:endParaRPr b="1" sz="17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Flexibility in Decision Boundary</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Without bias, the decision line/plane must always pass through the origin (0,0).</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With bias, we can shift the line anywhere we need.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Example: Spam vs. Not Spam boundary doesn’t always go through (0,0).</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Analogy: Light Switch + Dimmer</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Weights = how strongly each feature contributes.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Bias = the </a:t>
            </a:r>
            <a:r>
              <a:rPr i="1" lang="en">
                <a:solidFill>
                  <a:schemeClr val="dk1"/>
                </a:solidFill>
              </a:rPr>
              <a:t>baseline setting</a:t>
            </a:r>
            <a:r>
              <a:rPr lang="en">
                <a:solidFill>
                  <a:schemeClr val="dk1"/>
                </a:solidFill>
              </a:rPr>
              <a:t> — like adjusting the dimmer before any light is added.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Mathematical Benefit</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Bias acts like the “intercept” in linear regression (the +c+ c+c in y=mx+cy = mx + cy=mx+c).</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allows the model to fit data better when the true boundary doesn’t cross the origin.</a:t>
            </a:r>
            <a:br>
              <a:rPr lang="en">
                <a:solidFill>
                  <a:schemeClr val="dk1"/>
                </a:solidFill>
              </a:rPr>
            </a:b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Example (Easy to Explain in Class)</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Imagine you’re deciding if a student passes an exam: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Score=5×hours studied+b\text{Score} = 5 \times \text{hours studied} + bScore=5×hours studied+b</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If b=0b = 0b=0: A student who studies 0 hours scores 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b=20b = 20b=20: Even if no hours are studied, the student starts with 20 points (bonus).</a:t>
            </a:r>
            <a:br>
              <a:rPr lang="en">
                <a:solidFill>
                  <a:schemeClr val="dk1"/>
                </a:solidFill>
              </a:rPr>
            </a:b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So </a:t>
            </a:r>
            <a:r>
              <a:rPr b="1" lang="en">
                <a:solidFill>
                  <a:schemeClr val="dk1"/>
                </a:solidFill>
              </a:rPr>
              <a:t>bias sets the baseline</a:t>
            </a:r>
            <a:r>
              <a:rPr lang="en">
                <a:solidFill>
                  <a:schemeClr val="dk1"/>
                </a:solidFill>
              </a:rPr>
              <a:t> before any input is considered.</a:t>
            </a: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 In summary: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Bias = baseline adjustment.</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lets the neuron “shift” its decision boundary.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Without bias, the model is too rigid and may fail to learn correctly.</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00000"/>
              </a:lnSpc>
              <a:spcBef>
                <a:spcPts val="1200"/>
              </a:spcBef>
              <a:spcAft>
                <a:spcPts val="0"/>
              </a:spcAft>
              <a:buSzPts val="1400"/>
              <a:buNone/>
            </a:pPr>
            <a:r>
              <a:t/>
            </a:r>
            <a:endParaRPr b="1"/>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d637020ec_0_4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3dd637020ec_0_4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rPr>
              <a:t>Analogy:</a:t>
            </a:r>
            <a:br>
              <a:rPr b="1" lang="en">
                <a:solidFill>
                  <a:schemeClr val="dk1"/>
                </a:solidFill>
              </a:rPr>
            </a:br>
            <a:r>
              <a:rPr lang="en">
                <a:solidFill>
                  <a:schemeClr val="dk1"/>
                </a:solidFill>
              </a:rPr>
              <a:t> Imagine applying for a college: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Inputs = GPA, test score, recommendation letters.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Weights = how much the school cares about each factor.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Weighted sum = overall admission score.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Activation = if score ≥ threshold, you’re accepted; otherwise, rejected.</a:t>
            </a:r>
            <a:br>
              <a:rPr lang="en">
                <a:solidFill>
                  <a:schemeClr val="dk1"/>
                </a:solidFill>
              </a:rPr>
            </a:b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In the formula for a perceptron (or neuron):</a:t>
            </a: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z=w1x1+w2x2+⋯+wnxn+bz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x1​,x2​,…,xn​ = inputs (features).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w1​,w2​,…,wn​ = weights (importance of each input).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b = bias.</a:t>
            </a:r>
            <a:endParaRPr b="1">
              <a:solidFill>
                <a:schemeClr val="dk1"/>
              </a:solidFill>
            </a:endParaRPr>
          </a:p>
          <a:p>
            <a:pPr indent="0" lvl="0" marL="0" rtl="0" algn="l">
              <a:lnSpc>
                <a:spcPct val="115000"/>
              </a:lnSpc>
              <a:spcBef>
                <a:spcPts val="1200"/>
              </a:spcBef>
              <a:spcAft>
                <a:spcPts val="0"/>
              </a:spcAft>
              <a:buSzPts val="1400"/>
              <a:buNone/>
            </a:pPr>
            <a:r>
              <a:rPr lang="en">
                <a:solidFill>
                  <a:schemeClr val="dk1"/>
                </a:solidFill>
              </a:rPr>
              <a:t>The </a:t>
            </a:r>
            <a:r>
              <a:rPr b="1" lang="en">
                <a:solidFill>
                  <a:schemeClr val="dk1"/>
                </a:solidFill>
              </a:rPr>
              <a:t>bias is like an extra adjustable constant</a:t>
            </a:r>
            <a:r>
              <a:rPr lang="en">
                <a:solidFill>
                  <a:schemeClr val="dk1"/>
                </a:solidFill>
              </a:rPr>
              <a:t> that shifts the decision boundary left, right, up, or down.</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Why Do We Use Bias?</a:t>
            </a:r>
            <a:endParaRPr b="1" sz="17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Flexibility in Decision Boundary</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Without bias, the decision line/plane must always pass through the origin (0,0).</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With bias, we can shift the line anywhere we need.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Example: Spam vs. Not Spam boundary doesn’t always go through (0,0).</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Analogy: Light Switch + Dimmer</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Weights = how strongly each feature contributes.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Bias = the </a:t>
            </a:r>
            <a:r>
              <a:rPr i="1" lang="en">
                <a:solidFill>
                  <a:schemeClr val="dk1"/>
                </a:solidFill>
              </a:rPr>
              <a:t>baseline setting</a:t>
            </a:r>
            <a:r>
              <a:rPr lang="en">
                <a:solidFill>
                  <a:schemeClr val="dk1"/>
                </a:solidFill>
              </a:rPr>
              <a:t> — like adjusting the dimmer before any light is added.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Mathematical Benefit</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Bias acts like the “intercept” in linear regression (the +c+ c+c in y=mx+cy = mx + cy=mx+c).</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allows the model to fit data better when the true boundary doesn’t cross the origin.</a:t>
            </a:r>
            <a:br>
              <a:rPr lang="en">
                <a:solidFill>
                  <a:schemeClr val="dk1"/>
                </a:solidFill>
              </a:rPr>
            </a:b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Example (Easy to Explain in Class)</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Imagine you’re deciding if a student passes an exam: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Score=5×hours studied+b\text{Score} = 5 \times \text{hours studied} + bScore=5×hours studied+b</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If b=0b = 0b=0: A student who studies 0 hours scores 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b=20b = 20b=20: Even if no hours are studied, the student starts with 20 points (bonus).</a:t>
            </a:r>
            <a:br>
              <a:rPr lang="en">
                <a:solidFill>
                  <a:schemeClr val="dk1"/>
                </a:solidFill>
              </a:rPr>
            </a:b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So </a:t>
            </a:r>
            <a:r>
              <a:rPr b="1" lang="en">
                <a:solidFill>
                  <a:schemeClr val="dk1"/>
                </a:solidFill>
              </a:rPr>
              <a:t>bias sets the baseline</a:t>
            </a:r>
            <a:r>
              <a:rPr lang="en">
                <a:solidFill>
                  <a:schemeClr val="dk1"/>
                </a:solidFill>
              </a:rPr>
              <a:t> before any input is considered.</a:t>
            </a: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 In summary: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Bias = baseline adjustment.</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lets the neuron “shift” its decision boundary.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Without bias, the model is too rigid and may fail to learn correctly.</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00000"/>
              </a:lnSpc>
              <a:spcBef>
                <a:spcPts val="1200"/>
              </a:spcBef>
              <a:spcAft>
                <a:spcPts val="0"/>
              </a:spcAft>
              <a:buSzPts val="1400"/>
              <a:buNone/>
            </a:pPr>
            <a:r>
              <a:t/>
            </a:r>
            <a:endParaRPr b="1"/>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d637020ec_0_3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3dd637020ec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00000"/>
              </a:lnSpc>
              <a:spcBef>
                <a:spcPts val="1200"/>
              </a:spcBef>
              <a:spcAft>
                <a:spcPts val="0"/>
              </a:spcAft>
              <a:buSzPts val="1400"/>
              <a:buNone/>
            </a:pPr>
            <a:r>
              <a:t/>
            </a:r>
            <a:endParaRPr b="1"/>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d637020ec_0_5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3dd637020ec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b="1" lang="en">
                <a:solidFill>
                  <a:schemeClr val="dk1"/>
                </a:solidFill>
              </a:rPr>
              <a:t>“The perceptron learns by trial and error: every time it makes a mistake, it shifts the boundary to do better next time.”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Plain English Version: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If the perceptron predicts too low, increase the weight.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it predicts too high, decrease the weight.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Keep repeating until it learns a line that separates the classes.</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Analogy:</a:t>
            </a:r>
            <a:br>
              <a:rPr b="1" lang="en">
                <a:solidFill>
                  <a:schemeClr val="dk1"/>
                </a:solidFill>
              </a:rPr>
            </a:br>
            <a:r>
              <a:rPr lang="en">
                <a:solidFill>
                  <a:schemeClr val="dk1"/>
                </a:solidFill>
              </a:rPr>
              <a:t> Imagine throwing darts at a target blindfolded:</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If dart lands left of the bullseye → adjust to the right.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dart lands too high → adjust downward.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Over time, you get closer to the bullseye.</a:t>
            </a:r>
            <a:br>
              <a:rPr lang="en">
                <a:solidFill>
                  <a:schemeClr val="dk1"/>
                </a:solidFill>
              </a:rPr>
            </a:br>
            <a:endParaRPr>
              <a:solidFill>
                <a:schemeClr val="dk1"/>
              </a:solidFill>
            </a:endParaRPr>
          </a:p>
          <a:p>
            <a:pPr indent="0" lvl="0" marL="0" rtl="0" algn="l">
              <a:lnSpc>
                <a:spcPct val="100000"/>
              </a:lnSpc>
              <a:spcBef>
                <a:spcPts val="1200"/>
              </a:spcBef>
              <a:spcAft>
                <a:spcPts val="0"/>
              </a:spcAft>
              <a:buSzPts val="1400"/>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d637020ec_0_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g3dd637020ec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rPr>
              <a:t>The preceding diagram illustrates how the perceptron receives the inputs of an example (</a:t>
            </a:r>
            <a:r>
              <a:rPr i="1" lang="en" sz="1000">
                <a:solidFill>
                  <a:schemeClr val="dk1"/>
                </a:solidFill>
              </a:rPr>
              <a:t>x</a:t>
            </a:r>
            <a:r>
              <a:rPr lang="en" sz="1000">
                <a:solidFill>
                  <a:schemeClr val="dk1"/>
                </a:solidFill>
              </a:rPr>
              <a:t>) and com- </a:t>
            </a:r>
            <a:r>
              <a:rPr lang="en" sz="900">
                <a:solidFill>
                  <a:schemeClr val="dk1"/>
                </a:solidFill>
              </a:rPr>
              <a:t>bines them with the bias unit (</a:t>
            </a:r>
            <a:r>
              <a:rPr i="1" lang="en" sz="900">
                <a:solidFill>
                  <a:schemeClr val="dk1"/>
                </a:solidFill>
              </a:rPr>
              <a:t>b</a:t>
            </a:r>
            <a:r>
              <a:rPr lang="en" sz="900">
                <a:solidFill>
                  <a:schemeClr val="dk1"/>
                </a:solidFill>
              </a:rPr>
              <a:t>) and weights (</a:t>
            </a:r>
            <a:r>
              <a:rPr i="1" lang="en" sz="900">
                <a:solidFill>
                  <a:schemeClr val="dk1"/>
                </a:solidFill>
              </a:rPr>
              <a:t>w</a:t>
            </a:r>
            <a:r>
              <a:rPr lang="en" sz="900">
                <a:solidFill>
                  <a:schemeClr val="dk1"/>
                </a:solidFill>
              </a:rPr>
              <a:t>) to compute the net input. The net input is then passed </a:t>
            </a:r>
            <a:r>
              <a:rPr lang="en" sz="1000">
                <a:solidFill>
                  <a:schemeClr val="dk1"/>
                </a:solidFill>
              </a:rPr>
              <a:t>on to the threshold function, which generates a binary output of 0 or 1—the predicted class label of the example. During the learning phase, this output is used to calculate the error of the prediction and update the weights and bias unit. </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dd637020ec_0_9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g3dd637020ec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“Now that we understand what machine learning is, let’s see how we can actually build the simplest model: a perceptron.”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dd637020ec_0_7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g3dd637020ec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dd637020ec_0_1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3dd637020ec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900">
                <a:solidFill>
                  <a:schemeClr val="dk1"/>
                </a:solidFill>
              </a:rPr>
              <a:t>The Adaline algorithm is particularly interesting because it illustrates the key concepts of defining and </a:t>
            </a:r>
            <a:r>
              <a:rPr lang="en" sz="1000">
                <a:solidFill>
                  <a:schemeClr val="dk1"/>
                </a:solidFill>
              </a:rPr>
              <a:t>minimizing continuous loss functions. This activation here is the identity function </a:t>
            </a:r>
            <a:r>
              <a:rPr lang="en" sz="900">
                <a:solidFill>
                  <a:schemeClr val="dk1"/>
                </a:solidFill>
              </a:rPr>
              <a:t>𝜎(𝑧) = 𝑧</a:t>
            </a:r>
            <a:r>
              <a:rPr lang="en" sz="1000">
                <a:solidFill>
                  <a:schemeClr val="dk1"/>
                </a:solidFill>
              </a:rPr>
              <a:t>.</a:t>
            </a:r>
            <a:endParaRPr sz="1000">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The key difference between the Adaline rule and </a:t>
            </a:r>
            <a:r>
              <a:rPr lang="en" sz="900">
                <a:solidFill>
                  <a:schemeClr val="dk1"/>
                </a:solidFill>
              </a:rPr>
              <a:t>perceptron is that the weights are updated based on a linear activation function rather than a unit step function</a:t>
            </a:r>
            <a:endParaRPr sz="1000">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While the linear activation function is used for learning the weights, we still use a threshold function to make the final prediction, which is similar to the unit step function that we covered earlier. </a:t>
            </a:r>
            <a:r>
              <a:rPr lang="en">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The main </a:t>
            </a:r>
            <a:r>
              <a:rPr lang="en" sz="900">
                <a:solidFill>
                  <a:schemeClr val="dk1"/>
                </a:solidFill>
              </a:rPr>
              <a:t>advantage of this continuous linear activation function, in contrast to the unit step function, is that the </a:t>
            </a:r>
            <a:r>
              <a:rPr lang="en" sz="1000">
                <a:solidFill>
                  <a:schemeClr val="dk1"/>
                </a:solidFill>
              </a:rPr>
              <a:t>loss function becomes differentiable.</a:t>
            </a:r>
            <a:r>
              <a:rPr lang="en">
                <a:solidFill>
                  <a:schemeClr val="dk1"/>
                </a:solidFill>
              </a:rPr>
              <a:t>	 </a:t>
            </a:r>
            <a:r>
              <a:rPr lang="en" sz="1000">
                <a:solidFill>
                  <a:schemeClr val="dk1"/>
                </a:solidFill>
              </a:rPr>
              <a:t>another nice property of this loss function is that it is convex; thus, we can use a very simple yet powerful optimization algorithm called gradient descent to find the weights that minimize our loss function to classify the examples in the Iris dataset.</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“Adaline improves on the perceptron by looking at how wrong it is, not just whether it’s wrong.”</a:t>
            </a:r>
            <a:endParaRPr>
              <a:solidFill>
                <a:schemeClr val="dk1"/>
              </a:solidFill>
            </a:endParaRPr>
          </a:p>
          <a:p>
            <a:pPr indent="0" lvl="0" marL="0" rtl="0" algn="l">
              <a:lnSpc>
                <a:spcPct val="100000"/>
              </a:lnSpc>
              <a:spcBef>
                <a:spcPts val="120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dd637020ec_0_1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g3dd637020ec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900">
                <a:solidFill>
                  <a:schemeClr val="dk1"/>
                </a:solidFill>
              </a:rPr>
              <a:t>defining and </a:t>
            </a:r>
            <a:r>
              <a:rPr lang="en" sz="1000">
                <a:solidFill>
                  <a:schemeClr val="dk1"/>
                </a:solidFill>
              </a:rPr>
              <a:t>minimizing continuous loss functions. </a:t>
            </a:r>
            <a:endParaRPr sz="1000">
              <a:solidFill>
                <a:schemeClr val="dk1"/>
              </a:solidFill>
            </a:endParaRPr>
          </a:p>
          <a:p>
            <a:pPr indent="0" lvl="0" marL="0" rtl="0" algn="l">
              <a:lnSpc>
                <a:spcPct val="100000"/>
              </a:lnSpc>
              <a:spcBef>
                <a:spcPts val="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400"/>
              <a:buNone/>
            </a:pPr>
            <a:r>
              <a:rPr lang="en">
                <a:solidFill>
                  <a:schemeClr val="dk1"/>
                </a:solidFill>
              </a:rPr>
              <a:t>In ML, we want our model (Perceptron/Adaline) to </a:t>
            </a:r>
            <a:r>
              <a:rPr b="1" lang="en">
                <a:solidFill>
                  <a:schemeClr val="dk1"/>
                </a:solidFill>
              </a:rPr>
              <a:t>make correct predictions</a:t>
            </a:r>
            <a:r>
              <a:rPr lang="en">
                <a:solidFill>
                  <a:schemeClr val="dk1"/>
                </a:solidFill>
              </a:rPr>
              <a:t>.</a:t>
            </a: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To know how “wrong” the model is, we calculate a </a:t>
            </a:r>
            <a:r>
              <a:rPr b="1" lang="en">
                <a:solidFill>
                  <a:schemeClr val="dk1"/>
                </a:solidFill>
              </a:rPr>
              <a:t>loss function</a:t>
            </a:r>
            <a:r>
              <a:rPr lang="en">
                <a:solidFill>
                  <a:schemeClr val="dk1"/>
                </a:solidFill>
              </a:rPr>
              <a:t> (like a score of how bad it’s doing).</a:t>
            </a:r>
            <a:br>
              <a:rPr lang="en">
                <a:solidFill>
                  <a:schemeClr val="dk1"/>
                </a:solidFill>
              </a:rPr>
            </a:br>
            <a:r>
              <a:rPr lang="en">
                <a:solidFill>
                  <a:schemeClr val="dk1"/>
                </a:solidFill>
              </a:rPr>
              <a:t>👉 </a:t>
            </a:r>
            <a:r>
              <a:rPr b="1" lang="en">
                <a:solidFill>
                  <a:schemeClr val="dk1"/>
                </a:solidFill>
              </a:rPr>
              <a:t>We want the lowest possible loss → better predictions.</a:t>
            </a:r>
            <a:endParaRPr b="1">
              <a:solidFill>
                <a:schemeClr val="dk1"/>
              </a:solidFill>
            </a:endParaRPr>
          </a:p>
          <a:p>
            <a:pPr indent="0" lvl="0" marL="0" rtl="0" algn="l">
              <a:lnSpc>
                <a:spcPct val="115000"/>
              </a:lnSpc>
              <a:spcBef>
                <a:spcPts val="1200"/>
              </a:spcBef>
              <a:spcAft>
                <a:spcPts val="0"/>
              </a:spcAft>
              <a:buSzPts val="1400"/>
              <a:buNone/>
            </a:pPr>
            <a:r>
              <a:rPr b="1" lang="en">
                <a:solidFill>
                  <a:schemeClr val="dk1"/>
                </a:solidFill>
              </a:rPr>
              <a:t>Gradient Descent is an algorithm that helps us to minimize the loss</a:t>
            </a:r>
            <a:endParaRPr b="1">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sz="10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dd637020ec_0_1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g3dd637020ec_0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dd637020ec_0_1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g3dd637020ec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Why Square?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If we only took raw errors (yi−y^iy_i - \hat{y}_iyi​−y^​i​), positives and negatives cancel out.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Squaring ensures </a:t>
            </a:r>
            <a:r>
              <a:rPr b="1" lang="en">
                <a:solidFill>
                  <a:schemeClr val="dk1"/>
                </a:solidFill>
              </a:rPr>
              <a:t>every mistake counts</a:t>
            </a:r>
            <a:r>
              <a:rPr lang="en">
                <a:solidFill>
                  <a:schemeClr val="dk1"/>
                </a:solidFill>
              </a:rPr>
              <a:t>, and big mistakes hurt more.</a:t>
            </a:r>
            <a:endParaRPr>
              <a:solidFill>
                <a:schemeClr val="dk1"/>
              </a:solidFill>
            </a:endParaRPr>
          </a:p>
          <a:p>
            <a:pPr indent="0" lvl="0" marL="0" rtl="0" algn="l">
              <a:lnSpc>
                <a:spcPct val="115000"/>
              </a:lnSpc>
              <a:spcBef>
                <a:spcPts val="1200"/>
              </a:spcBef>
              <a:spcAft>
                <a:spcPts val="0"/>
              </a:spcAft>
              <a:buSzPts val="1400"/>
              <a:buNone/>
            </a:pPr>
            <a:r>
              <a:rPr lang="en" sz="1000">
                <a:solidFill>
                  <a:schemeClr val="dk1"/>
                </a:solidFill>
              </a:rPr>
              <a:t>The term is just added for our convenience and will make it easier to derive the gradient of the loss </a:t>
            </a: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 </a:t>
            </a:r>
            <a:r>
              <a:rPr lang="en" sz="1000">
                <a:solidFill>
                  <a:schemeClr val="dk1"/>
                </a:solidFill>
              </a:rPr>
              <a:t>another nice property of this loss function is that it is convex; thus, we can use a very simple yet powerful optimization algorithm called gradient descent to find the weights that minimize our loss function to classify the examples in the Iris dataset.</a:t>
            </a:r>
            <a:r>
              <a:rPr lang="en">
                <a:solidFill>
                  <a:schemeClr val="dk1"/>
                </a:solidFill>
              </a:rPr>
              <a:t>		</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Convex Loss Function</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 convex function is shaped like a </a:t>
            </a:r>
            <a:r>
              <a:rPr b="1" lang="en">
                <a:solidFill>
                  <a:schemeClr val="dk1"/>
                </a:solidFill>
              </a:rPr>
              <a:t>bowl</a:t>
            </a:r>
            <a:r>
              <a:rPr lang="en">
                <a:solidFill>
                  <a:schemeClr val="dk1"/>
                </a:solidFill>
              </a:rPr>
              <a:t> (U-shape).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This means there is only </a:t>
            </a:r>
            <a:r>
              <a:rPr b="1" lang="en">
                <a:solidFill>
                  <a:schemeClr val="dk1"/>
                </a:solidFill>
              </a:rPr>
              <a:t>one lowest point</a:t>
            </a:r>
            <a:r>
              <a:rPr lang="en">
                <a:solidFill>
                  <a:schemeClr val="dk1"/>
                </a:solidFill>
              </a:rPr>
              <a:t> (the global minimum).</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you roll a ball inside the bowl, it will always settle at the bottom.</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 ML, this bottom is the </a:t>
            </a:r>
            <a:r>
              <a:rPr b="1" lang="en">
                <a:solidFill>
                  <a:schemeClr val="dk1"/>
                </a:solidFill>
              </a:rPr>
              <a:t>best weights</a:t>
            </a:r>
            <a:r>
              <a:rPr lang="en">
                <a:solidFill>
                  <a:schemeClr val="dk1"/>
                </a:solidFill>
              </a:rPr>
              <a:t> for your model</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Why Convex is Nice</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No tricky “traps” (local minima) to get stuck in.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Guarantees gradient descent can find the best solution.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00000"/>
              </a:lnSpc>
              <a:spcBef>
                <a:spcPts val="120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dd637020ec_0_17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g3dd637020ec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Why We Do It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a:t>
            </a:r>
            <a:r>
              <a:rPr b="1" lang="en">
                <a:solidFill>
                  <a:schemeClr val="dk1"/>
                </a:solidFill>
              </a:rPr>
              <a:t>loss function</a:t>
            </a:r>
            <a:r>
              <a:rPr lang="en">
                <a:solidFill>
                  <a:schemeClr val="dk1"/>
                </a:solidFill>
              </a:rPr>
              <a:t> tells us “how wrong we are.”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Gradient descent</a:t>
            </a:r>
            <a:r>
              <a:rPr lang="en">
                <a:solidFill>
                  <a:schemeClr val="dk1"/>
                </a:solidFill>
              </a:rPr>
              <a:t> gives us a systematic way to </a:t>
            </a:r>
            <a:r>
              <a:rPr i="1" lang="en">
                <a:solidFill>
                  <a:schemeClr val="dk1"/>
                </a:solidFill>
              </a:rPr>
              <a:t>adjust weights</a:t>
            </a:r>
            <a:r>
              <a:rPr lang="en">
                <a:solidFill>
                  <a:schemeClr val="dk1"/>
                </a:solidFill>
              </a:rPr>
              <a:t> so the model improves over 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Without minimizing loss, the model would just guess randomly and never learn.</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15000"/>
              </a:lnSpc>
              <a:spcBef>
                <a:spcPts val="1200"/>
              </a:spcBef>
              <a:spcAft>
                <a:spcPts val="0"/>
              </a:spcAft>
              <a:buSzPts val="1400"/>
              <a:buNone/>
            </a:pPr>
            <a:r>
              <a:rPr lang="en">
                <a:solidFill>
                  <a:schemeClr val="dk1"/>
                </a:solidFill>
              </a:rPr>
              <a:t>"We don’t see the square in the code because we’re not directly minimizing the error — we’re minimizing its square. When you take the derivative, the square cancels one power out, leaving just the error term in the update rule."</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00000"/>
              </a:lnSpc>
              <a:spcBef>
                <a:spcPts val="120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dd637020ec_0_2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g3dd637020ec_0_2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dd637020ec_0_2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g3dd637020ec_0_2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dd637020ec_0_1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g3dd637020ec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The preceding diagram illustrates how the perceptron receives the inputs of an example (</a:t>
            </a:r>
            <a:r>
              <a:rPr i="1" lang="en" sz="1000">
                <a:solidFill>
                  <a:schemeClr val="dk1"/>
                </a:solidFill>
              </a:rPr>
              <a:t>x</a:t>
            </a:r>
            <a:r>
              <a:rPr lang="en" sz="1000">
                <a:solidFill>
                  <a:schemeClr val="dk1"/>
                </a:solidFill>
              </a:rPr>
              <a:t>) and com- </a:t>
            </a:r>
            <a:r>
              <a:rPr lang="en" sz="900">
                <a:solidFill>
                  <a:schemeClr val="dk1"/>
                </a:solidFill>
              </a:rPr>
              <a:t>bines them with the bias unit (</a:t>
            </a:r>
            <a:r>
              <a:rPr i="1" lang="en" sz="900">
                <a:solidFill>
                  <a:schemeClr val="dk1"/>
                </a:solidFill>
              </a:rPr>
              <a:t>b</a:t>
            </a:r>
            <a:r>
              <a:rPr lang="en" sz="900">
                <a:solidFill>
                  <a:schemeClr val="dk1"/>
                </a:solidFill>
              </a:rPr>
              <a:t>) and weights (</a:t>
            </a:r>
            <a:r>
              <a:rPr i="1" lang="en" sz="900">
                <a:solidFill>
                  <a:schemeClr val="dk1"/>
                </a:solidFill>
              </a:rPr>
              <a:t>w</a:t>
            </a:r>
            <a:r>
              <a:rPr lang="en" sz="900">
                <a:solidFill>
                  <a:schemeClr val="dk1"/>
                </a:solidFill>
              </a:rPr>
              <a:t>) to compute the net input. The net input is then passed </a:t>
            </a:r>
            <a:r>
              <a:rPr lang="en" sz="1000">
                <a:solidFill>
                  <a:schemeClr val="dk1"/>
                </a:solidFill>
              </a:rPr>
              <a:t>on to the threshold function, which generates a binary output of 0 or 1—the predicted class label of the example. During the learning phase, this output is used to calculate the error of the prediction and update the weights and bias unit.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dd637020ec_0_44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g3dd637020ec_0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dd637020ec_0_2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g3dd637020ec_0_2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“Now that we understand what machine learning is, let’s see how we can actually build the simplest model: a perceptron.”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dd637020ec_0_3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g3dd637020ec_0_3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000">
                <a:solidFill>
                  <a:schemeClr val="dk1"/>
                </a:solidFill>
              </a:rPr>
              <a:t>“A biological neuron gets signals, processes them, and fires an output. The perceptron does the same, but with numbers.”</a:t>
            </a:r>
            <a:endParaRPr sz="1000">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“Think of the perceptron as drawing a straight line to separate two groups of points — like separating cats vs. dogs based on features.”</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SzPts val="1100"/>
              <a:buNone/>
            </a:pPr>
            <a:r>
              <a:t/>
            </a:r>
            <a:endParaRPr sz="10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		</a:t>
            </a:r>
            <a:endParaRPr>
              <a:solidFill>
                <a:schemeClr val="dk1"/>
              </a:solidFill>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ddfe5db4a3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g3ddfe5db4a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Network Architecture: The Multi-Layer Perceptron</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single perceptron is insufficient for modeling complex, non-linear systems. To solve advanced problems, perceptrons are grouped into interconnected layers, forming a Multi-Layer Perceptron (MLP) or an Artificial Neural Network.</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Structural Layers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Input Layer:</a:t>
            </a:r>
            <a:r>
              <a:rPr lang="en">
                <a:solidFill>
                  <a:schemeClr val="dk1"/>
                </a:solidFill>
              </a:rPr>
              <a:t> The first layer that directly receives raw, tabular data or feature sets.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Hidden Layers:</a:t>
            </a:r>
            <a:r>
              <a:rPr lang="en">
                <a:solidFill>
                  <a:schemeClr val="dk1"/>
                </a:solidFill>
              </a:rPr>
              <a:t> Layers situated between the input and output. They are considered "hidden" because their outputs are not directly observable in the training data. A network with two or more hidden layers is classified as a </a:t>
            </a:r>
            <a:r>
              <a:rPr b="1" lang="en">
                <a:solidFill>
                  <a:schemeClr val="dk1"/>
                </a:solidFill>
              </a:rPr>
              <a:t>Deep Neural Network</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Output Layer:</a:t>
            </a:r>
            <a:r>
              <a:rPr lang="en">
                <a:solidFill>
                  <a:schemeClr val="dk1"/>
                </a:solidFill>
              </a:rPr>
              <a:t> The final layer that provides the network's prediction or estimate (e.g., a continuous value for regression, or probability distributions for classification).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a </a:t>
            </a:r>
            <a:r>
              <a:rPr b="1" lang="en">
                <a:solidFill>
                  <a:schemeClr val="dk1"/>
                </a:solidFill>
              </a:rPr>
              <a:t>Feed-Forward Fully Connected Network</a:t>
            </a:r>
            <a:r>
              <a:rPr lang="en">
                <a:solidFill>
                  <a:schemeClr val="dk1"/>
                </a:solidFill>
              </a:rPr>
              <a:t>, information moves strictly in one direction (from input to output), and every neuron in one layer is connected to every neuron in the subsequent layer.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
                <a:solidFill>
                  <a:schemeClr val="dk1"/>
                </a:solidFill>
              </a:rPr>
              <a:t>The Universal Approximation Theorem:</a:t>
            </a:r>
            <a:r>
              <a:rPr lang="en">
                <a:solidFill>
                  <a:schemeClr val="dk1"/>
                </a:solidFill>
              </a:rPr>
              <a:t> Mathematical proofs demonstrate that a neural network with at least one hidden layer containing a sufficient number of neurons can approximate any continuous, convex function.</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ddfe5db4a3_0_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7" name="Google Shape;547;g3ddfe5db4a3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84150" lvl="0" marL="342900" rtl="0" algn="l">
              <a:lnSpc>
                <a:spcPct val="115000"/>
              </a:lnSpc>
              <a:spcBef>
                <a:spcPts val="0"/>
              </a:spcBef>
              <a:spcAft>
                <a:spcPts val="0"/>
              </a:spcAft>
              <a:buClr>
                <a:srgbClr val="FFCD00"/>
              </a:buClr>
              <a:buSzPts val="1100"/>
              <a:buChar char="◉"/>
            </a:pPr>
            <a:r>
              <a:rPr lang="en" sz="1300">
                <a:solidFill>
                  <a:schemeClr val="dk1"/>
                </a:solidFill>
                <a:latin typeface="Quattrocento Sans"/>
                <a:ea typeface="Quattrocento Sans"/>
                <a:cs typeface="Quattrocento Sans"/>
                <a:sym typeface="Quattrocento Sans"/>
              </a:rPr>
              <a:t>The design of the output layer is determined entirely by the type of problem you are trying to solve.</a:t>
            </a:r>
            <a:endParaRPr sz="1300">
              <a:solidFill>
                <a:schemeClr val="dk1"/>
              </a:solidFill>
              <a:latin typeface="Quattrocento Sans"/>
              <a:ea typeface="Quattrocento Sans"/>
              <a:cs typeface="Quattrocento Sans"/>
              <a:sym typeface="Quattrocento Sans"/>
            </a:endParaRPr>
          </a:p>
          <a:p>
            <a:pPr indent="0" lvl="0" marL="0" rtl="0" algn="l">
              <a:lnSpc>
                <a:spcPct val="115000"/>
              </a:lnSpc>
              <a:spcBef>
                <a:spcPts val="300"/>
              </a:spcBef>
              <a:spcAft>
                <a:spcPts val="0"/>
              </a:spcAft>
              <a:buSzPts val="1400"/>
              <a:buNone/>
            </a:pPr>
            <a:r>
              <a:rPr b="1" lang="en" sz="1300">
                <a:solidFill>
                  <a:schemeClr val="dk1"/>
                </a:solidFill>
              </a:rPr>
              <a:t>Visualizing the Architecture</a:t>
            </a:r>
            <a:endParaRPr b="1" sz="1300">
              <a:solidFill>
                <a:schemeClr val="dk1"/>
              </a:solidFill>
            </a:endParaRPr>
          </a:p>
          <a:p>
            <a:pPr indent="0" lvl="0" marL="0" rtl="0" algn="l">
              <a:lnSpc>
                <a:spcPct val="115000"/>
              </a:lnSpc>
              <a:spcBef>
                <a:spcPts val="400"/>
              </a:spcBef>
              <a:spcAft>
                <a:spcPts val="0"/>
              </a:spcAft>
              <a:buSzPts val="1400"/>
              <a:buNone/>
            </a:pPr>
            <a:r>
              <a:rPr b="1" lang="en">
                <a:solidFill>
                  <a:schemeClr val="dk1"/>
                </a:solidFill>
              </a:rPr>
              <a:t>1. Regression (Predicting a Quantity)</a:t>
            </a:r>
            <a:endParaRPr b="1">
              <a:solidFill>
                <a:schemeClr val="dk1"/>
              </a:solidFill>
            </a:endParaRPr>
          </a:p>
          <a:p>
            <a:pPr indent="-298450" lvl="0" marL="457200" rtl="0" algn="l">
              <a:lnSpc>
                <a:spcPct val="115000"/>
              </a:lnSpc>
              <a:spcBef>
                <a:spcPts val="200"/>
              </a:spcBef>
              <a:spcAft>
                <a:spcPts val="0"/>
              </a:spcAft>
              <a:buClr>
                <a:schemeClr val="dk1"/>
              </a:buClr>
              <a:buSzPts val="1100"/>
              <a:buChar char="●"/>
            </a:pPr>
            <a:r>
              <a:rPr b="1" lang="en">
                <a:solidFill>
                  <a:schemeClr val="dk1"/>
                </a:solidFill>
              </a:rPr>
              <a:t>Example:</a:t>
            </a:r>
            <a:r>
              <a:rPr lang="en">
                <a:solidFill>
                  <a:schemeClr val="dk1"/>
                </a:solidFill>
              </a:rPr>
              <a:t> Predicting house prices based on square footage.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Output:</a:t>
            </a:r>
            <a:r>
              <a:rPr lang="en">
                <a:solidFill>
                  <a:schemeClr val="dk1"/>
                </a:solidFill>
              </a:rPr>
              <a:t> A single node that outputs a raw number. Usually uses a </a:t>
            </a:r>
            <a:r>
              <a:rPr b="1" lang="en">
                <a:solidFill>
                  <a:schemeClr val="dk1"/>
                </a:solidFill>
              </a:rPr>
              <a:t>Linear</a:t>
            </a:r>
            <a:r>
              <a:rPr lang="en">
                <a:solidFill>
                  <a:schemeClr val="dk1"/>
                </a:solidFill>
              </a:rPr>
              <a:t> activation (no change) or </a:t>
            </a:r>
            <a:r>
              <a:rPr b="1" lang="en">
                <a:solidFill>
                  <a:schemeClr val="dk1"/>
                </a:solidFill>
              </a:rPr>
              <a:t>ReLU</a:t>
            </a:r>
            <a:r>
              <a:rPr lang="en">
                <a:solidFill>
                  <a:schemeClr val="dk1"/>
                </a:solidFill>
              </a:rPr>
              <a:t> (if the value must be positive).</a:t>
            </a:r>
            <a:endParaRPr>
              <a:solidFill>
                <a:schemeClr val="dk1"/>
              </a:solidFill>
            </a:endParaRPr>
          </a:p>
          <a:p>
            <a:pPr indent="0" lvl="0" marL="0" rtl="0" algn="l">
              <a:lnSpc>
                <a:spcPct val="115000"/>
              </a:lnSpc>
              <a:spcBef>
                <a:spcPts val="1200"/>
              </a:spcBef>
              <a:spcAft>
                <a:spcPts val="0"/>
              </a:spcAft>
              <a:buSzPts val="1400"/>
              <a:buNone/>
            </a:pPr>
            <a:r>
              <a:rPr b="1" lang="en">
                <a:solidFill>
                  <a:schemeClr val="dk1"/>
                </a:solidFill>
              </a:rPr>
              <a:t>2. Binary Classification (Predicting a Category)</a:t>
            </a:r>
            <a:endParaRPr b="1">
              <a:solidFill>
                <a:schemeClr val="dk1"/>
              </a:solidFill>
            </a:endParaRPr>
          </a:p>
          <a:p>
            <a:pPr indent="-298450" lvl="0" marL="457200" rtl="0" algn="l">
              <a:lnSpc>
                <a:spcPct val="115000"/>
              </a:lnSpc>
              <a:spcBef>
                <a:spcPts val="200"/>
              </a:spcBef>
              <a:spcAft>
                <a:spcPts val="0"/>
              </a:spcAft>
              <a:buClr>
                <a:schemeClr val="dk1"/>
              </a:buClr>
              <a:buSzPts val="1100"/>
              <a:buChar char="●"/>
            </a:pPr>
            <a:r>
              <a:rPr b="1" lang="en">
                <a:solidFill>
                  <a:schemeClr val="dk1"/>
                </a:solidFill>
              </a:rPr>
              <a:t>Example:</a:t>
            </a:r>
            <a:r>
              <a:rPr lang="en">
                <a:solidFill>
                  <a:schemeClr val="dk1"/>
                </a:solidFill>
              </a:rPr>
              <a:t> Determining if an email is "Spam" or "Not Spam."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Output:</a:t>
            </a:r>
            <a:r>
              <a:rPr lang="en">
                <a:solidFill>
                  <a:schemeClr val="dk1"/>
                </a:solidFill>
              </a:rPr>
              <a:t> A single node. We interpret the output as the probability of the "positive" class.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Activation:</a:t>
            </a:r>
            <a:r>
              <a:rPr lang="en">
                <a:solidFill>
                  <a:schemeClr val="dk1"/>
                </a:solidFill>
              </a:rPr>
              <a:t> </a:t>
            </a:r>
            <a:r>
              <a:rPr b="1" lang="en">
                <a:solidFill>
                  <a:schemeClr val="dk1"/>
                </a:solidFill>
              </a:rPr>
              <a:t>Sigmoid</a:t>
            </a:r>
            <a:r>
              <a:rPr lang="en">
                <a:solidFill>
                  <a:schemeClr val="dk1"/>
                </a:solidFill>
              </a:rPr>
              <a:t> (squashes the value between 0 and 1).</a:t>
            </a:r>
            <a:endParaRPr>
              <a:solidFill>
                <a:schemeClr val="dk1"/>
              </a:solidFill>
            </a:endParaRPr>
          </a:p>
          <a:p>
            <a:pPr indent="0" lvl="0" marL="0" rtl="0" algn="l">
              <a:lnSpc>
                <a:spcPct val="115000"/>
              </a:lnSpc>
              <a:spcBef>
                <a:spcPts val="1200"/>
              </a:spcBef>
              <a:spcAft>
                <a:spcPts val="0"/>
              </a:spcAft>
              <a:buSzPts val="1400"/>
              <a:buNone/>
            </a:pPr>
            <a:r>
              <a:rPr b="1" lang="en">
                <a:solidFill>
                  <a:schemeClr val="dk1"/>
                </a:solidFill>
              </a:rPr>
              <a:t>3. Multi-Class / Multi-Label (Predicting Multiple Categories)</a:t>
            </a:r>
            <a:endParaRPr b="1">
              <a:solidFill>
                <a:schemeClr val="dk1"/>
              </a:solidFill>
            </a:endParaRPr>
          </a:p>
          <a:p>
            <a:pPr indent="-298450" lvl="0" marL="457200" rtl="0" algn="l">
              <a:lnSpc>
                <a:spcPct val="115000"/>
              </a:lnSpc>
              <a:spcBef>
                <a:spcPts val="200"/>
              </a:spcBef>
              <a:spcAft>
                <a:spcPts val="0"/>
              </a:spcAft>
              <a:buClr>
                <a:schemeClr val="dk1"/>
              </a:buClr>
              <a:buSzPts val="1100"/>
              <a:buChar char="●"/>
            </a:pPr>
            <a:r>
              <a:rPr b="1" lang="en">
                <a:solidFill>
                  <a:schemeClr val="dk1"/>
                </a:solidFill>
              </a:rPr>
              <a:t>Example:</a:t>
            </a:r>
            <a:r>
              <a:rPr lang="en">
                <a:solidFill>
                  <a:schemeClr val="dk1"/>
                </a:solidFill>
              </a:rPr>
              <a:t> Identifying if an image is a "Dog," "Cat," or "Bird."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Output:</a:t>
            </a:r>
            <a:r>
              <a:rPr lang="en">
                <a:solidFill>
                  <a:schemeClr val="dk1"/>
                </a:solidFill>
              </a:rPr>
              <a:t> $N$ nodes, where $N$ is the number of possible categories.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Activation:</a:t>
            </a:r>
            <a:r>
              <a:rPr lang="en">
                <a:solidFill>
                  <a:schemeClr val="dk1"/>
                </a:solidFill>
              </a:rPr>
              <a:t> </a:t>
            </a:r>
            <a:r>
              <a:rPr b="1" lang="en">
                <a:solidFill>
                  <a:schemeClr val="dk1"/>
                </a:solidFill>
              </a:rPr>
              <a:t>Softmax</a:t>
            </a:r>
            <a:r>
              <a:rPr lang="en">
                <a:solidFill>
                  <a:schemeClr val="dk1"/>
                </a:solidFill>
              </a:rPr>
              <a:t> (for "pick one") or </a:t>
            </a:r>
            <a:r>
              <a:rPr b="1" lang="en">
                <a:solidFill>
                  <a:schemeClr val="dk1"/>
                </a:solidFill>
              </a:rPr>
              <a:t>Sigmoid</a:t>
            </a:r>
            <a:r>
              <a:rPr lang="en">
                <a:solidFill>
                  <a:schemeClr val="dk1"/>
                </a:solidFill>
              </a:rPr>
              <a:t> (for "pick many").</a:t>
            </a:r>
            <a:endParaRPr>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Case 1: Binary Classification</a:t>
            </a:r>
            <a:endParaRPr b="1">
              <a:solidFill>
                <a:schemeClr val="dk1"/>
              </a:solidFill>
            </a:endParaRPr>
          </a:p>
          <a:p>
            <a:pPr indent="-260350" lvl="0" marL="457200" rtl="0" algn="l">
              <a:lnSpc>
                <a:spcPct val="115000"/>
              </a:lnSpc>
              <a:spcBef>
                <a:spcPts val="1200"/>
              </a:spcBef>
              <a:spcAft>
                <a:spcPts val="0"/>
              </a:spcAft>
              <a:buClr>
                <a:schemeClr val="dk1"/>
              </a:buClr>
              <a:buSzPts val="500"/>
              <a:buChar char="●"/>
            </a:pPr>
            <a:r>
              <a:rPr lang="en" sz="500">
                <a:solidFill>
                  <a:schemeClr val="dk1"/>
                </a:solidFill>
              </a:rPr>
              <a:t>Activation: </a:t>
            </a:r>
            <a:r>
              <a:rPr b="1" lang="en" sz="500">
                <a:solidFill>
                  <a:schemeClr val="dk1"/>
                </a:solidFill>
              </a:rPr>
              <a:t>Sigmoid</a:t>
            </a:r>
            <a:endParaRPr b="1" sz="500">
              <a:solidFill>
                <a:schemeClr val="dk1"/>
              </a:solidFill>
            </a:endParaRPr>
          </a:p>
          <a:p>
            <a:pPr indent="-260350" lvl="0" marL="457200" rtl="0" algn="l">
              <a:lnSpc>
                <a:spcPct val="115000"/>
              </a:lnSpc>
              <a:spcBef>
                <a:spcPts val="0"/>
              </a:spcBef>
              <a:spcAft>
                <a:spcPts val="0"/>
              </a:spcAft>
              <a:buClr>
                <a:schemeClr val="dk1"/>
              </a:buClr>
              <a:buSzPts val="500"/>
              <a:buChar char="●"/>
            </a:pPr>
            <a:r>
              <a:rPr lang="en" sz="500">
                <a:solidFill>
                  <a:schemeClr val="dk1"/>
                </a:solidFill>
              </a:rPr>
              <a:t>Loss: </a:t>
            </a:r>
            <a:r>
              <a:rPr b="1" lang="en" sz="500">
                <a:solidFill>
                  <a:schemeClr val="dk1"/>
                </a:solidFill>
              </a:rPr>
              <a:t>Binary Cross-Entropy</a:t>
            </a:r>
            <a:endParaRPr b="1" sz="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500">
                <a:solidFill>
                  <a:schemeClr val="dk1"/>
                </a:solidFill>
              </a:rPr>
              <a:t>✔ One output neuron</a:t>
            </a:r>
            <a:br>
              <a:rPr lang="en" sz="500">
                <a:solidFill>
                  <a:schemeClr val="dk1"/>
                </a:solidFill>
              </a:rPr>
            </a:br>
            <a:r>
              <a:rPr lang="en" sz="500">
                <a:solidFill>
                  <a:schemeClr val="dk1"/>
                </a:solidFill>
              </a:rPr>
              <a:t> ✔ Predicts probability of class 1</a:t>
            </a:r>
            <a:endParaRPr sz="5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Case 2: Multi-Class (Mutually Exclusive)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500">
                <a:solidFill>
                  <a:schemeClr val="dk1"/>
                </a:solidFill>
              </a:rPr>
              <a:t>👉 Example: Cat vs Dog vs Bird (only ONE correct)</a:t>
            </a:r>
            <a:endParaRPr sz="500">
              <a:solidFill>
                <a:schemeClr val="dk1"/>
              </a:solidFill>
            </a:endParaRPr>
          </a:p>
          <a:p>
            <a:pPr indent="-266700" lvl="0" marL="457200" rtl="0" algn="l">
              <a:lnSpc>
                <a:spcPct val="115000"/>
              </a:lnSpc>
              <a:spcBef>
                <a:spcPts val="1200"/>
              </a:spcBef>
              <a:spcAft>
                <a:spcPts val="0"/>
              </a:spcAft>
              <a:buClr>
                <a:schemeClr val="dk1"/>
              </a:buClr>
              <a:buSzPts val="600"/>
              <a:buChar char="●"/>
            </a:pPr>
            <a:r>
              <a:rPr lang="en" sz="600">
                <a:solidFill>
                  <a:schemeClr val="dk1"/>
                </a:solidFill>
              </a:rPr>
              <a:t>Activation: </a:t>
            </a:r>
            <a:r>
              <a:rPr b="1" lang="en" sz="600">
                <a:solidFill>
                  <a:schemeClr val="dk1"/>
                </a:solidFill>
              </a:rPr>
              <a:t>Softmax</a:t>
            </a:r>
            <a:endParaRPr b="1" sz="600">
              <a:solidFill>
                <a:schemeClr val="dk1"/>
              </a:solidFill>
            </a:endParaRPr>
          </a:p>
          <a:p>
            <a:pPr indent="-266700" lvl="0" marL="457200" rtl="0" algn="l">
              <a:lnSpc>
                <a:spcPct val="115000"/>
              </a:lnSpc>
              <a:spcBef>
                <a:spcPts val="0"/>
              </a:spcBef>
              <a:spcAft>
                <a:spcPts val="0"/>
              </a:spcAft>
              <a:buClr>
                <a:schemeClr val="dk1"/>
              </a:buClr>
              <a:buSzPts val="600"/>
              <a:buChar char="●"/>
            </a:pPr>
            <a:r>
              <a:rPr lang="en" sz="600">
                <a:solidFill>
                  <a:schemeClr val="dk1"/>
                </a:solidFill>
              </a:rPr>
              <a:t>Loss: </a:t>
            </a:r>
            <a:r>
              <a:rPr b="1" lang="en" sz="600">
                <a:solidFill>
                  <a:schemeClr val="dk1"/>
                </a:solidFill>
              </a:rPr>
              <a:t>Categorical Cross-Entropy</a:t>
            </a:r>
            <a:endParaRPr b="1" sz="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600">
                <a:solidFill>
                  <a:schemeClr val="dk1"/>
                </a:solidFill>
              </a:rPr>
              <a:t>✔ Outputs sum to 1</a:t>
            </a:r>
            <a:br>
              <a:rPr lang="en">
                <a:solidFill>
                  <a:schemeClr val="dk1"/>
                </a:solidFill>
              </a:rPr>
            </a:br>
            <a:r>
              <a:rPr lang="en" sz="500">
                <a:solidFill>
                  <a:schemeClr val="dk1"/>
                </a:solidFill>
              </a:rPr>
              <a:t> ✔ Exactly one class is correct</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200">
                <a:solidFill>
                  <a:schemeClr val="dk1"/>
                </a:solidFill>
              </a:rPr>
              <a:t>Case 3: Multi-Label (Non-Exclusive)</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600">
                <a:solidFill>
                  <a:schemeClr val="dk1"/>
                </a:solidFill>
              </a:rPr>
              <a:t>👉 Example: Image can contain </a:t>
            </a:r>
            <a:r>
              <a:rPr i="1" lang="en" sz="600">
                <a:solidFill>
                  <a:schemeClr val="dk1"/>
                </a:solidFill>
              </a:rPr>
              <a:t>dog AND car AND person</a:t>
            </a:r>
            <a:endParaRPr i="1" sz="600">
              <a:solidFill>
                <a:schemeClr val="dk1"/>
              </a:solidFill>
            </a:endParaRPr>
          </a:p>
          <a:p>
            <a:pPr indent="-266700" lvl="0" marL="457200" rtl="0" algn="l">
              <a:lnSpc>
                <a:spcPct val="115000"/>
              </a:lnSpc>
              <a:spcBef>
                <a:spcPts val="1200"/>
              </a:spcBef>
              <a:spcAft>
                <a:spcPts val="0"/>
              </a:spcAft>
              <a:buClr>
                <a:schemeClr val="dk1"/>
              </a:buClr>
              <a:buSzPts val="600"/>
              <a:buChar char="●"/>
            </a:pPr>
            <a:r>
              <a:rPr lang="en" sz="600">
                <a:solidFill>
                  <a:schemeClr val="dk1"/>
                </a:solidFill>
              </a:rPr>
              <a:t>Activation: </a:t>
            </a:r>
            <a:r>
              <a:rPr b="1" lang="en" sz="600">
                <a:solidFill>
                  <a:schemeClr val="dk1"/>
                </a:solidFill>
              </a:rPr>
              <a:t>Sigmoid (per class)</a:t>
            </a:r>
            <a:endParaRPr b="1" sz="600">
              <a:solidFill>
                <a:schemeClr val="dk1"/>
              </a:solidFill>
            </a:endParaRPr>
          </a:p>
          <a:p>
            <a:pPr indent="-266700" lvl="0" marL="457200" rtl="0" algn="l">
              <a:lnSpc>
                <a:spcPct val="115000"/>
              </a:lnSpc>
              <a:spcBef>
                <a:spcPts val="0"/>
              </a:spcBef>
              <a:spcAft>
                <a:spcPts val="0"/>
              </a:spcAft>
              <a:buClr>
                <a:schemeClr val="dk1"/>
              </a:buClr>
              <a:buSzPts val="600"/>
              <a:buChar char="●"/>
            </a:pPr>
            <a:r>
              <a:rPr lang="en" sz="600">
                <a:solidFill>
                  <a:schemeClr val="dk1"/>
                </a:solidFill>
              </a:rPr>
              <a:t>Loss: </a:t>
            </a:r>
            <a:r>
              <a:rPr b="1" lang="en" sz="600">
                <a:solidFill>
                  <a:schemeClr val="dk1"/>
                </a:solidFill>
              </a:rPr>
              <a:t>Binary Cross-Entropy (applied per class)</a:t>
            </a:r>
            <a:endParaRPr b="1" sz="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600">
                <a:solidFill>
                  <a:schemeClr val="dk1"/>
                </a:solidFill>
              </a:rPr>
              <a:t>✔ Multiple labels can be 1</a:t>
            </a:r>
            <a:br>
              <a:rPr lang="en" sz="600">
                <a:solidFill>
                  <a:schemeClr val="dk1"/>
                </a:solidFill>
              </a:rPr>
            </a:br>
            <a:r>
              <a:rPr lang="en" sz="600">
                <a:solidFill>
                  <a:schemeClr val="dk1"/>
                </a:solidFill>
              </a:rPr>
              <a:t> ✔ Each class is treated independently</a:t>
            </a:r>
            <a:endParaRPr sz="600">
              <a:solidFill>
                <a:schemeClr val="dk1"/>
              </a:solidFill>
            </a:endParaRPr>
          </a:p>
          <a:p>
            <a:pPr indent="0" lvl="0" marL="0" rtl="0" algn="l">
              <a:lnSpc>
                <a:spcPct val="115000"/>
              </a:lnSpc>
              <a:spcBef>
                <a:spcPts val="1200"/>
              </a:spcBef>
              <a:spcAft>
                <a:spcPts val="0"/>
              </a:spcAft>
              <a:buSzPts val="1400"/>
              <a:buNone/>
            </a:pPr>
            <a:r>
              <a:t/>
            </a:r>
            <a:endParaRPr>
              <a:solidFill>
                <a:schemeClr val="dk1"/>
              </a:solidFill>
            </a:endParaRPr>
          </a:p>
          <a:p>
            <a:pPr indent="0" lvl="0" marL="0" rtl="0" algn="l">
              <a:lnSpc>
                <a:spcPct val="115000"/>
              </a:lnSpc>
              <a:spcBef>
                <a:spcPts val="1200"/>
              </a:spcBef>
              <a:spcAft>
                <a:spcPts val="0"/>
              </a:spcAft>
              <a:buSzPts val="1400"/>
              <a:buNone/>
            </a:pPr>
            <a:r>
              <a:t/>
            </a:r>
            <a:endParaRPr sz="1300">
              <a:solidFill>
                <a:schemeClr val="dk1"/>
              </a:solidFill>
              <a:latin typeface="Quattrocento Sans"/>
              <a:ea typeface="Quattrocento Sans"/>
              <a:cs typeface="Quattrocento Sans"/>
              <a:sym typeface="Quattrocento Sans"/>
            </a:endParaRPr>
          </a:p>
          <a:p>
            <a:pPr indent="0" lvl="0" marL="0" rtl="0" algn="l">
              <a:lnSpc>
                <a:spcPct val="100000"/>
              </a:lnSpc>
              <a:spcBef>
                <a:spcPts val="300"/>
              </a:spcBef>
              <a:spcAft>
                <a:spcPts val="0"/>
              </a:spcAft>
              <a:buSzPts val="1400"/>
              <a:buNone/>
            </a:pPr>
            <a:r>
              <a:t/>
            </a:r>
            <a:endParaRPr b="1" sz="1700">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ddfe5db4a3_0_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9" name="Google Shape;559;g3ddfe5db4a3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700">
                <a:solidFill>
                  <a:schemeClr val="dk1"/>
                </a:solidFill>
              </a:rPr>
              <a:t>Handling Multi-Class Problems</a:t>
            </a:r>
            <a:endParaRPr b="1" sz="17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When a classification task involves more than two categories, the output layer must be expanded to contain multiple neurons—typically one neuron per class. The approach depends on whether the classes are mutually exclusive.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rPr>
              <a:t>Data Representation: One-Hot Encoding</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Text-based categories (e.g., "Red", "Green", "Blue") cannot be processed mathematically. Data must be transformed using </a:t>
            </a:r>
            <a:r>
              <a:rPr b="1" lang="en">
                <a:solidFill>
                  <a:schemeClr val="dk1"/>
                </a:solidFill>
              </a:rPr>
              <a:t>one-hot encoding</a:t>
            </a:r>
            <a:r>
              <a:rPr lang="en">
                <a:solidFill>
                  <a:schemeClr val="dk1"/>
                </a:solidFill>
              </a:rPr>
              <a:t>, creating a matrix where a value of 1 indicates the presence of a class, and 0 indicates its absence.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rPr>
              <a:t>Non-Exclusive Classes (Multi-Label)</a:t>
            </a:r>
            <a:endParaRPr b="1" sz="1300">
              <a:solidFill>
                <a:schemeClr val="dk1"/>
              </a:solidFill>
            </a:endParaRPr>
          </a:p>
          <a:p>
            <a:pPr indent="-298450" lvl="0" marL="457200" rtl="0" algn="l">
              <a:lnSpc>
                <a:spcPct val="115000"/>
              </a:lnSpc>
              <a:spcBef>
                <a:spcPts val="400"/>
              </a:spcBef>
              <a:spcAft>
                <a:spcPts val="0"/>
              </a:spcAft>
              <a:buClr>
                <a:schemeClr val="dk1"/>
              </a:buClr>
              <a:buSzPts val="1100"/>
              <a:buChar char="●"/>
            </a:pPr>
            <a:r>
              <a:rPr b="1" lang="en">
                <a:solidFill>
                  <a:schemeClr val="dk1"/>
                </a:solidFill>
              </a:rPr>
              <a:t>Definition:</a:t>
            </a:r>
            <a:r>
              <a:rPr lang="en">
                <a:solidFill>
                  <a:schemeClr val="dk1"/>
                </a:solidFill>
              </a:rPr>
              <a:t> A single data point can belong to multiple categories simultaneously (e.g., a photo tagged as both "Beach" and "Vacation").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Activation:</a:t>
            </a:r>
            <a:r>
              <a:rPr lang="en">
                <a:solidFill>
                  <a:schemeClr val="dk1"/>
                </a:solidFill>
              </a:rPr>
              <a:t> The </a:t>
            </a:r>
            <a:r>
              <a:rPr b="1" lang="en">
                <a:solidFill>
                  <a:schemeClr val="dk1"/>
                </a:solidFill>
              </a:rPr>
              <a:t>Sigmoid</a:t>
            </a:r>
            <a:r>
              <a:rPr lang="en">
                <a:solidFill>
                  <a:schemeClr val="dk1"/>
                </a:solidFill>
              </a:rPr>
              <a:t> function is applied to each output neuron independently. This allows multiple neurons to output a probability higher than a defined threshold (e.g., 0.5), assigning multiple labels to the input.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rPr>
              <a:t>Mutually Exclusive Classes (Multi-Class)</a:t>
            </a:r>
            <a:endParaRPr b="1" sz="1300">
              <a:solidFill>
                <a:schemeClr val="dk1"/>
              </a:solidFill>
            </a:endParaRPr>
          </a:p>
          <a:p>
            <a:pPr indent="-298450" lvl="0" marL="457200" rtl="0" algn="l">
              <a:lnSpc>
                <a:spcPct val="115000"/>
              </a:lnSpc>
              <a:spcBef>
                <a:spcPts val="400"/>
              </a:spcBef>
              <a:spcAft>
                <a:spcPts val="0"/>
              </a:spcAft>
              <a:buClr>
                <a:schemeClr val="dk1"/>
              </a:buClr>
              <a:buSzPts val="1100"/>
              <a:buChar char="●"/>
            </a:pPr>
            <a:r>
              <a:rPr b="1" lang="en">
                <a:solidFill>
                  <a:schemeClr val="dk1"/>
                </a:solidFill>
              </a:rPr>
              <a:t>Definition:</a:t>
            </a:r>
            <a:r>
              <a:rPr lang="en">
                <a:solidFill>
                  <a:schemeClr val="dk1"/>
                </a:solidFill>
              </a:rPr>
              <a:t> A single data point can only belong to one category (e.g., an image is either grayscale OR color).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Activation:</a:t>
            </a:r>
            <a:r>
              <a:rPr lang="en">
                <a:solidFill>
                  <a:schemeClr val="dk1"/>
                </a:solidFill>
              </a:rPr>
              <a:t> The </a:t>
            </a:r>
            <a:r>
              <a:rPr b="1" lang="en">
                <a:solidFill>
                  <a:schemeClr val="dk1"/>
                </a:solidFill>
              </a:rPr>
              <a:t>Softmax</a:t>
            </a:r>
            <a:r>
              <a:rPr lang="en">
                <a:solidFill>
                  <a:schemeClr val="dk1"/>
                </a:solidFill>
              </a:rPr>
              <a:t> function is utilized. Softmax calculates the probability distribution across all possible target classes, ensuring that the sum of all output probabilities equals exactly 1. The class with the highest probability is chosen as the prediction.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$$softmax(z_i) = \frac{e^{z_i}}{\sum_{k=1}^{K} e^{z_k}}$$</a:t>
            </a:r>
            <a:endParaRPr>
              <a:solidFill>
                <a:schemeClr val="dk1"/>
              </a:solidFill>
            </a:endParaRPr>
          </a:p>
          <a:p>
            <a:pPr indent="0" lvl="0" marL="0" rtl="0" algn="l">
              <a:lnSpc>
                <a:spcPct val="100000"/>
              </a:lnSpc>
              <a:spcBef>
                <a:spcPts val="0"/>
              </a:spcBef>
              <a:spcAft>
                <a:spcPts val="0"/>
              </a:spcAft>
              <a:buSzPts val="1400"/>
              <a:buNone/>
            </a:pPr>
            <a:r>
              <a:t/>
            </a:r>
            <a:endParaRPr b="1" sz="1700">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ddfe5db4a3_0_1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g3ddfe5db4a3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1" sz="1700">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ddfe5db4a3_0_7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g3ddfe5db4a3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400"/>
              <a:buNone/>
            </a:pPr>
            <a:r>
              <a:t/>
            </a:r>
            <a:endParaRPr b="1" sz="1700">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ddfe5db4a3_0_1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1" name="Google Shape;601;g3ddfe5db4a3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400"/>
              <a:buNone/>
            </a:pPr>
            <a:r>
              <a:t/>
            </a:r>
            <a:endParaRPr b="1" sz="1700">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ddfe5db4a3_0_1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3" name="Google Shape;623;g3ddfe5db4a3_0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400"/>
              <a:buNone/>
            </a:pPr>
            <a:r>
              <a:t/>
            </a:r>
            <a:endParaRPr b="1" sz="1700">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ddfe5db4a3_0_2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5" name="Google Shape;635;g3ddfe5db4a3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400"/>
              <a:buNone/>
            </a:pPr>
            <a:r>
              <a:t/>
            </a:r>
            <a:endParaRPr b="1" sz="170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ddfe5db4a3_0_2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7" name="Google Shape;647;g3ddfe5db4a3_0_2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b="1" sz="1700">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ddfe5db4a3_0_1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9" name="Google Shape;659;g3ddfe5db4a3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400"/>
              <a:buNone/>
            </a:pPr>
            <a:r>
              <a:t/>
            </a:r>
            <a:endParaRPr b="1" sz="1700">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ddfe5db4a3_0_26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g3ddfe5db4a3_0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400"/>
              <a:buNone/>
            </a:pPr>
            <a:r>
              <a:t/>
            </a:r>
            <a:endParaRPr b="1" sz="1700">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bbe246bff7_0_3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4" name="Google Shape;684;g3bbe246bff7_0_3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bbe246bff7_0_7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2" name="Google Shape;702;g3bbe246bff7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bbe246bff7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4" name="Google Shape;724;g3bbe246bff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7" name="Google Shape;73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8330b8285a_0_7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0" name="Google Shape;750;g38330b8285a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8330b8285a_0_9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2" name="Google Shape;762;g38330b8285a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8330b8285a_0_1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7" name="Google Shape;777;g38330b8285a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8330b8285a_0_1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1" name="Google Shape;791;g38330b8285a_0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8330b8285a_0_1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4" name="Google Shape;804;g38330b8285a_0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3dd637020ec_0_2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8" name="Google Shape;818;g3dd637020ec_0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Proper </a:t>
            </a:r>
            <a:r>
              <a:rPr b="1" lang="en">
                <a:solidFill>
                  <a:schemeClr val="dk1"/>
                </a:solidFill>
              </a:rPr>
              <a:t>learning rate</a:t>
            </a:r>
            <a:r>
              <a:rPr lang="en">
                <a:solidFill>
                  <a:schemeClr val="dk1"/>
                </a:solidFill>
              </a:rPr>
              <a:t> ensures gradient descent moves efficiently.</a:t>
            </a:r>
            <a:br>
              <a:rPr lang="en">
                <a:solidFill>
                  <a:schemeClr val="dk1"/>
                </a:solidFill>
              </a:rPr>
            </a:b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Proper </a:t>
            </a:r>
            <a:r>
              <a:rPr b="1" lang="en">
                <a:solidFill>
                  <a:schemeClr val="dk1"/>
                </a:solidFill>
              </a:rPr>
              <a:t>feature scaling</a:t>
            </a:r>
            <a:r>
              <a:rPr lang="en">
                <a:solidFill>
                  <a:schemeClr val="dk1"/>
                </a:solidFill>
              </a:rPr>
              <a:t> ensures gradient steps are meaningful in all directions.</a:t>
            </a:r>
            <a:br>
              <a:rPr lang="en">
                <a:solidFill>
                  <a:schemeClr val="dk1"/>
                </a:solidFill>
              </a:rPr>
            </a:b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Together → faster, stable convergence.</a:t>
            </a:r>
            <a:endParaRPr>
              <a:solidFill>
                <a:schemeClr val="dk1"/>
              </a:solidFill>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dd637020ec_0_1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2" name="Google Shape;832;g3dd637020ec_0_1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yi​ is constant w.r.t w, so derivative = 0</a:t>
            </a:r>
            <a:br>
              <a:rPr lang="en"/>
            </a:br>
            <a:endParaRPr/>
          </a:p>
          <a:p>
            <a:pPr indent="0" lvl="0" marL="0" rtl="0" algn="l">
              <a:lnSpc>
                <a:spcPct val="100000"/>
              </a:lnSpc>
              <a:spcBef>
                <a:spcPts val="0"/>
              </a:spcBef>
              <a:spcAft>
                <a:spcPts val="0"/>
              </a:spcAft>
              <a:buClr>
                <a:schemeClr val="dk1"/>
              </a:buClr>
              <a:buSzPts val="1100"/>
              <a:buFont typeface="Arial"/>
              <a:buNone/>
            </a:pPr>
            <a:r>
              <a:rPr lang="en"/>
              <a:t>−(w⋅xi​+b) derivative w.r.t w = −xi​</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4"/>
          <p:cNvSpPr txBox="1"/>
          <p:nvPr>
            <p:ph type="ctrTitle"/>
          </p:nvPr>
        </p:nvSpPr>
        <p:spPr>
          <a:xfrm>
            <a:off x="996630" y="2003888"/>
            <a:ext cx="4523700" cy="1159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cxnSp>
        <p:nvCxnSpPr>
          <p:cNvPr id="11" name="Google Shape;11;p24"/>
          <p:cNvCxnSpPr/>
          <p:nvPr/>
        </p:nvCxnSpPr>
        <p:spPr>
          <a:xfrm>
            <a:off x="-6025" y="3676512"/>
            <a:ext cx="9162000" cy="0"/>
          </a:xfrm>
          <a:prstGeom prst="straightConnector1">
            <a:avLst/>
          </a:prstGeom>
          <a:noFill/>
          <a:ln cap="flat" cmpd="sng" w="9525">
            <a:solidFill>
              <a:srgbClr val="000000"/>
            </a:solidFill>
            <a:prstDash val="solid"/>
            <a:round/>
            <a:headEnd len="sm" w="sm" type="none"/>
            <a:tailEnd len="sm" w="sm" type="none"/>
          </a:ln>
        </p:spPr>
      </p:cxnSp>
      <p:sp>
        <p:nvSpPr>
          <p:cNvPr id="12" name="Google Shape;12;p24"/>
          <p:cNvSpPr/>
          <p:nvPr/>
        </p:nvSpPr>
        <p:spPr>
          <a:xfrm>
            <a:off x="1117950" y="3393000"/>
            <a:ext cx="567000" cy="5670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3" name="Shape 13"/>
        <p:cNvGrpSpPr/>
        <p:nvPr/>
      </p:nvGrpSpPr>
      <p:grpSpPr>
        <a:xfrm>
          <a:off x="0" y="0"/>
          <a:ext cx="0" cy="0"/>
          <a:chOff x="0" y="0"/>
          <a:chExt cx="0" cy="0"/>
        </a:xfrm>
      </p:grpSpPr>
      <p:cxnSp>
        <p:nvCxnSpPr>
          <p:cNvPr id="14" name="Google Shape;14;p25"/>
          <p:cNvCxnSpPr/>
          <p:nvPr/>
        </p:nvCxnSpPr>
        <p:spPr>
          <a:xfrm>
            <a:off x="0" y="1131725"/>
            <a:ext cx="1375800" cy="0"/>
          </a:xfrm>
          <a:prstGeom prst="straightConnector1">
            <a:avLst/>
          </a:prstGeom>
          <a:noFill/>
          <a:ln cap="flat" cmpd="sng" w="9525">
            <a:solidFill>
              <a:srgbClr val="CCCCCC"/>
            </a:solidFill>
            <a:prstDash val="solid"/>
            <a:round/>
            <a:headEnd len="sm" w="sm" type="none"/>
            <a:tailEnd len="sm" w="sm" type="none"/>
          </a:ln>
        </p:spPr>
      </p:cxnSp>
      <p:sp>
        <p:nvSpPr>
          <p:cNvPr id="15" name="Google Shape;15;p25"/>
          <p:cNvSpPr/>
          <p:nvPr/>
        </p:nvSpPr>
        <p:spPr>
          <a:xfrm>
            <a:off x="817475" y="928767"/>
            <a:ext cx="405900" cy="4059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5"/>
          <p:cNvSpPr txBox="1"/>
          <p:nvPr>
            <p:ph type="title"/>
          </p:nvPr>
        </p:nvSpPr>
        <p:spPr>
          <a:xfrm>
            <a:off x="1381250" y="896112"/>
            <a:ext cx="3878400" cy="435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Font typeface="Lora"/>
              <a:buNone/>
              <a:defRPr b="1" sz="2000">
                <a:latin typeface="Lora"/>
                <a:ea typeface="Lora"/>
                <a:cs typeface="Lora"/>
                <a:sym typeface="Lora"/>
              </a:defRPr>
            </a:lvl1pPr>
            <a:lvl2pPr lvl="1" algn="l">
              <a:lnSpc>
                <a:spcPct val="100000"/>
              </a:lnSpc>
              <a:spcBef>
                <a:spcPts val="0"/>
              </a:spcBef>
              <a:spcAft>
                <a:spcPts val="0"/>
              </a:spcAft>
              <a:buSzPts val="2000"/>
              <a:buFont typeface="Lora"/>
              <a:buNone/>
              <a:defRPr b="1" sz="2000">
                <a:highlight>
                  <a:srgbClr val="FFFFFF"/>
                </a:highlight>
                <a:latin typeface="Lora"/>
                <a:ea typeface="Lora"/>
                <a:cs typeface="Lora"/>
                <a:sym typeface="Lora"/>
              </a:defRPr>
            </a:lvl2pPr>
            <a:lvl3pPr lvl="2" algn="l">
              <a:lnSpc>
                <a:spcPct val="100000"/>
              </a:lnSpc>
              <a:spcBef>
                <a:spcPts val="0"/>
              </a:spcBef>
              <a:spcAft>
                <a:spcPts val="0"/>
              </a:spcAft>
              <a:buSzPts val="2000"/>
              <a:buFont typeface="Lora"/>
              <a:buNone/>
              <a:defRPr b="1" sz="2000">
                <a:highlight>
                  <a:srgbClr val="FFFFFF"/>
                </a:highlight>
                <a:latin typeface="Lora"/>
                <a:ea typeface="Lora"/>
                <a:cs typeface="Lora"/>
                <a:sym typeface="Lora"/>
              </a:defRPr>
            </a:lvl3pPr>
            <a:lvl4pPr lvl="3" algn="l">
              <a:lnSpc>
                <a:spcPct val="100000"/>
              </a:lnSpc>
              <a:spcBef>
                <a:spcPts val="0"/>
              </a:spcBef>
              <a:spcAft>
                <a:spcPts val="0"/>
              </a:spcAft>
              <a:buSzPts val="2000"/>
              <a:buFont typeface="Lora"/>
              <a:buNone/>
              <a:defRPr b="1" sz="2000">
                <a:highlight>
                  <a:srgbClr val="FFFFFF"/>
                </a:highlight>
                <a:latin typeface="Lora"/>
                <a:ea typeface="Lora"/>
                <a:cs typeface="Lora"/>
                <a:sym typeface="Lora"/>
              </a:defRPr>
            </a:lvl4pPr>
            <a:lvl5pPr lvl="4" algn="l">
              <a:lnSpc>
                <a:spcPct val="100000"/>
              </a:lnSpc>
              <a:spcBef>
                <a:spcPts val="0"/>
              </a:spcBef>
              <a:spcAft>
                <a:spcPts val="0"/>
              </a:spcAft>
              <a:buSzPts val="2000"/>
              <a:buFont typeface="Lora"/>
              <a:buNone/>
              <a:defRPr b="1" sz="2000">
                <a:highlight>
                  <a:srgbClr val="FFFFFF"/>
                </a:highlight>
                <a:latin typeface="Lora"/>
                <a:ea typeface="Lora"/>
                <a:cs typeface="Lora"/>
                <a:sym typeface="Lora"/>
              </a:defRPr>
            </a:lvl5pPr>
            <a:lvl6pPr lvl="5" algn="l">
              <a:lnSpc>
                <a:spcPct val="100000"/>
              </a:lnSpc>
              <a:spcBef>
                <a:spcPts val="0"/>
              </a:spcBef>
              <a:spcAft>
                <a:spcPts val="0"/>
              </a:spcAft>
              <a:buSzPts val="2000"/>
              <a:buFont typeface="Lora"/>
              <a:buNone/>
              <a:defRPr b="1" sz="2000">
                <a:highlight>
                  <a:srgbClr val="FFFFFF"/>
                </a:highlight>
                <a:latin typeface="Lora"/>
                <a:ea typeface="Lora"/>
                <a:cs typeface="Lora"/>
                <a:sym typeface="Lora"/>
              </a:defRPr>
            </a:lvl6pPr>
            <a:lvl7pPr lvl="6" algn="l">
              <a:lnSpc>
                <a:spcPct val="100000"/>
              </a:lnSpc>
              <a:spcBef>
                <a:spcPts val="0"/>
              </a:spcBef>
              <a:spcAft>
                <a:spcPts val="0"/>
              </a:spcAft>
              <a:buSzPts val="2000"/>
              <a:buFont typeface="Lora"/>
              <a:buNone/>
              <a:defRPr b="1" sz="2000">
                <a:highlight>
                  <a:srgbClr val="FFFFFF"/>
                </a:highlight>
                <a:latin typeface="Lora"/>
                <a:ea typeface="Lora"/>
                <a:cs typeface="Lora"/>
                <a:sym typeface="Lora"/>
              </a:defRPr>
            </a:lvl7pPr>
            <a:lvl8pPr lvl="7" algn="l">
              <a:lnSpc>
                <a:spcPct val="100000"/>
              </a:lnSpc>
              <a:spcBef>
                <a:spcPts val="0"/>
              </a:spcBef>
              <a:spcAft>
                <a:spcPts val="0"/>
              </a:spcAft>
              <a:buSzPts val="2000"/>
              <a:buFont typeface="Lora"/>
              <a:buNone/>
              <a:defRPr b="1" sz="2000">
                <a:highlight>
                  <a:srgbClr val="FFFFFF"/>
                </a:highlight>
                <a:latin typeface="Lora"/>
                <a:ea typeface="Lora"/>
                <a:cs typeface="Lora"/>
                <a:sym typeface="Lora"/>
              </a:defRPr>
            </a:lvl8pPr>
            <a:lvl9pPr lvl="8" algn="l">
              <a:lnSpc>
                <a:spcPct val="100000"/>
              </a:lnSpc>
              <a:spcBef>
                <a:spcPts val="0"/>
              </a:spcBef>
              <a:spcAft>
                <a:spcPts val="0"/>
              </a:spcAft>
              <a:buSzPts val="2000"/>
              <a:buFont typeface="Lora"/>
              <a:buNone/>
              <a:defRPr b="1" sz="2000">
                <a:highlight>
                  <a:srgbClr val="FFFFFF"/>
                </a:highlight>
                <a:latin typeface="Lora"/>
                <a:ea typeface="Lora"/>
                <a:cs typeface="Lora"/>
                <a:sym typeface="Lora"/>
              </a:defRPr>
            </a:lvl9pPr>
          </a:lstStyle>
          <a:p/>
        </p:txBody>
      </p:sp>
      <p:sp>
        <p:nvSpPr>
          <p:cNvPr id="17" name="Google Shape;17;p25"/>
          <p:cNvSpPr txBox="1"/>
          <p:nvPr>
            <p:ph idx="1" type="body"/>
          </p:nvPr>
        </p:nvSpPr>
        <p:spPr>
          <a:xfrm>
            <a:off x="1381250" y="1616470"/>
            <a:ext cx="6809700" cy="31122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600"/>
              </a:spcBef>
              <a:spcAft>
                <a:spcPts val="0"/>
              </a:spcAft>
              <a:buClr>
                <a:srgbClr val="FFCD00"/>
              </a:buClr>
              <a:buSzPts val="2400"/>
              <a:buFont typeface="Quattrocento Sans"/>
              <a:buChar char="◉"/>
              <a:defRPr sz="2400">
                <a:latin typeface="Quattrocento Sans"/>
                <a:ea typeface="Quattrocento Sans"/>
                <a:cs typeface="Quattrocento Sans"/>
                <a:sym typeface="Quattrocento Sans"/>
              </a:defRPr>
            </a:lvl1pPr>
            <a:lvl2pPr indent="-355600" lvl="1" marL="914400" algn="l">
              <a:lnSpc>
                <a:spcPct val="100000"/>
              </a:lnSpc>
              <a:spcBef>
                <a:spcPts val="0"/>
              </a:spcBef>
              <a:spcAft>
                <a:spcPts val="0"/>
              </a:spcAft>
              <a:buClr>
                <a:srgbClr val="FFCD00"/>
              </a:buClr>
              <a:buSzPts val="2000"/>
              <a:buFont typeface="Quattrocento Sans"/>
              <a:buChar char="○"/>
              <a:defRPr sz="2000">
                <a:latin typeface="Quattrocento Sans"/>
                <a:ea typeface="Quattrocento Sans"/>
                <a:cs typeface="Quattrocento Sans"/>
                <a:sym typeface="Quattrocento Sans"/>
              </a:defRPr>
            </a:lvl2pPr>
            <a:lvl3pPr indent="-355600" lvl="2" marL="1371600" algn="l">
              <a:lnSpc>
                <a:spcPct val="100000"/>
              </a:lnSpc>
              <a:spcBef>
                <a:spcPts val="0"/>
              </a:spcBef>
              <a:spcAft>
                <a:spcPts val="0"/>
              </a:spcAft>
              <a:buClr>
                <a:srgbClr val="FFCD00"/>
              </a:buClr>
              <a:buSzPts val="2000"/>
              <a:buFont typeface="Quattrocento Sans"/>
              <a:buChar char="■"/>
              <a:defRPr sz="2000">
                <a:latin typeface="Quattrocento Sans"/>
                <a:ea typeface="Quattrocento Sans"/>
                <a:cs typeface="Quattrocento Sans"/>
                <a:sym typeface="Quattrocento Sans"/>
              </a:defRPr>
            </a:lvl3pPr>
            <a:lvl4pPr indent="-342900" lvl="3" marL="1828800" algn="l">
              <a:lnSpc>
                <a:spcPct val="100000"/>
              </a:lnSpc>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4pPr>
            <a:lvl5pPr indent="-342900" lvl="4" marL="2286000" algn="l">
              <a:lnSpc>
                <a:spcPct val="100000"/>
              </a:lnSpc>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5pPr>
            <a:lvl6pPr indent="-342900" lvl="5" marL="2743200" algn="l">
              <a:lnSpc>
                <a:spcPct val="100000"/>
              </a:lnSpc>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6pPr>
            <a:lvl7pPr indent="-342900" lvl="6" marL="3200400" algn="l">
              <a:lnSpc>
                <a:spcPct val="100000"/>
              </a:lnSpc>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7pPr>
            <a:lvl8pPr indent="-342900" lvl="7" marL="3657600" algn="l">
              <a:lnSpc>
                <a:spcPct val="100000"/>
              </a:lnSpc>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8pPr>
            <a:lvl9pPr indent="-342900" lvl="8" marL="4114800" algn="l">
              <a:lnSpc>
                <a:spcPct val="100000"/>
              </a:lnSpc>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9pPr>
          </a:lstStyle>
          <a:p/>
        </p:txBody>
      </p:sp>
      <p:cxnSp>
        <p:nvCxnSpPr>
          <p:cNvPr id="18" name="Google Shape;18;p25"/>
          <p:cNvCxnSpPr/>
          <p:nvPr/>
        </p:nvCxnSpPr>
        <p:spPr>
          <a:xfrm>
            <a:off x="5265650" y="1131725"/>
            <a:ext cx="3878400" cy="0"/>
          </a:xfrm>
          <a:prstGeom prst="straightConnector1">
            <a:avLst/>
          </a:prstGeom>
          <a:noFill/>
          <a:ln cap="flat" cmpd="sng" w="9525">
            <a:solidFill>
              <a:srgbClr val="CCCCCC"/>
            </a:solidFill>
            <a:prstDash val="solid"/>
            <a:round/>
            <a:headEnd len="sm" w="sm" type="none"/>
            <a:tailEnd len="sm" w="sm" type="none"/>
          </a:ln>
        </p:spPr>
      </p:cxnSp>
      <p:sp>
        <p:nvSpPr>
          <p:cNvPr id="19" name="Google Shape;19;p25"/>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BLANK_1">
    <p:spTree>
      <p:nvGrpSpPr>
        <p:cNvPr id="20" name="Shape 20"/>
        <p:cNvGrpSpPr/>
        <p:nvPr/>
      </p:nvGrpSpPr>
      <p:grpSpPr>
        <a:xfrm>
          <a:off x="0" y="0"/>
          <a:ext cx="0" cy="0"/>
          <a:chOff x="0" y="0"/>
          <a:chExt cx="0" cy="0"/>
        </a:xfrm>
      </p:grpSpPr>
      <p:sp>
        <p:nvSpPr>
          <p:cNvPr id="21" name="Google Shape;21;p26"/>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22" name="Shape 22"/>
        <p:cNvGrpSpPr/>
        <p:nvPr/>
      </p:nvGrpSpPr>
      <p:grpSpPr>
        <a:xfrm>
          <a:off x="0" y="0"/>
          <a:ext cx="0" cy="0"/>
          <a:chOff x="0" y="0"/>
          <a:chExt cx="0" cy="0"/>
        </a:xfrm>
      </p:grpSpPr>
      <p:sp>
        <p:nvSpPr>
          <p:cNvPr id="23" name="Google Shape;23;p27"/>
          <p:cNvSpPr txBox="1"/>
          <p:nvPr>
            <p:ph idx="1" type="subTitle"/>
          </p:nvPr>
        </p:nvSpPr>
        <p:spPr>
          <a:xfrm>
            <a:off x="2022300" y="2815923"/>
            <a:ext cx="5591400" cy="7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400"/>
              <a:buNone/>
              <a:defRPr sz="1400">
                <a:highlight>
                  <a:schemeClr val="accent1"/>
                </a:highlight>
              </a:defRPr>
            </a:lvl1pPr>
            <a:lvl2pPr lvl="1" algn="l">
              <a:lnSpc>
                <a:spcPct val="100000"/>
              </a:lnSpc>
              <a:spcBef>
                <a:spcPts val="0"/>
              </a:spcBef>
              <a:spcAft>
                <a:spcPts val="0"/>
              </a:spcAft>
              <a:buClr>
                <a:schemeClr val="dk2"/>
              </a:buClr>
              <a:buSzPts val="1400"/>
              <a:buNone/>
              <a:defRPr sz="1400">
                <a:solidFill>
                  <a:schemeClr val="dk2"/>
                </a:solidFill>
                <a:highlight>
                  <a:schemeClr val="accent1"/>
                </a:highlight>
              </a:defRPr>
            </a:lvl2pPr>
            <a:lvl3pPr lvl="2" algn="l">
              <a:lnSpc>
                <a:spcPct val="100000"/>
              </a:lnSpc>
              <a:spcBef>
                <a:spcPts val="0"/>
              </a:spcBef>
              <a:spcAft>
                <a:spcPts val="0"/>
              </a:spcAft>
              <a:buClr>
                <a:schemeClr val="dk2"/>
              </a:buClr>
              <a:buSzPts val="1400"/>
              <a:buNone/>
              <a:defRPr sz="1400">
                <a:solidFill>
                  <a:schemeClr val="dk2"/>
                </a:solidFill>
                <a:highlight>
                  <a:schemeClr val="accent1"/>
                </a:highlight>
              </a:defRPr>
            </a:lvl3pPr>
            <a:lvl4pPr lvl="3" algn="l">
              <a:lnSpc>
                <a:spcPct val="100000"/>
              </a:lnSpc>
              <a:spcBef>
                <a:spcPts val="0"/>
              </a:spcBef>
              <a:spcAft>
                <a:spcPts val="0"/>
              </a:spcAft>
              <a:buClr>
                <a:schemeClr val="dk2"/>
              </a:buClr>
              <a:buSzPts val="1400"/>
              <a:buNone/>
              <a:defRPr sz="1400">
                <a:solidFill>
                  <a:schemeClr val="dk2"/>
                </a:solidFill>
                <a:highlight>
                  <a:schemeClr val="accent1"/>
                </a:highlight>
              </a:defRPr>
            </a:lvl4pPr>
            <a:lvl5pPr lvl="4" algn="l">
              <a:lnSpc>
                <a:spcPct val="100000"/>
              </a:lnSpc>
              <a:spcBef>
                <a:spcPts val="0"/>
              </a:spcBef>
              <a:spcAft>
                <a:spcPts val="0"/>
              </a:spcAft>
              <a:buClr>
                <a:schemeClr val="dk2"/>
              </a:buClr>
              <a:buSzPts val="1400"/>
              <a:buNone/>
              <a:defRPr sz="1400">
                <a:solidFill>
                  <a:schemeClr val="dk2"/>
                </a:solidFill>
                <a:highlight>
                  <a:schemeClr val="accent1"/>
                </a:highlight>
              </a:defRPr>
            </a:lvl5pPr>
            <a:lvl6pPr lvl="5" algn="l">
              <a:lnSpc>
                <a:spcPct val="100000"/>
              </a:lnSpc>
              <a:spcBef>
                <a:spcPts val="0"/>
              </a:spcBef>
              <a:spcAft>
                <a:spcPts val="0"/>
              </a:spcAft>
              <a:buClr>
                <a:schemeClr val="dk2"/>
              </a:buClr>
              <a:buSzPts val="1400"/>
              <a:buNone/>
              <a:defRPr sz="1400">
                <a:solidFill>
                  <a:schemeClr val="dk2"/>
                </a:solidFill>
                <a:highlight>
                  <a:schemeClr val="accent1"/>
                </a:highlight>
              </a:defRPr>
            </a:lvl6pPr>
            <a:lvl7pPr lvl="6" algn="l">
              <a:lnSpc>
                <a:spcPct val="100000"/>
              </a:lnSpc>
              <a:spcBef>
                <a:spcPts val="0"/>
              </a:spcBef>
              <a:spcAft>
                <a:spcPts val="0"/>
              </a:spcAft>
              <a:buClr>
                <a:schemeClr val="dk2"/>
              </a:buClr>
              <a:buSzPts val="1400"/>
              <a:buNone/>
              <a:defRPr sz="1400">
                <a:solidFill>
                  <a:schemeClr val="dk2"/>
                </a:solidFill>
                <a:highlight>
                  <a:schemeClr val="accent1"/>
                </a:highlight>
              </a:defRPr>
            </a:lvl7pPr>
            <a:lvl8pPr lvl="7" algn="l">
              <a:lnSpc>
                <a:spcPct val="100000"/>
              </a:lnSpc>
              <a:spcBef>
                <a:spcPts val="0"/>
              </a:spcBef>
              <a:spcAft>
                <a:spcPts val="0"/>
              </a:spcAft>
              <a:buClr>
                <a:schemeClr val="dk2"/>
              </a:buClr>
              <a:buSzPts val="1400"/>
              <a:buNone/>
              <a:defRPr sz="1400">
                <a:solidFill>
                  <a:schemeClr val="dk2"/>
                </a:solidFill>
                <a:highlight>
                  <a:schemeClr val="accent1"/>
                </a:highlight>
              </a:defRPr>
            </a:lvl8pPr>
            <a:lvl9pPr lvl="8" algn="l">
              <a:lnSpc>
                <a:spcPct val="100000"/>
              </a:lnSpc>
              <a:spcBef>
                <a:spcPts val="0"/>
              </a:spcBef>
              <a:spcAft>
                <a:spcPts val="0"/>
              </a:spcAft>
              <a:buClr>
                <a:schemeClr val="dk2"/>
              </a:buClr>
              <a:buSzPts val="1400"/>
              <a:buNone/>
              <a:defRPr sz="1400">
                <a:solidFill>
                  <a:schemeClr val="dk2"/>
                </a:solidFill>
                <a:highlight>
                  <a:schemeClr val="accent1"/>
                </a:highlight>
              </a:defRPr>
            </a:lvl9pPr>
          </a:lstStyle>
          <a:p/>
        </p:txBody>
      </p:sp>
      <p:cxnSp>
        <p:nvCxnSpPr>
          <p:cNvPr id="24" name="Google Shape;24;p27"/>
          <p:cNvCxnSpPr/>
          <p:nvPr/>
        </p:nvCxnSpPr>
        <p:spPr>
          <a:xfrm>
            <a:off x="-6025" y="2571762"/>
            <a:ext cx="1984500" cy="0"/>
          </a:xfrm>
          <a:prstGeom prst="straightConnector1">
            <a:avLst/>
          </a:prstGeom>
          <a:noFill/>
          <a:ln cap="flat" cmpd="sng" w="9525">
            <a:solidFill>
              <a:srgbClr val="CCCCCC"/>
            </a:solidFill>
            <a:prstDash val="solid"/>
            <a:round/>
            <a:headEnd len="sm" w="sm" type="none"/>
            <a:tailEnd len="sm" w="sm" type="none"/>
          </a:ln>
        </p:spPr>
      </p:cxnSp>
      <p:sp>
        <p:nvSpPr>
          <p:cNvPr id="25" name="Google Shape;25;p27"/>
          <p:cNvSpPr/>
          <p:nvPr/>
        </p:nvSpPr>
        <p:spPr>
          <a:xfrm>
            <a:off x="1117950" y="2288250"/>
            <a:ext cx="567000" cy="5670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7"/>
          <p:cNvSpPr txBox="1"/>
          <p:nvPr>
            <p:ph type="ctrTitle"/>
          </p:nvPr>
        </p:nvSpPr>
        <p:spPr>
          <a:xfrm>
            <a:off x="2022225" y="1693523"/>
            <a:ext cx="3787800" cy="1159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cxnSp>
        <p:nvCxnSpPr>
          <p:cNvPr id="27" name="Google Shape;27;p27"/>
          <p:cNvCxnSpPr/>
          <p:nvPr/>
        </p:nvCxnSpPr>
        <p:spPr>
          <a:xfrm>
            <a:off x="5898975" y="2571750"/>
            <a:ext cx="3251100" cy="0"/>
          </a:xfrm>
          <a:prstGeom prst="straightConnector1">
            <a:avLst/>
          </a:prstGeom>
          <a:noFill/>
          <a:ln cap="flat" cmpd="sng" w="9525">
            <a:solidFill>
              <a:srgbClr val="CCCCCC"/>
            </a:solidFill>
            <a:prstDash val="solid"/>
            <a:round/>
            <a:headEnd len="sm" w="sm" type="none"/>
            <a:tailEnd len="sm" w="sm" type="none"/>
          </a:ln>
        </p:spPr>
      </p:cxnSp>
      <p:sp>
        <p:nvSpPr>
          <p:cNvPr id="28" name="Google Shape;28;p27"/>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29" name="Shape 29"/>
        <p:cNvGrpSpPr/>
        <p:nvPr/>
      </p:nvGrpSpPr>
      <p:grpSpPr>
        <a:xfrm>
          <a:off x="0" y="0"/>
          <a:ext cx="0" cy="0"/>
          <a:chOff x="0" y="0"/>
          <a:chExt cx="0" cy="0"/>
        </a:xfrm>
      </p:grpSpPr>
      <p:sp>
        <p:nvSpPr>
          <p:cNvPr id="30" name="Google Shape;30;p28"/>
          <p:cNvSpPr txBox="1"/>
          <p:nvPr>
            <p:ph idx="1" type="body"/>
          </p:nvPr>
        </p:nvSpPr>
        <p:spPr>
          <a:xfrm>
            <a:off x="2105050" y="2238000"/>
            <a:ext cx="4933800" cy="819900"/>
          </a:xfrm>
          <a:prstGeom prst="rect">
            <a:avLst/>
          </a:prstGeom>
          <a:noFill/>
          <a:ln>
            <a:noFill/>
          </a:ln>
        </p:spPr>
        <p:txBody>
          <a:bodyPr anchorCtr="0" anchor="b" bIns="91425" lIns="91425" spcFirstLastPara="1" rIns="91425" wrap="square" tIns="91425">
            <a:noAutofit/>
          </a:bodyPr>
          <a:lstStyle>
            <a:lvl1pPr indent="-381000" lvl="0" marL="457200" algn="ctr">
              <a:lnSpc>
                <a:spcPct val="100000"/>
              </a:lnSpc>
              <a:spcBef>
                <a:spcPts val="600"/>
              </a:spcBef>
              <a:spcAft>
                <a:spcPts val="0"/>
              </a:spcAft>
              <a:buSzPts val="2400"/>
              <a:buFont typeface="Lora"/>
              <a:buChar char="◉"/>
              <a:defRPr i="1" sz="2400">
                <a:latin typeface="Lora"/>
                <a:ea typeface="Lora"/>
                <a:cs typeface="Lora"/>
                <a:sym typeface="Lora"/>
              </a:defRPr>
            </a:lvl1pPr>
            <a:lvl2pPr indent="-355600" lvl="1" marL="914400" algn="ctr">
              <a:lnSpc>
                <a:spcPct val="100000"/>
              </a:lnSpc>
              <a:spcBef>
                <a:spcPts val="0"/>
              </a:spcBef>
              <a:spcAft>
                <a:spcPts val="0"/>
              </a:spcAft>
              <a:buSzPts val="2000"/>
              <a:buFont typeface="Lora"/>
              <a:buChar char="○"/>
              <a:defRPr i="1">
                <a:latin typeface="Lora"/>
                <a:ea typeface="Lora"/>
                <a:cs typeface="Lora"/>
                <a:sym typeface="Lora"/>
              </a:defRPr>
            </a:lvl2pPr>
            <a:lvl3pPr indent="-355600" lvl="2" marL="1371600" algn="ctr">
              <a:lnSpc>
                <a:spcPct val="100000"/>
              </a:lnSpc>
              <a:spcBef>
                <a:spcPts val="0"/>
              </a:spcBef>
              <a:spcAft>
                <a:spcPts val="0"/>
              </a:spcAft>
              <a:buSzPts val="2000"/>
              <a:buFont typeface="Lora"/>
              <a:buChar char="■"/>
              <a:defRPr i="1">
                <a:latin typeface="Lora"/>
                <a:ea typeface="Lora"/>
                <a:cs typeface="Lora"/>
                <a:sym typeface="Lora"/>
              </a:defRPr>
            </a:lvl3pPr>
            <a:lvl4pPr indent="-381000" lvl="3" marL="1828800" algn="ctr">
              <a:lnSpc>
                <a:spcPct val="100000"/>
              </a:lnSpc>
              <a:spcBef>
                <a:spcPts val="0"/>
              </a:spcBef>
              <a:spcAft>
                <a:spcPts val="0"/>
              </a:spcAft>
              <a:buSzPts val="2400"/>
              <a:buFont typeface="Lora"/>
              <a:buChar char="●"/>
              <a:defRPr i="1" sz="2400">
                <a:latin typeface="Lora"/>
                <a:ea typeface="Lora"/>
                <a:cs typeface="Lora"/>
                <a:sym typeface="Lora"/>
              </a:defRPr>
            </a:lvl4pPr>
            <a:lvl5pPr indent="-381000" lvl="4" marL="2286000" algn="ctr">
              <a:lnSpc>
                <a:spcPct val="100000"/>
              </a:lnSpc>
              <a:spcBef>
                <a:spcPts val="0"/>
              </a:spcBef>
              <a:spcAft>
                <a:spcPts val="0"/>
              </a:spcAft>
              <a:buSzPts val="2400"/>
              <a:buFont typeface="Lora"/>
              <a:buChar char="○"/>
              <a:defRPr i="1" sz="2400">
                <a:latin typeface="Lora"/>
                <a:ea typeface="Lora"/>
                <a:cs typeface="Lora"/>
                <a:sym typeface="Lora"/>
              </a:defRPr>
            </a:lvl5pPr>
            <a:lvl6pPr indent="-381000" lvl="5" marL="2743200" algn="ctr">
              <a:lnSpc>
                <a:spcPct val="100000"/>
              </a:lnSpc>
              <a:spcBef>
                <a:spcPts val="0"/>
              </a:spcBef>
              <a:spcAft>
                <a:spcPts val="0"/>
              </a:spcAft>
              <a:buSzPts val="2400"/>
              <a:buFont typeface="Lora"/>
              <a:buChar char="■"/>
              <a:defRPr i="1" sz="2400">
                <a:latin typeface="Lora"/>
                <a:ea typeface="Lora"/>
                <a:cs typeface="Lora"/>
                <a:sym typeface="Lora"/>
              </a:defRPr>
            </a:lvl6pPr>
            <a:lvl7pPr indent="-381000" lvl="6" marL="3200400" algn="ctr">
              <a:lnSpc>
                <a:spcPct val="100000"/>
              </a:lnSpc>
              <a:spcBef>
                <a:spcPts val="0"/>
              </a:spcBef>
              <a:spcAft>
                <a:spcPts val="0"/>
              </a:spcAft>
              <a:buSzPts val="2400"/>
              <a:buFont typeface="Lora"/>
              <a:buChar char="●"/>
              <a:defRPr i="1" sz="2400">
                <a:latin typeface="Lora"/>
                <a:ea typeface="Lora"/>
                <a:cs typeface="Lora"/>
                <a:sym typeface="Lora"/>
              </a:defRPr>
            </a:lvl7pPr>
            <a:lvl8pPr indent="-381000" lvl="7" marL="3657600" algn="ctr">
              <a:lnSpc>
                <a:spcPct val="100000"/>
              </a:lnSpc>
              <a:spcBef>
                <a:spcPts val="0"/>
              </a:spcBef>
              <a:spcAft>
                <a:spcPts val="0"/>
              </a:spcAft>
              <a:buSzPts val="2400"/>
              <a:buFont typeface="Lora"/>
              <a:buChar char="○"/>
              <a:defRPr i="1" sz="2400">
                <a:latin typeface="Lora"/>
                <a:ea typeface="Lora"/>
                <a:cs typeface="Lora"/>
                <a:sym typeface="Lora"/>
              </a:defRPr>
            </a:lvl8pPr>
            <a:lvl9pPr indent="-381000" lvl="8" marL="4114800" algn="ctr">
              <a:lnSpc>
                <a:spcPct val="100000"/>
              </a:lnSpc>
              <a:spcBef>
                <a:spcPts val="0"/>
              </a:spcBef>
              <a:spcAft>
                <a:spcPts val="0"/>
              </a:spcAft>
              <a:buSzPts val="2400"/>
              <a:buFont typeface="Lora"/>
              <a:buChar char="■"/>
              <a:defRPr i="1" sz="2400">
                <a:latin typeface="Lora"/>
                <a:ea typeface="Lora"/>
                <a:cs typeface="Lora"/>
                <a:sym typeface="Lora"/>
              </a:defRPr>
            </a:lvl9pPr>
          </a:lstStyle>
          <a:p/>
        </p:txBody>
      </p:sp>
      <p:cxnSp>
        <p:nvCxnSpPr>
          <p:cNvPr id="31" name="Google Shape;31;p28"/>
          <p:cNvCxnSpPr/>
          <p:nvPr/>
        </p:nvCxnSpPr>
        <p:spPr>
          <a:xfrm>
            <a:off x="4584075" y="3676500"/>
            <a:ext cx="0" cy="1480500"/>
          </a:xfrm>
          <a:prstGeom prst="straightConnector1">
            <a:avLst/>
          </a:prstGeom>
          <a:noFill/>
          <a:ln cap="flat" cmpd="sng" w="9525">
            <a:solidFill>
              <a:srgbClr val="CCCCCC"/>
            </a:solidFill>
            <a:prstDash val="solid"/>
            <a:round/>
            <a:headEnd len="sm" w="sm" type="none"/>
            <a:tailEnd len="sm" w="sm" type="none"/>
          </a:ln>
        </p:spPr>
      </p:cxnSp>
      <p:sp>
        <p:nvSpPr>
          <p:cNvPr id="32" name="Google Shape;32;p28"/>
          <p:cNvSpPr/>
          <p:nvPr/>
        </p:nvSpPr>
        <p:spPr>
          <a:xfrm>
            <a:off x="4288500" y="3393000"/>
            <a:ext cx="567000" cy="5670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8"/>
          <p:cNvSpPr txBox="1"/>
          <p:nvPr/>
        </p:nvSpPr>
        <p:spPr>
          <a:xfrm>
            <a:off x="3593400" y="3412652"/>
            <a:ext cx="1957200" cy="65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1" i="0" lang="en" sz="3600" u="none" cap="none" strike="noStrike">
                <a:solidFill>
                  <a:srgbClr val="000000"/>
                </a:solidFill>
                <a:latin typeface="Lora"/>
                <a:ea typeface="Lora"/>
                <a:cs typeface="Lora"/>
                <a:sym typeface="Lora"/>
              </a:rPr>
              <a:t>“</a:t>
            </a:r>
            <a:endParaRPr b="1" i="0" sz="3600" u="none" cap="none" strike="noStrike">
              <a:solidFill>
                <a:srgbClr val="000000"/>
              </a:solidFill>
              <a:latin typeface="Lora"/>
              <a:ea typeface="Lora"/>
              <a:cs typeface="Lora"/>
              <a:sym typeface="Lora"/>
            </a:endParaRPr>
          </a:p>
        </p:txBody>
      </p:sp>
      <p:sp>
        <p:nvSpPr>
          <p:cNvPr id="34" name="Google Shape;34;p28"/>
          <p:cNvSpPr txBox="1"/>
          <p:nvPr>
            <p:ph idx="12" type="sldNum"/>
          </p:nvPr>
        </p:nvSpPr>
        <p:spPr>
          <a:xfrm>
            <a:off x="4297650" y="1"/>
            <a:ext cx="548700" cy="39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5" name="Shape 35"/>
        <p:cNvGrpSpPr/>
        <p:nvPr/>
      </p:nvGrpSpPr>
      <p:grpSpPr>
        <a:xfrm>
          <a:off x="0" y="0"/>
          <a:ext cx="0" cy="0"/>
          <a:chOff x="0" y="0"/>
          <a:chExt cx="0" cy="0"/>
        </a:xfrm>
      </p:grpSpPr>
      <p:sp>
        <p:nvSpPr>
          <p:cNvPr id="36" name="Google Shape;36;p29"/>
          <p:cNvSpPr txBox="1"/>
          <p:nvPr>
            <p:ph type="title"/>
          </p:nvPr>
        </p:nvSpPr>
        <p:spPr>
          <a:xfrm>
            <a:off x="1381250" y="896112"/>
            <a:ext cx="3878400" cy="435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37" name="Google Shape;37;p29"/>
          <p:cNvSpPr txBox="1"/>
          <p:nvPr>
            <p:ph idx="1" type="body"/>
          </p:nvPr>
        </p:nvSpPr>
        <p:spPr>
          <a:xfrm>
            <a:off x="1381250" y="1618700"/>
            <a:ext cx="3425400" cy="32310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a:lvl2pPr>
            <a:lvl3pPr indent="-355600" lvl="2" marL="1371600" algn="l">
              <a:lnSpc>
                <a:spcPct val="100000"/>
              </a:lnSpc>
              <a:spcBef>
                <a:spcPts val="0"/>
              </a:spcBef>
              <a:spcAft>
                <a:spcPts val="0"/>
              </a:spcAft>
              <a:buSzPts val="2000"/>
              <a:buChar char="■"/>
              <a:defRPr/>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38" name="Google Shape;38;p29"/>
          <p:cNvSpPr txBox="1"/>
          <p:nvPr>
            <p:ph idx="2" type="body"/>
          </p:nvPr>
        </p:nvSpPr>
        <p:spPr>
          <a:xfrm>
            <a:off x="5012916" y="1618700"/>
            <a:ext cx="3425400" cy="32310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a:lvl2pPr>
            <a:lvl3pPr indent="-355600" lvl="2" marL="1371600" algn="l">
              <a:lnSpc>
                <a:spcPct val="100000"/>
              </a:lnSpc>
              <a:spcBef>
                <a:spcPts val="0"/>
              </a:spcBef>
              <a:spcAft>
                <a:spcPts val="0"/>
              </a:spcAft>
              <a:buSzPts val="2000"/>
              <a:buChar char="■"/>
              <a:defRPr/>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cxnSp>
        <p:nvCxnSpPr>
          <p:cNvPr id="39" name="Google Shape;39;p29"/>
          <p:cNvCxnSpPr/>
          <p:nvPr/>
        </p:nvCxnSpPr>
        <p:spPr>
          <a:xfrm>
            <a:off x="0" y="1131725"/>
            <a:ext cx="1375800" cy="0"/>
          </a:xfrm>
          <a:prstGeom prst="straightConnector1">
            <a:avLst/>
          </a:prstGeom>
          <a:noFill/>
          <a:ln cap="flat" cmpd="sng" w="9525">
            <a:solidFill>
              <a:srgbClr val="CCCCCC"/>
            </a:solidFill>
            <a:prstDash val="solid"/>
            <a:round/>
            <a:headEnd len="sm" w="sm" type="none"/>
            <a:tailEnd len="sm" w="sm" type="none"/>
          </a:ln>
        </p:spPr>
      </p:cxnSp>
      <p:sp>
        <p:nvSpPr>
          <p:cNvPr id="40" name="Google Shape;40;p29"/>
          <p:cNvSpPr/>
          <p:nvPr/>
        </p:nvSpPr>
        <p:spPr>
          <a:xfrm>
            <a:off x="817475" y="928767"/>
            <a:ext cx="405900" cy="4059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1" name="Google Shape;41;p29"/>
          <p:cNvCxnSpPr/>
          <p:nvPr/>
        </p:nvCxnSpPr>
        <p:spPr>
          <a:xfrm>
            <a:off x="5265650" y="1131725"/>
            <a:ext cx="3878400" cy="0"/>
          </a:xfrm>
          <a:prstGeom prst="straightConnector1">
            <a:avLst/>
          </a:prstGeom>
          <a:noFill/>
          <a:ln cap="flat" cmpd="sng" w="9525">
            <a:solidFill>
              <a:srgbClr val="CCCCCC"/>
            </a:solidFill>
            <a:prstDash val="solid"/>
            <a:round/>
            <a:headEnd len="sm" w="sm" type="none"/>
            <a:tailEnd len="sm" w="sm" type="none"/>
          </a:ln>
        </p:spPr>
      </p:cxnSp>
      <p:sp>
        <p:nvSpPr>
          <p:cNvPr id="42" name="Google Shape;42;p29"/>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43" name="Shape 43"/>
        <p:cNvGrpSpPr/>
        <p:nvPr/>
      </p:nvGrpSpPr>
      <p:grpSpPr>
        <a:xfrm>
          <a:off x="0" y="0"/>
          <a:ext cx="0" cy="0"/>
          <a:chOff x="0" y="0"/>
          <a:chExt cx="0" cy="0"/>
        </a:xfrm>
      </p:grpSpPr>
      <p:sp>
        <p:nvSpPr>
          <p:cNvPr id="44" name="Google Shape;44;p30"/>
          <p:cNvSpPr txBox="1"/>
          <p:nvPr>
            <p:ph type="title"/>
          </p:nvPr>
        </p:nvSpPr>
        <p:spPr>
          <a:xfrm>
            <a:off x="1381250" y="896112"/>
            <a:ext cx="3878400" cy="435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45" name="Google Shape;45;p30"/>
          <p:cNvSpPr txBox="1"/>
          <p:nvPr>
            <p:ph idx="1" type="body"/>
          </p:nvPr>
        </p:nvSpPr>
        <p:spPr>
          <a:xfrm>
            <a:off x="1381250" y="1651075"/>
            <a:ext cx="2334000" cy="31224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46" name="Google Shape;46;p30"/>
          <p:cNvSpPr txBox="1"/>
          <p:nvPr>
            <p:ph idx="2" type="body"/>
          </p:nvPr>
        </p:nvSpPr>
        <p:spPr>
          <a:xfrm>
            <a:off x="3834912" y="1651075"/>
            <a:ext cx="2334000" cy="31224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47" name="Google Shape;47;p30"/>
          <p:cNvSpPr txBox="1"/>
          <p:nvPr>
            <p:ph idx="3" type="body"/>
          </p:nvPr>
        </p:nvSpPr>
        <p:spPr>
          <a:xfrm>
            <a:off x="6288573" y="1651075"/>
            <a:ext cx="2334000" cy="31224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cxnSp>
        <p:nvCxnSpPr>
          <p:cNvPr id="48" name="Google Shape;48;p30"/>
          <p:cNvCxnSpPr/>
          <p:nvPr/>
        </p:nvCxnSpPr>
        <p:spPr>
          <a:xfrm>
            <a:off x="0" y="1131725"/>
            <a:ext cx="1375800" cy="0"/>
          </a:xfrm>
          <a:prstGeom prst="straightConnector1">
            <a:avLst/>
          </a:prstGeom>
          <a:noFill/>
          <a:ln cap="flat" cmpd="sng" w="9525">
            <a:solidFill>
              <a:srgbClr val="CCCCCC"/>
            </a:solidFill>
            <a:prstDash val="solid"/>
            <a:round/>
            <a:headEnd len="sm" w="sm" type="none"/>
            <a:tailEnd len="sm" w="sm" type="none"/>
          </a:ln>
        </p:spPr>
      </p:cxnSp>
      <p:sp>
        <p:nvSpPr>
          <p:cNvPr id="49" name="Google Shape;49;p30"/>
          <p:cNvSpPr/>
          <p:nvPr/>
        </p:nvSpPr>
        <p:spPr>
          <a:xfrm>
            <a:off x="817475" y="928767"/>
            <a:ext cx="405900" cy="4059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0" name="Google Shape;50;p30"/>
          <p:cNvCxnSpPr/>
          <p:nvPr/>
        </p:nvCxnSpPr>
        <p:spPr>
          <a:xfrm>
            <a:off x="5265650" y="1131725"/>
            <a:ext cx="3878400" cy="0"/>
          </a:xfrm>
          <a:prstGeom prst="straightConnector1">
            <a:avLst/>
          </a:prstGeom>
          <a:noFill/>
          <a:ln cap="flat" cmpd="sng" w="9525">
            <a:solidFill>
              <a:srgbClr val="CCCCCC"/>
            </a:solidFill>
            <a:prstDash val="solid"/>
            <a:round/>
            <a:headEnd len="sm" w="sm" type="none"/>
            <a:tailEnd len="sm" w="sm" type="none"/>
          </a:ln>
        </p:spPr>
      </p:cxnSp>
      <p:sp>
        <p:nvSpPr>
          <p:cNvPr id="51" name="Google Shape;51;p30"/>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31"/>
          <p:cNvSpPr txBox="1"/>
          <p:nvPr>
            <p:ph type="title"/>
          </p:nvPr>
        </p:nvSpPr>
        <p:spPr>
          <a:xfrm>
            <a:off x="1381250" y="896112"/>
            <a:ext cx="3878400" cy="435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cxnSp>
        <p:nvCxnSpPr>
          <p:cNvPr id="54" name="Google Shape;54;p31"/>
          <p:cNvCxnSpPr/>
          <p:nvPr/>
        </p:nvCxnSpPr>
        <p:spPr>
          <a:xfrm>
            <a:off x="0" y="1131725"/>
            <a:ext cx="1375800" cy="0"/>
          </a:xfrm>
          <a:prstGeom prst="straightConnector1">
            <a:avLst/>
          </a:prstGeom>
          <a:noFill/>
          <a:ln cap="flat" cmpd="sng" w="9525">
            <a:solidFill>
              <a:srgbClr val="CCCCCC"/>
            </a:solidFill>
            <a:prstDash val="solid"/>
            <a:round/>
            <a:headEnd len="sm" w="sm" type="none"/>
            <a:tailEnd len="sm" w="sm" type="none"/>
          </a:ln>
        </p:spPr>
      </p:cxnSp>
      <p:sp>
        <p:nvSpPr>
          <p:cNvPr id="55" name="Google Shape;55;p31"/>
          <p:cNvSpPr/>
          <p:nvPr/>
        </p:nvSpPr>
        <p:spPr>
          <a:xfrm>
            <a:off x="817475" y="928767"/>
            <a:ext cx="405900" cy="4059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6" name="Google Shape;56;p31"/>
          <p:cNvCxnSpPr/>
          <p:nvPr/>
        </p:nvCxnSpPr>
        <p:spPr>
          <a:xfrm>
            <a:off x="5265650" y="1131725"/>
            <a:ext cx="3878400" cy="0"/>
          </a:xfrm>
          <a:prstGeom prst="straightConnector1">
            <a:avLst/>
          </a:prstGeom>
          <a:noFill/>
          <a:ln cap="flat" cmpd="sng" w="9525">
            <a:solidFill>
              <a:srgbClr val="CCCCCC"/>
            </a:solidFill>
            <a:prstDash val="solid"/>
            <a:round/>
            <a:headEnd len="sm" w="sm" type="none"/>
            <a:tailEnd len="sm" w="sm" type="none"/>
          </a:ln>
        </p:spPr>
      </p:cxnSp>
      <p:sp>
        <p:nvSpPr>
          <p:cNvPr id="57" name="Google Shape;57;p31"/>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 name="Shape 58"/>
        <p:cNvGrpSpPr/>
        <p:nvPr/>
      </p:nvGrpSpPr>
      <p:grpSpPr>
        <a:xfrm>
          <a:off x="0" y="0"/>
          <a:ext cx="0" cy="0"/>
          <a:chOff x="0" y="0"/>
          <a:chExt cx="0" cy="0"/>
        </a:xfrm>
      </p:grpSpPr>
      <p:sp>
        <p:nvSpPr>
          <p:cNvPr id="59" name="Google Shape;59;p32"/>
          <p:cNvSpPr txBox="1"/>
          <p:nvPr>
            <p:ph idx="1" type="body"/>
          </p:nvPr>
        </p:nvSpPr>
        <p:spPr>
          <a:xfrm>
            <a:off x="1990450" y="4037375"/>
            <a:ext cx="5163000" cy="519600"/>
          </a:xfrm>
          <a:prstGeom prst="rect">
            <a:avLst/>
          </a:prstGeom>
          <a:noFill/>
          <a:ln>
            <a:noFill/>
          </a:ln>
        </p:spPr>
        <p:txBody>
          <a:bodyPr anchorCtr="0" anchor="b" bIns="91425" lIns="91425" spcFirstLastPara="1" rIns="91425" wrap="square" tIns="91425">
            <a:noAutofit/>
          </a:bodyPr>
          <a:lstStyle>
            <a:lvl1pPr indent="-228600" lvl="0" marL="457200" algn="ctr">
              <a:lnSpc>
                <a:spcPct val="100000"/>
              </a:lnSpc>
              <a:spcBef>
                <a:spcPts val="360"/>
              </a:spcBef>
              <a:spcAft>
                <a:spcPts val="0"/>
              </a:spcAft>
              <a:buSzPts val="1400"/>
              <a:buFont typeface="Lora"/>
              <a:buNone/>
              <a:defRPr i="1" sz="1400">
                <a:latin typeface="Lora"/>
                <a:ea typeface="Lora"/>
                <a:cs typeface="Lora"/>
                <a:sym typeface="Lora"/>
              </a:defRPr>
            </a:lvl1pPr>
          </a:lstStyle>
          <a:p/>
        </p:txBody>
      </p:sp>
      <p:cxnSp>
        <p:nvCxnSpPr>
          <p:cNvPr id="60" name="Google Shape;60;p32"/>
          <p:cNvCxnSpPr/>
          <p:nvPr/>
        </p:nvCxnSpPr>
        <p:spPr>
          <a:xfrm>
            <a:off x="-6025" y="4666129"/>
            <a:ext cx="9162000" cy="0"/>
          </a:xfrm>
          <a:prstGeom prst="straightConnector1">
            <a:avLst/>
          </a:prstGeom>
          <a:noFill/>
          <a:ln cap="flat" cmpd="sng" w="9525">
            <a:solidFill>
              <a:srgbClr val="CCCCCC"/>
            </a:solidFill>
            <a:prstDash val="solid"/>
            <a:round/>
            <a:headEnd len="sm" w="sm" type="none"/>
            <a:tailEnd len="sm" w="sm" type="none"/>
          </a:ln>
        </p:spPr>
      </p:cxnSp>
      <p:sp>
        <p:nvSpPr>
          <p:cNvPr id="61" name="Google Shape;61;p32"/>
          <p:cNvSpPr/>
          <p:nvPr/>
        </p:nvSpPr>
        <p:spPr>
          <a:xfrm>
            <a:off x="4457400" y="4551496"/>
            <a:ext cx="229200" cy="2292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2"/>
          <p:cNvSpPr txBox="1"/>
          <p:nvPr>
            <p:ph idx="12" type="sldNum"/>
          </p:nvPr>
        </p:nvSpPr>
        <p:spPr>
          <a:xfrm>
            <a:off x="4297650" y="4780700"/>
            <a:ext cx="548700" cy="3627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cxnSp>
        <p:nvCxnSpPr>
          <p:cNvPr id="64" name="Google Shape;64;p33"/>
          <p:cNvCxnSpPr/>
          <p:nvPr/>
        </p:nvCxnSpPr>
        <p:spPr>
          <a:xfrm>
            <a:off x="-6025" y="4513729"/>
            <a:ext cx="9162000" cy="0"/>
          </a:xfrm>
          <a:prstGeom prst="straightConnector1">
            <a:avLst/>
          </a:prstGeom>
          <a:noFill/>
          <a:ln cap="flat" cmpd="sng" w="9525">
            <a:solidFill>
              <a:srgbClr val="CCCCCC"/>
            </a:solidFill>
            <a:prstDash val="solid"/>
            <a:round/>
            <a:headEnd len="sm" w="sm" type="none"/>
            <a:tailEnd len="sm" w="sm" type="none"/>
          </a:ln>
        </p:spPr>
      </p:cxnSp>
      <p:sp>
        <p:nvSpPr>
          <p:cNvPr id="65" name="Google Shape;65;p33"/>
          <p:cNvSpPr/>
          <p:nvPr/>
        </p:nvSpPr>
        <p:spPr>
          <a:xfrm>
            <a:off x="4293700" y="4235405"/>
            <a:ext cx="556500" cy="5565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3"/>
          <p:cNvSpPr txBox="1"/>
          <p:nvPr>
            <p:ph idx="12" type="sldNum"/>
          </p:nvPr>
        </p:nvSpPr>
        <p:spPr>
          <a:xfrm>
            <a:off x="4297650" y="4791900"/>
            <a:ext cx="548700" cy="3516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idx="1" type="body"/>
          </p:nvPr>
        </p:nvSpPr>
        <p:spPr>
          <a:xfrm>
            <a:off x="1381250" y="1616470"/>
            <a:ext cx="6809700" cy="31122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600"/>
              </a:spcBef>
              <a:spcAft>
                <a:spcPts val="0"/>
              </a:spcAft>
              <a:buClr>
                <a:schemeClr val="accent1"/>
              </a:buClr>
              <a:buSzPts val="2400"/>
              <a:buFont typeface="Quattrocento Sans"/>
              <a:buChar char="◉"/>
              <a:defRPr b="0" i="0" sz="2400" u="none" cap="none" strike="noStrike">
                <a:solidFill>
                  <a:schemeClr val="dk1"/>
                </a:solidFill>
                <a:latin typeface="Quattrocento Sans"/>
                <a:ea typeface="Quattrocento Sans"/>
                <a:cs typeface="Quattrocento Sans"/>
                <a:sym typeface="Quattrocento Sans"/>
              </a:defRPr>
            </a:lvl1pPr>
            <a:lvl2pPr indent="-355600" lvl="1" marL="914400" marR="0" rtl="0" algn="l">
              <a:lnSpc>
                <a:spcPct val="100000"/>
              </a:lnSpc>
              <a:spcBef>
                <a:spcPts val="0"/>
              </a:spcBef>
              <a:spcAft>
                <a:spcPts val="0"/>
              </a:spcAft>
              <a:buClr>
                <a:schemeClr val="accent1"/>
              </a:buClr>
              <a:buSzPts val="2000"/>
              <a:buFont typeface="Quattrocento Sans"/>
              <a:buChar char="○"/>
              <a:defRPr b="0" i="0" sz="20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100000"/>
              </a:lnSpc>
              <a:spcBef>
                <a:spcPts val="0"/>
              </a:spcBef>
              <a:spcAft>
                <a:spcPts val="0"/>
              </a:spcAft>
              <a:buClr>
                <a:schemeClr val="accent1"/>
              </a:buClr>
              <a:buSzPts val="2000"/>
              <a:buFont typeface="Quattrocento Sans"/>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100000"/>
              </a:lnSpc>
              <a:spcBef>
                <a:spcPts val="0"/>
              </a:spcBef>
              <a:spcAft>
                <a:spcPts val="0"/>
              </a:spcAft>
              <a:buClr>
                <a:schemeClr val="accent1"/>
              </a:buClr>
              <a:buSzPts val="1800"/>
              <a:buFont typeface="Quattrocento Sans"/>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100000"/>
              </a:lnSpc>
              <a:spcBef>
                <a:spcPts val="0"/>
              </a:spcBef>
              <a:spcAft>
                <a:spcPts val="0"/>
              </a:spcAft>
              <a:buClr>
                <a:schemeClr val="dk1"/>
              </a:buClr>
              <a:buSzPts val="1800"/>
              <a:buFont typeface="Quattrocento Sans"/>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100000"/>
              </a:lnSpc>
              <a:spcBef>
                <a:spcPts val="0"/>
              </a:spcBef>
              <a:spcAft>
                <a:spcPts val="0"/>
              </a:spcAft>
              <a:buClr>
                <a:schemeClr val="dk1"/>
              </a:buClr>
              <a:buSzPts val="1800"/>
              <a:buFont typeface="Quattrocento Sans"/>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100000"/>
              </a:lnSpc>
              <a:spcBef>
                <a:spcPts val="0"/>
              </a:spcBef>
              <a:spcAft>
                <a:spcPts val="0"/>
              </a:spcAft>
              <a:buClr>
                <a:schemeClr val="dk1"/>
              </a:buClr>
              <a:buSzPts val="1800"/>
              <a:buFont typeface="Quattrocento Sans"/>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100000"/>
              </a:lnSpc>
              <a:spcBef>
                <a:spcPts val="0"/>
              </a:spcBef>
              <a:spcAft>
                <a:spcPts val="0"/>
              </a:spcAft>
              <a:buClr>
                <a:schemeClr val="dk1"/>
              </a:buClr>
              <a:buSzPts val="1800"/>
              <a:buFont typeface="Quattrocento Sans"/>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100000"/>
              </a:lnSpc>
              <a:spcBef>
                <a:spcPts val="0"/>
              </a:spcBef>
              <a:spcAft>
                <a:spcPts val="0"/>
              </a:spcAft>
              <a:buClr>
                <a:schemeClr val="dk1"/>
              </a:buClr>
              <a:buSzPts val="1800"/>
              <a:buFont typeface="Quattrocento Sans"/>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7" name="Google Shape;7;p23"/>
          <p:cNvSpPr txBox="1"/>
          <p:nvPr>
            <p:ph type="title"/>
          </p:nvPr>
        </p:nvSpPr>
        <p:spPr>
          <a:xfrm>
            <a:off x="1381250" y="896549"/>
            <a:ext cx="6809700" cy="435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dk1"/>
              </a:buClr>
              <a:buSzPts val="2000"/>
              <a:buFont typeface="Lora"/>
              <a:buNone/>
              <a:defRPr b="1" i="0" sz="2000" u="none" cap="none" strike="noStrike">
                <a:solidFill>
                  <a:schemeClr val="dk1"/>
                </a:solidFill>
                <a:latin typeface="Lora"/>
                <a:ea typeface="Lora"/>
                <a:cs typeface="Lora"/>
                <a:sym typeface="Lora"/>
              </a:defRPr>
            </a:lvl1pPr>
            <a:lvl2pPr lvl="1" marR="0" rtl="0" algn="l">
              <a:lnSpc>
                <a:spcPct val="100000"/>
              </a:lnSpc>
              <a:spcBef>
                <a:spcPts val="0"/>
              </a:spcBef>
              <a:spcAft>
                <a:spcPts val="0"/>
              </a:spcAft>
              <a:buClr>
                <a:schemeClr val="dk1"/>
              </a:buClr>
              <a:buSzPts val="2000"/>
              <a:buFont typeface="Lora"/>
              <a:buNone/>
              <a:defRPr b="1" i="0" sz="2000" u="none" cap="none" strike="noStrike">
                <a:solidFill>
                  <a:schemeClr val="dk1"/>
                </a:solidFill>
                <a:latin typeface="Lora"/>
                <a:ea typeface="Lora"/>
                <a:cs typeface="Lora"/>
                <a:sym typeface="Lora"/>
              </a:defRPr>
            </a:lvl2pPr>
            <a:lvl3pPr lvl="2" marR="0" rtl="0" algn="l">
              <a:lnSpc>
                <a:spcPct val="100000"/>
              </a:lnSpc>
              <a:spcBef>
                <a:spcPts val="0"/>
              </a:spcBef>
              <a:spcAft>
                <a:spcPts val="0"/>
              </a:spcAft>
              <a:buClr>
                <a:schemeClr val="dk1"/>
              </a:buClr>
              <a:buSzPts val="2000"/>
              <a:buFont typeface="Lora"/>
              <a:buNone/>
              <a:defRPr b="1" i="0" sz="2000" u="none" cap="none" strike="noStrike">
                <a:solidFill>
                  <a:schemeClr val="dk1"/>
                </a:solidFill>
                <a:latin typeface="Lora"/>
                <a:ea typeface="Lora"/>
                <a:cs typeface="Lora"/>
                <a:sym typeface="Lora"/>
              </a:defRPr>
            </a:lvl3pPr>
            <a:lvl4pPr lvl="3" marR="0" rtl="0" algn="l">
              <a:lnSpc>
                <a:spcPct val="100000"/>
              </a:lnSpc>
              <a:spcBef>
                <a:spcPts val="0"/>
              </a:spcBef>
              <a:spcAft>
                <a:spcPts val="0"/>
              </a:spcAft>
              <a:buClr>
                <a:schemeClr val="dk1"/>
              </a:buClr>
              <a:buSzPts val="2000"/>
              <a:buFont typeface="Lora"/>
              <a:buNone/>
              <a:defRPr b="1" i="0" sz="2000" u="none" cap="none" strike="noStrike">
                <a:solidFill>
                  <a:schemeClr val="dk1"/>
                </a:solidFill>
                <a:latin typeface="Lora"/>
                <a:ea typeface="Lora"/>
                <a:cs typeface="Lora"/>
                <a:sym typeface="Lora"/>
              </a:defRPr>
            </a:lvl4pPr>
            <a:lvl5pPr lvl="4" marR="0" rtl="0" algn="l">
              <a:lnSpc>
                <a:spcPct val="100000"/>
              </a:lnSpc>
              <a:spcBef>
                <a:spcPts val="0"/>
              </a:spcBef>
              <a:spcAft>
                <a:spcPts val="0"/>
              </a:spcAft>
              <a:buClr>
                <a:schemeClr val="dk1"/>
              </a:buClr>
              <a:buSzPts val="2000"/>
              <a:buFont typeface="Lora"/>
              <a:buNone/>
              <a:defRPr b="1" i="0" sz="2000" u="none" cap="none" strike="noStrike">
                <a:solidFill>
                  <a:schemeClr val="dk1"/>
                </a:solidFill>
                <a:latin typeface="Lora"/>
                <a:ea typeface="Lora"/>
                <a:cs typeface="Lora"/>
                <a:sym typeface="Lora"/>
              </a:defRPr>
            </a:lvl5pPr>
            <a:lvl6pPr lvl="5" marR="0" rtl="0" algn="l">
              <a:lnSpc>
                <a:spcPct val="100000"/>
              </a:lnSpc>
              <a:spcBef>
                <a:spcPts val="0"/>
              </a:spcBef>
              <a:spcAft>
                <a:spcPts val="0"/>
              </a:spcAft>
              <a:buClr>
                <a:schemeClr val="dk1"/>
              </a:buClr>
              <a:buSzPts val="2000"/>
              <a:buFont typeface="Lora"/>
              <a:buNone/>
              <a:defRPr b="1" i="0" sz="2000" u="none" cap="none" strike="noStrike">
                <a:solidFill>
                  <a:schemeClr val="dk1"/>
                </a:solidFill>
                <a:latin typeface="Lora"/>
                <a:ea typeface="Lora"/>
                <a:cs typeface="Lora"/>
                <a:sym typeface="Lora"/>
              </a:defRPr>
            </a:lvl6pPr>
            <a:lvl7pPr lvl="6" marR="0" rtl="0" algn="l">
              <a:lnSpc>
                <a:spcPct val="100000"/>
              </a:lnSpc>
              <a:spcBef>
                <a:spcPts val="0"/>
              </a:spcBef>
              <a:spcAft>
                <a:spcPts val="0"/>
              </a:spcAft>
              <a:buClr>
                <a:schemeClr val="dk1"/>
              </a:buClr>
              <a:buSzPts val="2000"/>
              <a:buFont typeface="Lora"/>
              <a:buNone/>
              <a:defRPr b="1" i="0" sz="2000" u="none" cap="none" strike="noStrike">
                <a:solidFill>
                  <a:schemeClr val="dk1"/>
                </a:solidFill>
                <a:latin typeface="Lora"/>
                <a:ea typeface="Lora"/>
                <a:cs typeface="Lora"/>
                <a:sym typeface="Lora"/>
              </a:defRPr>
            </a:lvl7pPr>
            <a:lvl8pPr lvl="7" marR="0" rtl="0" algn="l">
              <a:lnSpc>
                <a:spcPct val="100000"/>
              </a:lnSpc>
              <a:spcBef>
                <a:spcPts val="0"/>
              </a:spcBef>
              <a:spcAft>
                <a:spcPts val="0"/>
              </a:spcAft>
              <a:buClr>
                <a:schemeClr val="dk1"/>
              </a:buClr>
              <a:buSzPts val="2000"/>
              <a:buFont typeface="Lora"/>
              <a:buNone/>
              <a:defRPr b="1" i="0" sz="2000" u="none" cap="none" strike="noStrike">
                <a:solidFill>
                  <a:schemeClr val="dk1"/>
                </a:solidFill>
                <a:latin typeface="Lora"/>
                <a:ea typeface="Lora"/>
                <a:cs typeface="Lora"/>
                <a:sym typeface="Lora"/>
              </a:defRPr>
            </a:lvl8pPr>
            <a:lvl9pPr lvl="8" marR="0" rtl="0" algn="l">
              <a:lnSpc>
                <a:spcPct val="100000"/>
              </a:lnSpc>
              <a:spcBef>
                <a:spcPts val="0"/>
              </a:spcBef>
              <a:spcAft>
                <a:spcPts val="0"/>
              </a:spcAft>
              <a:buClr>
                <a:schemeClr val="dk1"/>
              </a:buClr>
              <a:buSzPts val="2000"/>
              <a:buFont typeface="Lora"/>
              <a:buNone/>
              <a:defRPr b="1" i="0" sz="2000" u="none" cap="none" strike="noStrike">
                <a:solidFill>
                  <a:schemeClr val="dk1"/>
                </a:solidFill>
                <a:latin typeface="Lora"/>
                <a:ea typeface="Lora"/>
                <a:cs typeface="Lora"/>
                <a:sym typeface="Lora"/>
              </a:defRPr>
            </a:lvl9pPr>
          </a:lstStyle>
          <a:p/>
        </p:txBody>
      </p:sp>
      <p:sp>
        <p:nvSpPr>
          <p:cNvPr id="8" name="Google Shape;8;p23"/>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8.png"/><Relationship Id="rId10" Type="http://schemas.openxmlformats.org/officeDocument/2006/relationships/image" Target="../media/image7.png"/><Relationship Id="rId9"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16.png"/><Relationship Id="rId7" Type="http://schemas.openxmlformats.org/officeDocument/2006/relationships/image" Target="../media/image10.png"/><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jpg"/><Relationship Id="rId4" Type="http://schemas.openxmlformats.org/officeDocument/2006/relationships/image" Target="../media/image12.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en.wikipedia.org/wiki/Activation_function" TargetMode="Externa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30.png"/><Relationship Id="rId5"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0.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5.png"/><Relationship Id="rId4" Type="http://schemas.openxmlformats.org/officeDocument/2006/relationships/image" Target="../media/image49.png"/><Relationship Id="rId5" Type="http://schemas.openxmlformats.org/officeDocument/2006/relationships/image" Target="../media/image46.png"/><Relationship Id="rId6" Type="http://schemas.openxmlformats.org/officeDocument/2006/relationships/image" Target="../media/image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5.png"/><Relationship Id="rId4" Type="http://schemas.openxmlformats.org/officeDocument/2006/relationships/image" Target="../media/image33.png"/><Relationship Id="rId5"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6.png"/><Relationship Id="rId4" Type="http://schemas.openxmlformats.org/officeDocument/2006/relationships/hyperlink" Target="https://www.geeksforgeeks.org/machine-learning/backpropagation-in-neural-network/"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hyperlink" Target="https://www.youtube.com/watch?v=alrIxT_ozKA&amp;list=PLXXrgAODNIazzgSIOuUSlwPkTg4jiyyWi&amp;index=2" TargetMode="External"/><Relationship Id="rId4" Type="http://schemas.openxmlformats.org/officeDocument/2006/relationships/hyperlink" Target="https://www.youtube.com/watch?v=KHbwOetbmbs&amp;list=PLzdnOPI1iJNeehd1RXhnVMBFi1WhWLx_Y&amp;index=2"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4.png"/><Relationship Id="rId4" Type="http://schemas.openxmlformats.org/officeDocument/2006/relationships/image" Target="../media/image44.png"/><Relationship Id="rId5" Type="http://schemas.openxmlformats.org/officeDocument/2006/relationships/image" Target="../media/image5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1.png"/><Relationship Id="rId4" Type="http://schemas.openxmlformats.org/officeDocument/2006/relationships/image" Target="../media/image6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2.png"/><Relationship Id="rId4" Type="http://schemas.openxmlformats.org/officeDocument/2006/relationships/image" Target="../media/image6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63.png"/><Relationship Id="rId4" Type="http://schemas.openxmlformats.org/officeDocument/2006/relationships/image" Target="../media/image7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65.png"/><Relationship Id="rId4" Type="http://schemas.openxmlformats.org/officeDocument/2006/relationships/image" Target="../media/image70.png"/><Relationship Id="rId5" Type="http://schemas.openxmlformats.org/officeDocument/2006/relationships/image" Target="../media/image69.png"/><Relationship Id="rId6" Type="http://schemas.openxmlformats.org/officeDocument/2006/relationships/image" Target="../media/image64.png"/><Relationship Id="rId7" Type="http://schemas.openxmlformats.org/officeDocument/2006/relationships/image" Target="../media/image68.png"/><Relationship Id="rId8"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
          <p:cNvSpPr txBox="1"/>
          <p:nvPr>
            <p:ph type="ctrTitle"/>
          </p:nvPr>
        </p:nvSpPr>
        <p:spPr>
          <a:xfrm>
            <a:off x="1638275" y="2341401"/>
            <a:ext cx="5845500" cy="1159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t>Giving Computers the Ability to Learn from Data</a:t>
            </a:r>
            <a:endParaRPr sz="3000"/>
          </a:p>
        </p:txBody>
      </p:sp>
      <p:grpSp>
        <p:nvGrpSpPr>
          <p:cNvPr id="72" name="Google Shape;72;p1"/>
          <p:cNvGrpSpPr/>
          <p:nvPr/>
        </p:nvGrpSpPr>
        <p:grpSpPr>
          <a:xfrm>
            <a:off x="1299165" y="3511424"/>
            <a:ext cx="215966" cy="342399"/>
            <a:chOff x="6718575" y="2318625"/>
            <a:chExt cx="256950" cy="407375"/>
          </a:xfrm>
        </p:grpSpPr>
        <p:sp>
          <p:nvSpPr>
            <p:cNvPr id="73" name="Google Shape;73;p1"/>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
            <p:cNvSpPr/>
            <p:nvPr/>
          </p:nvSpPr>
          <p:spPr>
            <a:xfrm>
              <a:off x="6795900" y="2628550"/>
              <a:ext cx="102300" cy="25"/>
            </a:xfrm>
            <a:custGeom>
              <a:rect b="b" l="l" r="r" t="t"/>
              <a:pathLst>
                <a:path extrusionOk="0" fill="none" h="1" w="4092">
                  <a:moveTo>
                    <a:pt x="0" y="1"/>
                  </a:moveTo>
                  <a:lnTo>
                    <a:pt x="4092" y="1"/>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1" name="Google Shape;81;p1"/>
          <p:cNvSpPr txBox="1"/>
          <p:nvPr>
            <p:ph idx="4294967295" type="subTitle"/>
          </p:nvPr>
        </p:nvSpPr>
        <p:spPr>
          <a:xfrm>
            <a:off x="3285275" y="3924975"/>
            <a:ext cx="2543400" cy="77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600"/>
              </a:spcBef>
              <a:spcAft>
                <a:spcPts val="0"/>
              </a:spcAft>
              <a:buClr>
                <a:schemeClr val="accent1"/>
              </a:buClr>
              <a:buSzPts val="2400"/>
              <a:buFont typeface="Quattrocento Sans"/>
              <a:buNone/>
            </a:pPr>
            <a:r>
              <a:rPr b="1" i="0" lang="en" sz="2100" u="none" cap="none" strike="noStrike">
                <a:solidFill>
                  <a:schemeClr val="accent2"/>
                </a:solidFill>
                <a:highlight>
                  <a:schemeClr val="lt1"/>
                </a:highlight>
                <a:latin typeface="Quattrocento Sans"/>
                <a:ea typeface="Quattrocento Sans"/>
                <a:cs typeface="Quattrocento Sans"/>
                <a:sym typeface="Quattrocento Sans"/>
              </a:rPr>
              <a:t>Concept &amp; Pathway</a:t>
            </a:r>
            <a:endParaRPr b="1" i="0" sz="2100" u="none" cap="none" strike="noStrike">
              <a:solidFill>
                <a:schemeClr val="accent2"/>
              </a:solidFill>
              <a:highlight>
                <a:schemeClr val="lt1"/>
              </a:highlight>
              <a:latin typeface="Quattrocento Sans"/>
              <a:ea typeface="Quattrocento Sans"/>
              <a:cs typeface="Quattrocento Sans"/>
              <a:sym typeface="Quattrocento Sans"/>
            </a:endParaRPr>
          </a:p>
        </p:txBody>
      </p:sp>
      <p:pic>
        <p:nvPicPr>
          <p:cNvPr id="82" name="Google Shape;82;p1"/>
          <p:cNvPicPr preferRelativeResize="0"/>
          <p:nvPr/>
        </p:nvPicPr>
        <p:blipFill rotWithShape="1">
          <a:blip r:embed="rId3">
            <a:alphaModFix/>
          </a:blip>
          <a:srcRect b="0" l="0" r="0" t="0"/>
          <a:stretch/>
        </p:blipFill>
        <p:spPr>
          <a:xfrm>
            <a:off x="4430725" y="218900"/>
            <a:ext cx="4104552" cy="19955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38330b8285a_0_11"/>
          <p:cNvSpPr txBox="1"/>
          <p:nvPr>
            <p:ph type="title"/>
          </p:nvPr>
        </p:nvSpPr>
        <p:spPr>
          <a:xfrm>
            <a:off x="1381250" y="896100"/>
            <a:ext cx="7575000" cy="469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AI, ML, Deep Learning, &amp; Generative AI: How They Relate</a:t>
            </a:r>
            <a:endParaRPr>
              <a:highlight>
                <a:schemeClr val="accent1"/>
              </a:highlight>
            </a:endParaRPr>
          </a:p>
        </p:txBody>
      </p:sp>
      <p:grpSp>
        <p:nvGrpSpPr>
          <p:cNvPr id="88" name="Google Shape;88;g38330b8285a_0_11"/>
          <p:cNvGrpSpPr/>
          <p:nvPr/>
        </p:nvGrpSpPr>
        <p:grpSpPr>
          <a:xfrm>
            <a:off x="916458" y="1019750"/>
            <a:ext cx="214625" cy="214625"/>
            <a:chOff x="2594050" y="1631825"/>
            <a:chExt cx="439625" cy="439625"/>
          </a:xfrm>
        </p:grpSpPr>
        <p:sp>
          <p:nvSpPr>
            <p:cNvPr id="89" name="Google Shape;89;g38330b8285a_0_11"/>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38330b8285a_0_11"/>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38330b8285a_0_11"/>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g38330b8285a_0_11"/>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g38330b8285a_0_11"/>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94" name="Google Shape;94;g38330b8285a_0_11" title="1_BrzOfhL4anS8KK2G7b8nug.png"/>
          <p:cNvPicPr preferRelativeResize="0"/>
          <p:nvPr/>
        </p:nvPicPr>
        <p:blipFill rotWithShape="1">
          <a:blip r:embed="rId3">
            <a:alphaModFix/>
          </a:blip>
          <a:srcRect b="2456" l="1006" r="1231" t="3416"/>
          <a:stretch/>
        </p:blipFill>
        <p:spPr>
          <a:xfrm>
            <a:off x="1757713" y="1634088"/>
            <a:ext cx="5259575" cy="33029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bbe246bff7_0_157"/>
          <p:cNvSpPr txBox="1"/>
          <p:nvPr>
            <p:ph type="title"/>
          </p:nvPr>
        </p:nvSpPr>
        <p:spPr>
          <a:xfrm>
            <a:off x="1305050" y="896100"/>
            <a:ext cx="41601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AI Pathway</a:t>
            </a:r>
            <a:endParaRPr>
              <a:highlight>
                <a:schemeClr val="accent1"/>
              </a:highlight>
            </a:endParaRPr>
          </a:p>
        </p:txBody>
      </p:sp>
      <p:sp>
        <p:nvSpPr>
          <p:cNvPr id="100" name="Google Shape;100;g3bbe246bff7_0_157"/>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grpSp>
        <p:nvGrpSpPr>
          <p:cNvPr id="101" name="Google Shape;101;g3bbe246bff7_0_157"/>
          <p:cNvGrpSpPr/>
          <p:nvPr/>
        </p:nvGrpSpPr>
        <p:grpSpPr>
          <a:xfrm>
            <a:off x="916458" y="1019750"/>
            <a:ext cx="214625" cy="214625"/>
            <a:chOff x="2594050" y="1631825"/>
            <a:chExt cx="439625" cy="439625"/>
          </a:xfrm>
        </p:grpSpPr>
        <p:sp>
          <p:nvSpPr>
            <p:cNvPr id="102" name="Google Shape;102;g3bbe246bff7_0_157"/>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3bbe246bff7_0_157"/>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3bbe246bff7_0_157"/>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g3bbe246bff7_0_157"/>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06" name="Google Shape;106;g3bbe246bff7_0_157" title="MLPathway.png"/>
          <p:cNvPicPr preferRelativeResize="0"/>
          <p:nvPr/>
        </p:nvPicPr>
        <p:blipFill rotWithShape="1">
          <a:blip r:embed="rId3">
            <a:alphaModFix/>
          </a:blip>
          <a:srcRect b="7830" l="0" r="0" t="21308"/>
          <a:stretch/>
        </p:blipFill>
        <p:spPr>
          <a:xfrm>
            <a:off x="1222625" y="1771650"/>
            <a:ext cx="6778376" cy="2521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bbe246bff7_0_304"/>
          <p:cNvSpPr txBox="1"/>
          <p:nvPr>
            <p:ph type="title"/>
          </p:nvPr>
        </p:nvSpPr>
        <p:spPr>
          <a:xfrm>
            <a:off x="1305050" y="896100"/>
            <a:ext cx="41601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ML Pathway</a:t>
            </a:r>
            <a:endParaRPr>
              <a:highlight>
                <a:schemeClr val="accent1"/>
              </a:highlight>
            </a:endParaRPr>
          </a:p>
        </p:txBody>
      </p:sp>
      <p:sp>
        <p:nvSpPr>
          <p:cNvPr id="112" name="Google Shape;112;g3bbe246bff7_0_304"/>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pSp>
        <p:nvGrpSpPr>
          <p:cNvPr id="113" name="Google Shape;113;g3bbe246bff7_0_304"/>
          <p:cNvGrpSpPr/>
          <p:nvPr/>
        </p:nvGrpSpPr>
        <p:grpSpPr>
          <a:xfrm>
            <a:off x="916458" y="1019750"/>
            <a:ext cx="214625" cy="214625"/>
            <a:chOff x="2594050" y="1631825"/>
            <a:chExt cx="439625" cy="439625"/>
          </a:xfrm>
        </p:grpSpPr>
        <p:sp>
          <p:nvSpPr>
            <p:cNvPr id="114" name="Google Shape;114;g3bbe246bff7_0_304"/>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3bbe246bff7_0_304"/>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bbe246bff7_0_304"/>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g3bbe246bff7_0_304"/>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18" name="Google Shape;118;g3bbe246bff7_0_304" title="download.png"/>
          <p:cNvPicPr preferRelativeResize="0"/>
          <p:nvPr/>
        </p:nvPicPr>
        <p:blipFill rotWithShape="1">
          <a:blip r:embed="rId3">
            <a:alphaModFix/>
          </a:blip>
          <a:srcRect b="0" l="0" r="0" t="0"/>
          <a:stretch/>
        </p:blipFill>
        <p:spPr>
          <a:xfrm>
            <a:off x="438800" y="2481039"/>
            <a:ext cx="692275" cy="692250"/>
          </a:xfrm>
          <a:prstGeom prst="rect">
            <a:avLst/>
          </a:prstGeom>
          <a:noFill/>
          <a:ln>
            <a:noFill/>
          </a:ln>
        </p:spPr>
      </p:pic>
      <p:pic>
        <p:nvPicPr>
          <p:cNvPr id="119" name="Google Shape;119;g3bbe246bff7_0_304" title="download (1).png"/>
          <p:cNvPicPr preferRelativeResize="0"/>
          <p:nvPr/>
        </p:nvPicPr>
        <p:blipFill rotWithShape="1">
          <a:blip r:embed="rId4">
            <a:alphaModFix/>
          </a:blip>
          <a:srcRect b="0" l="0" r="0" t="0"/>
          <a:stretch/>
        </p:blipFill>
        <p:spPr>
          <a:xfrm>
            <a:off x="7813797" y="2403119"/>
            <a:ext cx="848100" cy="848100"/>
          </a:xfrm>
          <a:prstGeom prst="rect">
            <a:avLst/>
          </a:prstGeom>
          <a:noFill/>
          <a:ln>
            <a:noFill/>
          </a:ln>
        </p:spPr>
      </p:pic>
      <p:sp>
        <p:nvSpPr>
          <p:cNvPr id="120" name="Google Shape;120;g3bbe246bff7_0_304"/>
          <p:cNvSpPr txBox="1"/>
          <p:nvPr/>
        </p:nvSpPr>
        <p:spPr>
          <a:xfrm>
            <a:off x="7756864" y="3306075"/>
            <a:ext cx="1132200" cy="113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Reports,</a:t>
            </a:r>
            <a:endParaRPr b="1"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Visualization,</a:t>
            </a:r>
            <a:endParaRPr b="1"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Mobile Apps,</a:t>
            </a:r>
            <a:endParaRPr b="1"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Websites, </a:t>
            </a:r>
            <a:endParaRPr b="1"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etc …  </a:t>
            </a:r>
            <a:endParaRPr b="1" i="0" sz="1200" u="none" cap="none" strike="noStrike">
              <a:solidFill>
                <a:schemeClr val="dk1"/>
              </a:solidFill>
              <a:latin typeface="Quattrocento Sans"/>
              <a:ea typeface="Quattrocento Sans"/>
              <a:cs typeface="Quattrocento Sans"/>
              <a:sym typeface="Quattrocento Sans"/>
            </a:endParaRPr>
          </a:p>
        </p:txBody>
      </p:sp>
      <p:sp>
        <p:nvSpPr>
          <p:cNvPr id="121" name="Google Shape;121;g3bbe246bff7_0_304"/>
          <p:cNvSpPr txBox="1"/>
          <p:nvPr/>
        </p:nvSpPr>
        <p:spPr>
          <a:xfrm>
            <a:off x="368875" y="3231495"/>
            <a:ext cx="1132200" cy="96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Real World Problem</a:t>
            </a:r>
            <a:endParaRPr b="1" i="0" sz="1200" u="none" cap="none" strike="noStrike">
              <a:solidFill>
                <a:schemeClr val="dk1"/>
              </a:solidFill>
              <a:latin typeface="Quattrocento Sans"/>
              <a:ea typeface="Quattrocento Sans"/>
              <a:cs typeface="Quattrocento Sans"/>
              <a:sym typeface="Quattrocento Sans"/>
            </a:endParaRPr>
          </a:p>
        </p:txBody>
      </p:sp>
      <p:grpSp>
        <p:nvGrpSpPr>
          <p:cNvPr id="122" name="Google Shape;122;g3bbe246bff7_0_304"/>
          <p:cNvGrpSpPr/>
          <p:nvPr/>
        </p:nvGrpSpPr>
        <p:grpSpPr>
          <a:xfrm>
            <a:off x="3722959" y="1440739"/>
            <a:ext cx="2799600" cy="3386711"/>
            <a:chOff x="3722959" y="1440739"/>
            <a:chExt cx="2799600" cy="3386711"/>
          </a:xfrm>
        </p:grpSpPr>
        <p:pic>
          <p:nvPicPr>
            <p:cNvPr id="123" name="Google Shape;123;g3bbe246bff7_0_304" title="download (5).png"/>
            <p:cNvPicPr preferRelativeResize="0"/>
            <p:nvPr/>
          </p:nvPicPr>
          <p:blipFill rotWithShape="1">
            <a:blip r:embed="rId5">
              <a:alphaModFix/>
            </a:blip>
            <a:srcRect b="0" l="0" r="0" t="0"/>
            <a:stretch/>
          </p:blipFill>
          <p:spPr>
            <a:xfrm>
              <a:off x="3988672" y="2361125"/>
              <a:ext cx="787460" cy="848100"/>
            </a:xfrm>
            <a:prstGeom prst="rect">
              <a:avLst/>
            </a:prstGeom>
            <a:noFill/>
            <a:ln>
              <a:noFill/>
            </a:ln>
          </p:spPr>
        </p:pic>
        <p:pic>
          <p:nvPicPr>
            <p:cNvPr id="124" name="Google Shape;124;g3bbe246bff7_0_304" title="11083295.png"/>
            <p:cNvPicPr preferRelativeResize="0"/>
            <p:nvPr/>
          </p:nvPicPr>
          <p:blipFill rotWithShape="1">
            <a:blip r:embed="rId6">
              <a:alphaModFix/>
            </a:blip>
            <a:srcRect b="0" l="0" r="0" t="0"/>
            <a:stretch/>
          </p:blipFill>
          <p:spPr>
            <a:xfrm>
              <a:off x="5240434" y="2361125"/>
              <a:ext cx="848100" cy="848100"/>
            </a:xfrm>
            <a:prstGeom prst="rect">
              <a:avLst/>
            </a:prstGeom>
            <a:noFill/>
            <a:ln>
              <a:noFill/>
            </a:ln>
          </p:spPr>
        </p:pic>
        <p:sp>
          <p:nvSpPr>
            <p:cNvPr id="125" name="Google Shape;125;g3bbe246bff7_0_304"/>
            <p:cNvSpPr txBox="1"/>
            <p:nvPr/>
          </p:nvSpPr>
          <p:spPr>
            <a:xfrm>
              <a:off x="3879533" y="3252150"/>
              <a:ext cx="1316100" cy="157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Clean &amp; Organize Data:</a:t>
              </a:r>
              <a:endParaRPr b="1"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Recognize Data, Restructure Data, Dealing with Missing Data</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etc.</a:t>
              </a:r>
              <a:endParaRPr b="1" i="0" sz="1000" u="none" cap="none" strike="noStrike">
                <a:solidFill>
                  <a:schemeClr val="accent6"/>
                </a:solidFill>
                <a:latin typeface="Quattrocento Sans"/>
                <a:ea typeface="Quattrocento Sans"/>
                <a:cs typeface="Quattrocento Sans"/>
                <a:sym typeface="Quattrocento Sans"/>
              </a:endParaRPr>
            </a:p>
          </p:txBody>
        </p:sp>
        <p:sp>
          <p:nvSpPr>
            <p:cNvPr id="126" name="Google Shape;126;g3bbe246bff7_0_304"/>
            <p:cNvSpPr txBox="1"/>
            <p:nvPr/>
          </p:nvSpPr>
          <p:spPr>
            <a:xfrm>
              <a:off x="5132750" y="3233725"/>
              <a:ext cx="1181400" cy="157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Exploratory Data Analysis:</a:t>
              </a:r>
              <a:endParaRPr b="1"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Statistical Analysis, Visualization,</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etc.</a:t>
              </a:r>
              <a:endParaRPr b="1" i="0" sz="1000" u="none" cap="none" strike="noStrike">
                <a:solidFill>
                  <a:schemeClr val="accent6"/>
                </a:solidFill>
                <a:latin typeface="Quattrocento Sans"/>
                <a:ea typeface="Quattrocento Sans"/>
                <a:cs typeface="Quattrocento Sans"/>
                <a:sym typeface="Quattrocento Sans"/>
              </a:endParaRPr>
            </a:p>
          </p:txBody>
        </p:sp>
        <p:pic>
          <p:nvPicPr>
            <p:cNvPr id="127" name="Google Shape;127;g3bbe246bff7_0_304" title="images.png"/>
            <p:cNvPicPr preferRelativeResize="0"/>
            <p:nvPr/>
          </p:nvPicPr>
          <p:blipFill rotWithShape="1">
            <a:blip r:embed="rId7">
              <a:alphaModFix/>
            </a:blip>
            <a:srcRect b="0" l="0" r="0" t="26524"/>
            <a:stretch/>
          </p:blipFill>
          <p:spPr>
            <a:xfrm rot="10800000">
              <a:off x="3888849" y="1859426"/>
              <a:ext cx="2325726" cy="440750"/>
            </a:xfrm>
            <a:prstGeom prst="rect">
              <a:avLst/>
            </a:prstGeom>
            <a:noFill/>
            <a:ln>
              <a:noFill/>
            </a:ln>
          </p:spPr>
        </p:pic>
        <p:sp>
          <p:nvSpPr>
            <p:cNvPr id="128" name="Google Shape;128;g3bbe246bff7_0_304"/>
            <p:cNvSpPr txBox="1"/>
            <p:nvPr/>
          </p:nvSpPr>
          <p:spPr>
            <a:xfrm>
              <a:off x="3722959" y="1440739"/>
              <a:ext cx="2799600" cy="60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E69138"/>
                  </a:solidFill>
                  <a:latin typeface="Quattrocento Sans"/>
                  <a:ea typeface="Quattrocento Sans"/>
                  <a:cs typeface="Quattrocento Sans"/>
                  <a:sym typeface="Quattrocento Sans"/>
                </a:rPr>
                <a:t>Data Analysis</a:t>
              </a:r>
              <a:endParaRPr b="1" i="0" sz="1400" u="none" cap="none" strike="noStrike">
                <a:solidFill>
                  <a:srgbClr val="E69138"/>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E69138"/>
                  </a:solidFill>
                  <a:latin typeface="Quattrocento Sans"/>
                  <a:ea typeface="Quattrocento Sans"/>
                  <a:cs typeface="Quattrocento Sans"/>
                  <a:sym typeface="Quattrocento Sans"/>
                </a:rPr>
                <a:t>(Data Analyst/ Data Scientist)</a:t>
              </a:r>
              <a:endParaRPr b="1" i="0" sz="1200" u="none" cap="none" strike="noStrike">
                <a:solidFill>
                  <a:srgbClr val="E69138"/>
                </a:solidFill>
                <a:latin typeface="Quattrocento Sans"/>
                <a:ea typeface="Quattrocento Sans"/>
                <a:cs typeface="Quattrocento Sans"/>
                <a:sym typeface="Quattrocento Sans"/>
              </a:endParaRPr>
            </a:p>
          </p:txBody>
        </p:sp>
      </p:grpSp>
      <p:grpSp>
        <p:nvGrpSpPr>
          <p:cNvPr id="129" name="Google Shape;129;g3bbe246bff7_0_304"/>
          <p:cNvGrpSpPr/>
          <p:nvPr/>
        </p:nvGrpSpPr>
        <p:grpSpPr>
          <a:xfrm>
            <a:off x="5733625" y="1282205"/>
            <a:ext cx="2307861" cy="3527370"/>
            <a:chOff x="5733625" y="1282205"/>
            <a:chExt cx="2307861" cy="3527370"/>
          </a:xfrm>
        </p:grpSpPr>
        <p:pic>
          <p:nvPicPr>
            <p:cNvPr id="130" name="Google Shape;130;g3bbe246bff7_0_304" title="download (7).png"/>
            <p:cNvPicPr preferRelativeResize="0"/>
            <p:nvPr/>
          </p:nvPicPr>
          <p:blipFill rotWithShape="1">
            <a:blip r:embed="rId8">
              <a:alphaModFix/>
            </a:blip>
            <a:srcRect b="0" l="0" r="0" t="0"/>
            <a:stretch/>
          </p:blipFill>
          <p:spPr>
            <a:xfrm>
              <a:off x="6588869" y="2450136"/>
              <a:ext cx="692275" cy="740126"/>
            </a:xfrm>
            <a:prstGeom prst="rect">
              <a:avLst/>
            </a:prstGeom>
            <a:noFill/>
            <a:ln>
              <a:noFill/>
            </a:ln>
          </p:spPr>
        </p:pic>
        <p:sp>
          <p:nvSpPr>
            <p:cNvPr id="131" name="Google Shape;131;g3bbe246bff7_0_304"/>
            <p:cNvSpPr txBox="1"/>
            <p:nvPr/>
          </p:nvSpPr>
          <p:spPr>
            <a:xfrm>
              <a:off x="6507600" y="3234275"/>
              <a:ext cx="1181400" cy="157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ML Models:</a:t>
              </a:r>
              <a:endParaRPr b="1"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Predict an Outcome,</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Discover Patterns in Data </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etc.</a:t>
              </a:r>
              <a:endParaRPr b="1" i="0" sz="1000" u="none" cap="none" strike="noStrike">
                <a:solidFill>
                  <a:schemeClr val="accent6"/>
                </a:solidFill>
                <a:latin typeface="Quattrocento Sans"/>
                <a:ea typeface="Quattrocento Sans"/>
                <a:cs typeface="Quattrocento Sans"/>
                <a:sym typeface="Quattrocento Sans"/>
              </a:endParaRPr>
            </a:p>
          </p:txBody>
        </p:sp>
        <p:pic>
          <p:nvPicPr>
            <p:cNvPr id="132" name="Google Shape;132;g3bbe246bff7_0_304" title="images.png"/>
            <p:cNvPicPr preferRelativeResize="0"/>
            <p:nvPr/>
          </p:nvPicPr>
          <p:blipFill rotWithShape="1">
            <a:blip r:embed="rId7">
              <a:alphaModFix/>
            </a:blip>
            <a:srcRect b="32251" l="0" r="11559" t="26526"/>
            <a:stretch/>
          </p:blipFill>
          <p:spPr>
            <a:xfrm rot="10800000">
              <a:off x="5733625" y="2015500"/>
              <a:ext cx="2056825" cy="247275"/>
            </a:xfrm>
            <a:prstGeom prst="rect">
              <a:avLst/>
            </a:prstGeom>
            <a:noFill/>
            <a:ln>
              <a:noFill/>
            </a:ln>
          </p:spPr>
        </p:pic>
        <p:sp>
          <p:nvSpPr>
            <p:cNvPr id="133" name="Google Shape;133;g3bbe246bff7_0_304"/>
            <p:cNvSpPr txBox="1"/>
            <p:nvPr/>
          </p:nvSpPr>
          <p:spPr>
            <a:xfrm>
              <a:off x="6175486" y="1282205"/>
              <a:ext cx="1866000" cy="740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38761D"/>
                  </a:solidFill>
                  <a:latin typeface="Quattrocento Sans"/>
                  <a:ea typeface="Quattrocento Sans"/>
                  <a:cs typeface="Quattrocento Sans"/>
                  <a:sym typeface="Quattrocento Sans"/>
                </a:rPr>
                <a:t>Machine Learning</a:t>
              </a:r>
              <a:endParaRPr b="1" i="0" sz="1400" u="none" cap="none" strike="noStrike">
                <a:solidFill>
                  <a:srgbClr val="38761D"/>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38761D"/>
                  </a:solidFill>
                  <a:latin typeface="Quattrocento Sans"/>
                  <a:ea typeface="Quattrocento Sans"/>
                  <a:cs typeface="Quattrocento Sans"/>
                  <a:sym typeface="Quattrocento Sans"/>
                </a:rPr>
                <a:t>(ML Scientist/ML Engineer/Data Scientist)</a:t>
              </a:r>
              <a:endParaRPr b="1" i="0" sz="1200" u="none" cap="none" strike="noStrike">
                <a:solidFill>
                  <a:srgbClr val="38761D"/>
                </a:solidFill>
                <a:latin typeface="Quattrocento Sans"/>
                <a:ea typeface="Quattrocento Sans"/>
                <a:cs typeface="Quattrocento Sans"/>
                <a:sym typeface="Quattrocento Sans"/>
              </a:endParaRPr>
            </a:p>
          </p:txBody>
        </p:sp>
      </p:grpSp>
      <p:grpSp>
        <p:nvGrpSpPr>
          <p:cNvPr id="134" name="Google Shape;134;g3bbe246bff7_0_304"/>
          <p:cNvGrpSpPr/>
          <p:nvPr/>
        </p:nvGrpSpPr>
        <p:grpSpPr>
          <a:xfrm>
            <a:off x="1307054" y="1528506"/>
            <a:ext cx="2355983" cy="3298394"/>
            <a:chOff x="1307054" y="1528506"/>
            <a:chExt cx="2355983" cy="3298394"/>
          </a:xfrm>
        </p:grpSpPr>
        <p:pic>
          <p:nvPicPr>
            <p:cNvPr id="135" name="Google Shape;135;g3bbe246bff7_0_304" title="images.png"/>
            <p:cNvPicPr preferRelativeResize="0"/>
            <p:nvPr/>
          </p:nvPicPr>
          <p:blipFill rotWithShape="1">
            <a:blip r:embed="rId7">
              <a:alphaModFix/>
            </a:blip>
            <a:srcRect b="0" l="0" r="0" t="0"/>
            <a:stretch/>
          </p:blipFill>
          <p:spPr>
            <a:xfrm rot="10800000">
              <a:off x="1307054" y="1915806"/>
              <a:ext cx="2325726" cy="599850"/>
            </a:xfrm>
            <a:prstGeom prst="rect">
              <a:avLst/>
            </a:prstGeom>
            <a:noFill/>
            <a:ln>
              <a:noFill/>
            </a:ln>
          </p:spPr>
        </p:pic>
        <p:sp>
          <p:nvSpPr>
            <p:cNvPr id="136" name="Google Shape;136;g3bbe246bff7_0_304"/>
            <p:cNvSpPr txBox="1"/>
            <p:nvPr/>
          </p:nvSpPr>
          <p:spPr>
            <a:xfrm>
              <a:off x="1515837" y="3232050"/>
              <a:ext cx="1051200" cy="157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Raw Data:</a:t>
              </a:r>
              <a:endParaRPr b="1"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Sensors,</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Simulations,</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Experiments,</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Surveys,</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Web,</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etc.</a:t>
              </a:r>
              <a:endParaRPr b="1" i="0" sz="1000" u="none" cap="none" strike="noStrike">
                <a:solidFill>
                  <a:schemeClr val="accent6"/>
                </a:solidFill>
                <a:latin typeface="Quattrocento Sans"/>
                <a:ea typeface="Quattrocento Sans"/>
                <a:cs typeface="Quattrocento Sans"/>
                <a:sym typeface="Quattrocento Sans"/>
              </a:endParaRPr>
            </a:p>
          </p:txBody>
        </p:sp>
        <p:pic>
          <p:nvPicPr>
            <p:cNvPr id="137" name="Google Shape;137;g3bbe246bff7_0_304" title="download (3).png"/>
            <p:cNvPicPr preferRelativeResize="0"/>
            <p:nvPr/>
          </p:nvPicPr>
          <p:blipFill rotWithShape="1">
            <a:blip r:embed="rId9">
              <a:alphaModFix/>
            </a:blip>
            <a:srcRect b="0" l="0" r="0" t="0"/>
            <a:stretch/>
          </p:blipFill>
          <p:spPr>
            <a:xfrm>
              <a:off x="2676354" y="2422093"/>
              <a:ext cx="848100" cy="848100"/>
            </a:xfrm>
            <a:prstGeom prst="rect">
              <a:avLst/>
            </a:prstGeom>
            <a:noFill/>
            <a:ln>
              <a:noFill/>
            </a:ln>
          </p:spPr>
        </p:pic>
        <p:pic>
          <p:nvPicPr>
            <p:cNvPr id="138" name="Google Shape;138;g3bbe246bff7_0_304" title="download (6).png"/>
            <p:cNvPicPr preferRelativeResize="0"/>
            <p:nvPr/>
          </p:nvPicPr>
          <p:blipFill rotWithShape="1">
            <a:blip r:embed="rId10">
              <a:alphaModFix/>
            </a:blip>
            <a:srcRect b="0" l="0" r="0" t="0"/>
            <a:stretch/>
          </p:blipFill>
          <p:spPr>
            <a:xfrm>
              <a:off x="1439919" y="2294630"/>
              <a:ext cx="1051125" cy="1051152"/>
            </a:xfrm>
            <a:prstGeom prst="rect">
              <a:avLst/>
            </a:prstGeom>
            <a:noFill/>
            <a:ln>
              <a:noFill/>
            </a:ln>
          </p:spPr>
        </p:pic>
        <p:sp>
          <p:nvSpPr>
            <p:cNvPr id="139" name="Google Shape;139;g3bbe246bff7_0_304"/>
            <p:cNvSpPr txBox="1"/>
            <p:nvPr/>
          </p:nvSpPr>
          <p:spPr>
            <a:xfrm>
              <a:off x="2693137" y="3251600"/>
              <a:ext cx="969900" cy="157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Process &amp; Store Data:</a:t>
              </a:r>
              <a:endParaRPr b="1"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SQL DBs,</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Excel,</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CSV Files,</a:t>
              </a:r>
              <a:endParaRPr b="1" i="0" sz="1000" u="none" cap="none" strike="noStrike">
                <a:solidFill>
                  <a:schemeClr val="accent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6"/>
                  </a:solidFill>
                  <a:latin typeface="Quattrocento Sans"/>
                  <a:ea typeface="Quattrocento Sans"/>
                  <a:cs typeface="Quattrocento Sans"/>
                  <a:sym typeface="Quattrocento Sans"/>
                </a:rPr>
                <a:t>etc.</a:t>
              </a:r>
              <a:endParaRPr b="1" i="0" sz="1000" u="none" cap="none" strike="noStrike">
                <a:solidFill>
                  <a:schemeClr val="accent6"/>
                </a:solidFill>
                <a:latin typeface="Quattrocento Sans"/>
                <a:ea typeface="Quattrocento Sans"/>
                <a:cs typeface="Quattrocento Sans"/>
                <a:sym typeface="Quattrocento Sans"/>
              </a:endParaRPr>
            </a:p>
          </p:txBody>
        </p:sp>
        <p:sp>
          <p:nvSpPr>
            <p:cNvPr id="140" name="Google Shape;140;g3bbe246bff7_0_304"/>
            <p:cNvSpPr txBox="1"/>
            <p:nvPr/>
          </p:nvSpPr>
          <p:spPr>
            <a:xfrm>
              <a:off x="1652997" y="1528506"/>
              <a:ext cx="1866000" cy="43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1155CC"/>
                  </a:solidFill>
                  <a:latin typeface="Quattrocento Sans"/>
                  <a:ea typeface="Quattrocento Sans"/>
                  <a:cs typeface="Quattrocento Sans"/>
                  <a:sym typeface="Quattrocento Sans"/>
                </a:rPr>
                <a:t>Data Engineering</a:t>
              </a:r>
              <a:endParaRPr b="1" i="0" sz="1400" u="none" cap="none" strike="noStrike">
                <a:solidFill>
                  <a:srgbClr val="1155CC"/>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chemeClr val="dk1"/>
                </a:buClr>
                <a:buSzPts val="1100"/>
                <a:buFont typeface="Arial"/>
                <a:buNone/>
              </a:pPr>
              <a:r>
                <a:rPr b="1" i="0" lang="en" sz="1200" u="none" cap="none" strike="noStrike">
                  <a:solidFill>
                    <a:srgbClr val="1155CC"/>
                  </a:solidFill>
                  <a:latin typeface="Quattrocento Sans"/>
                  <a:ea typeface="Quattrocento Sans"/>
                  <a:cs typeface="Quattrocento Sans"/>
                  <a:sym typeface="Quattrocento Sans"/>
                </a:rPr>
                <a:t>(Data Engineer)</a:t>
              </a:r>
              <a:endParaRPr b="1" i="0" sz="1400" u="none" cap="none" strike="noStrike">
                <a:solidFill>
                  <a:srgbClr val="1155CC"/>
                </a:solidFill>
                <a:latin typeface="Quattrocento Sans"/>
                <a:ea typeface="Quattrocento Sans"/>
                <a:cs typeface="Quattrocento Sans"/>
                <a:sym typeface="Quattrocento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cxnSp>
        <p:nvCxnSpPr>
          <p:cNvPr id="145" name="Google Shape;145;g3bbe246bff7_0_230"/>
          <p:cNvCxnSpPr/>
          <p:nvPr/>
        </p:nvCxnSpPr>
        <p:spPr>
          <a:xfrm>
            <a:off x="6450" y="1428750"/>
            <a:ext cx="2397300" cy="0"/>
          </a:xfrm>
          <a:prstGeom prst="straightConnector1">
            <a:avLst/>
          </a:prstGeom>
          <a:noFill/>
          <a:ln cap="flat" cmpd="sng" w="9525">
            <a:solidFill>
              <a:srgbClr val="CCCCCC"/>
            </a:solidFill>
            <a:prstDash val="solid"/>
            <a:round/>
            <a:headEnd len="sm" w="sm" type="none"/>
            <a:tailEnd len="sm" w="sm" type="none"/>
          </a:ln>
        </p:spPr>
      </p:cxnSp>
      <p:sp>
        <p:nvSpPr>
          <p:cNvPr id="146" name="Google Shape;146;g3bbe246bff7_0_230"/>
          <p:cNvSpPr txBox="1"/>
          <p:nvPr>
            <p:ph idx="4294967295" type="ctrTitle"/>
          </p:nvPr>
        </p:nvSpPr>
        <p:spPr>
          <a:xfrm>
            <a:off x="2371625" y="816550"/>
            <a:ext cx="6105600" cy="1159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600"/>
              </a:spcBef>
              <a:spcAft>
                <a:spcPts val="0"/>
              </a:spcAft>
              <a:buClr>
                <a:schemeClr val="dk1"/>
              </a:buClr>
              <a:buSzPts val="1100"/>
              <a:buFont typeface="Arial"/>
              <a:buNone/>
            </a:pPr>
            <a:r>
              <a:rPr b="1" i="1" lang="en" sz="2000" u="none" cap="none" strike="noStrike">
                <a:solidFill>
                  <a:schemeClr val="dk1"/>
                </a:solidFill>
                <a:latin typeface="Lora"/>
                <a:ea typeface="Lora"/>
                <a:cs typeface="Lora"/>
                <a:sym typeface="Lora"/>
              </a:rPr>
              <a:t>Deep Learning Libraries</a:t>
            </a:r>
            <a:endParaRPr b="1" i="0" sz="4400" u="none" cap="none" strike="noStrike">
              <a:solidFill>
                <a:schemeClr val="dk1"/>
              </a:solidFill>
              <a:latin typeface="Lora"/>
              <a:ea typeface="Lora"/>
              <a:cs typeface="Lora"/>
              <a:sym typeface="Lora"/>
            </a:endParaRPr>
          </a:p>
        </p:txBody>
      </p:sp>
      <p:cxnSp>
        <p:nvCxnSpPr>
          <p:cNvPr id="147" name="Google Shape;147;g3bbe246bff7_0_230"/>
          <p:cNvCxnSpPr/>
          <p:nvPr/>
        </p:nvCxnSpPr>
        <p:spPr>
          <a:xfrm>
            <a:off x="7972425" y="1428750"/>
            <a:ext cx="1171500" cy="0"/>
          </a:xfrm>
          <a:prstGeom prst="straightConnector1">
            <a:avLst/>
          </a:prstGeom>
          <a:noFill/>
          <a:ln cap="flat" cmpd="sng" w="9525">
            <a:solidFill>
              <a:srgbClr val="CCCCCC"/>
            </a:solidFill>
            <a:prstDash val="solid"/>
            <a:round/>
            <a:headEnd len="sm" w="sm" type="none"/>
            <a:tailEnd len="sm" w="sm" type="none"/>
          </a:ln>
        </p:spPr>
      </p:cxnSp>
      <p:sp>
        <p:nvSpPr>
          <p:cNvPr id="148" name="Google Shape;148;g3bbe246bff7_0_230"/>
          <p:cNvSpPr/>
          <p:nvPr/>
        </p:nvSpPr>
        <p:spPr>
          <a:xfrm>
            <a:off x="831925" y="859175"/>
            <a:ext cx="1139100" cy="1139100"/>
          </a:xfrm>
          <a:prstGeom prst="ellipse">
            <a:avLst/>
          </a:prstGeom>
          <a:solidFill>
            <a:srgbClr val="FFC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9" name="Google Shape;149;g3bbe246bff7_0_230"/>
          <p:cNvGrpSpPr/>
          <p:nvPr/>
        </p:nvGrpSpPr>
        <p:grpSpPr>
          <a:xfrm>
            <a:off x="1148902" y="1190763"/>
            <a:ext cx="505722" cy="475767"/>
            <a:chOff x="5972700" y="2330200"/>
            <a:chExt cx="411625" cy="387275"/>
          </a:xfrm>
        </p:grpSpPr>
        <p:sp>
          <p:nvSpPr>
            <p:cNvPr id="150" name="Google Shape;150;g3bbe246bff7_0_230"/>
            <p:cNvSpPr/>
            <p:nvPr/>
          </p:nvSpPr>
          <p:spPr>
            <a:xfrm>
              <a:off x="5972700" y="2476950"/>
              <a:ext cx="98050" cy="219825"/>
            </a:xfrm>
            <a:custGeom>
              <a:rect b="b" l="l" r="r" t="t"/>
              <a:pathLst>
                <a:path extrusionOk="0" fill="none" h="8793" w="3922">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bbe246bff7_0_230"/>
            <p:cNvSpPr/>
            <p:nvPr/>
          </p:nvSpPr>
          <p:spPr>
            <a:xfrm>
              <a:off x="6078025" y="2330200"/>
              <a:ext cx="306300" cy="387275"/>
            </a:xfrm>
            <a:custGeom>
              <a:rect b="b" l="l" r="r" t="t"/>
              <a:pathLst>
                <a:path extrusionOk="0" fill="none" h="15491" w="12252">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2" name="Google Shape;152;g3bbe246bff7_0_230"/>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153" name="Google Shape;153;g3bbe246bff7_0_230"/>
          <p:cNvSpPr txBox="1"/>
          <p:nvPr/>
        </p:nvSpPr>
        <p:spPr>
          <a:xfrm>
            <a:off x="484456" y="2244282"/>
            <a:ext cx="5563800" cy="2678100"/>
          </a:xfrm>
          <a:prstGeom prst="rect">
            <a:avLst/>
          </a:prstGeom>
          <a:noFill/>
          <a:ln>
            <a:noFill/>
          </a:ln>
        </p:spPr>
        <p:txBody>
          <a:bodyPr anchorCtr="0" anchor="t" bIns="91425" lIns="91425" spcFirstLastPara="1" rIns="91425" wrap="square" tIns="91425">
            <a:spAutoFit/>
          </a:bodyPr>
          <a:lstStyle/>
          <a:p>
            <a:pPr indent="-190500" lvl="0" marL="342900" marR="0" rtl="0" algn="l">
              <a:lnSpc>
                <a:spcPct val="100000"/>
              </a:lnSpc>
              <a:spcBef>
                <a:spcPts val="300"/>
              </a:spcBef>
              <a:spcAft>
                <a:spcPts val="0"/>
              </a:spcAft>
              <a:buClr>
                <a:schemeClr val="accent1"/>
              </a:buClr>
              <a:buSzPts val="1200"/>
              <a:buFont typeface="Quattrocento Sans"/>
              <a:buChar char="◉"/>
            </a:pPr>
            <a:r>
              <a:rPr b="1" i="0" lang="en" sz="1400" u="none" cap="none" strike="noStrike">
                <a:solidFill>
                  <a:schemeClr val="dk1"/>
                </a:solidFill>
                <a:highlight>
                  <a:schemeClr val="lt1"/>
                </a:highlight>
                <a:latin typeface="Quattrocento Sans"/>
                <a:ea typeface="Quattrocento Sans"/>
                <a:cs typeface="Quattrocento Sans"/>
                <a:sym typeface="Quattrocento Sans"/>
              </a:rPr>
              <a:t>PyTorch: </a:t>
            </a:r>
            <a:r>
              <a:rPr b="0" i="0" lang="en" sz="1100" u="none" cap="none" strike="noStrike">
                <a:solidFill>
                  <a:schemeClr val="dk1"/>
                </a:solidFill>
                <a:highlight>
                  <a:schemeClr val="lt1"/>
                </a:highlight>
                <a:latin typeface="Quattrocento Sans"/>
                <a:ea typeface="Quattrocento Sans"/>
                <a:cs typeface="Quattrocento Sans"/>
                <a:sym typeface="Quattrocento Sans"/>
              </a:rPr>
              <a:t>Developed by Meta's AI Research lab, it is the primary choice for research and academic prototyping due to its dynamic computation graph, which allows for immediate debugging and on-the-fly model changes.</a:t>
            </a:r>
            <a:endParaRPr b="0" i="0" sz="900" u="none" cap="none" strike="noStrike">
              <a:solidFill>
                <a:schemeClr val="dk1"/>
              </a:solidFill>
              <a:highlight>
                <a:schemeClr val="lt1"/>
              </a:highlight>
              <a:latin typeface="Quattrocento Sans"/>
              <a:ea typeface="Quattrocento Sans"/>
              <a:cs typeface="Quattrocento Sans"/>
              <a:sym typeface="Quattrocento Sans"/>
            </a:endParaRPr>
          </a:p>
          <a:p>
            <a:pPr indent="-190500" lvl="0" marL="342900" marR="0" rtl="0" algn="l">
              <a:lnSpc>
                <a:spcPct val="100000"/>
              </a:lnSpc>
              <a:spcBef>
                <a:spcPts val="800"/>
              </a:spcBef>
              <a:spcAft>
                <a:spcPts val="0"/>
              </a:spcAft>
              <a:buClr>
                <a:schemeClr val="accent1"/>
              </a:buClr>
              <a:buSzPts val="1200"/>
              <a:buFont typeface="Quattrocento Sans"/>
              <a:buChar char="◉"/>
            </a:pPr>
            <a:r>
              <a:rPr b="1" i="0" lang="en" sz="1400" u="none" cap="none" strike="noStrike">
                <a:solidFill>
                  <a:schemeClr val="dk1"/>
                </a:solidFill>
                <a:highlight>
                  <a:schemeClr val="lt1"/>
                </a:highlight>
                <a:latin typeface="Quattrocento Sans"/>
                <a:ea typeface="Quattrocento Sans"/>
                <a:cs typeface="Quattrocento Sans"/>
                <a:sym typeface="Quattrocento Sans"/>
              </a:rPr>
              <a:t>TensorFlow: </a:t>
            </a:r>
            <a:r>
              <a:rPr b="0" i="0" lang="en" sz="1100" u="none" cap="none" strike="noStrike">
                <a:solidFill>
                  <a:schemeClr val="dk1"/>
                </a:solidFill>
                <a:highlight>
                  <a:schemeClr val="lt1"/>
                </a:highlight>
                <a:latin typeface="Quattrocento Sans"/>
                <a:ea typeface="Quattrocento Sans"/>
                <a:cs typeface="Quattrocento Sans"/>
                <a:sym typeface="Quattrocento Sans"/>
              </a:rPr>
              <a:t>A production-grade framework from Google designed for high scalability across mobile, desktop, and cloud environments. It integrates TensorBoard for advanced visualization.</a:t>
            </a:r>
            <a:endParaRPr b="0" i="0" sz="1000" u="none" cap="none" strike="noStrike">
              <a:solidFill>
                <a:schemeClr val="dk1"/>
              </a:solidFill>
              <a:latin typeface="Quattrocento Sans"/>
              <a:ea typeface="Quattrocento Sans"/>
              <a:cs typeface="Quattrocento Sans"/>
              <a:sym typeface="Quattrocento Sans"/>
            </a:endParaRPr>
          </a:p>
          <a:p>
            <a:pPr indent="-190500" lvl="0" marL="342900" marR="0" rtl="0" algn="l">
              <a:lnSpc>
                <a:spcPct val="100000"/>
              </a:lnSpc>
              <a:spcBef>
                <a:spcPts val="800"/>
              </a:spcBef>
              <a:spcAft>
                <a:spcPts val="0"/>
              </a:spcAft>
              <a:buClr>
                <a:schemeClr val="accent1"/>
              </a:buClr>
              <a:buSzPts val="1200"/>
              <a:buFont typeface="Quattrocento Sans"/>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Keras: </a:t>
            </a:r>
            <a:r>
              <a:rPr b="0" i="0" lang="en" sz="1100" u="none" cap="none" strike="noStrike">
                <a:solidFill>
                  <a:schemeClr val="dk1"/>
                </a:solidFill>
                <a:highlight>
                  <a:schemeClr val="lt1"/>
                </a:highlight>
                <a:latin typeface="Quattrocento Sans"/>
                <a:ea typeface="Quattrocento Sans"/>
                <a:cs typeface="Quattrocento Sans"/>
                <a:sym typeface="Quattrocento Sans"/>
              </a:rPr>
              <a:t>A high-level, user-friendly API that now acts as the default interface for TensorFlow. It focuses on enabling fast experimentation by allowing developers to build models with very few lines of code.</a:t>
            </a:r>
            <a:endParaRPr b="0" i="0" sz="1100" u="none" cap="none" strike="noStrike">
              <a:solidFill>
                <a:schemeClr val="dk1"/>
              </a:solidFill>
              <a:highlight>
                <a:schemeClr val="lt1"/>
              </a:highlight>
              <a:latin typeface="Quattrocento Sans"/>
              <a:ea typeface="Quattrocento Sans"/>
              <a:cs typeface="Quattrocento Sans"/>
              <a:sym typeface="Quattrocento Sans"/>
            </a:endParaRPr>
          </a:p>
          <a:p>
            <a:pPr indent="-190500" lvl="0" marL="342900" marR="0" rtl="0" algn="l">
              <a:lnSpc>
                <a:spcPct val="100000"/>
              </a:lnSpc>
              <a:spcBef>
                <a:spcPts val="800"/>
              </a:spcBef>
              <a:spcAft>
                <a:spcPts val="800"/>
              </a:spcAft>
              <a:buClr>
                <a:schemeClr val="accent1"/>
              </a:buClr>
              <a:buSzPts val="1200"/>
              <a:buFont typeface="Quattrocento Sans"/>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JAX: </a:t>
            </a:r>
            <a:r>
              <a:rPr b="0" i="0" lang="en" sz="1100" u="none" cap="none" strike="noStrike">
                <a:solidFill>
                  <a:schemeClr val="dk1"/>
                </a:solidFill>
                <a:highlight>
                  <a:schemeClr val="lt1"/>
                </a:highlight>
                <a:latin typeface="Quattrocento Sans"/>
                <a:ea typeface="Quattrocento Sans"/>
                <a:cs typeface="Quattrocento Sans"/>
                <a:sym typeface="Quattrocento Sans"/>
              </a:rPr>
              <a:t>A high-performance library from Google used for cutting-edge research, combining a NumPy-like API with automatic differentiation and just-in-time (JIT) compilation for maximum hardware speed. </a:t>
            </a:r>
            <a:endParaRPr b="0" i="0" sz="1000" u="none" cap="none" strike="noStrike">
              <a:solidFill>
                <a:schemeClr val="dk1"/>
              </a:solidFill>
              <a:latin typeface="Quattrocento Sans"/>
              <a:ea typeface="Quattrocento Sans"/>
              <a:cs typeface="Quattrocento Sans"/>
              <a:sym typeface="Quattrocento Sans"/>
            </a:endParaRPr>
          </a:p>
        </p:txBody>
      </p:sp>
      <p:pic>
        <p:nvPicPr>
          <p:cNvPr id="154" name="Google Shape;154;g3bbe246bff7_0_230" title="1_x8HK6FfwIz4VKxwhkhHCbw.jpg"/>
          <p:cNvPicPr preferRelativeResize="0"/>
          <p:nvPr/>
        </p:nvPicPr>
        <p:blipFill rotWithShape="1">
          <a:blip r:embed="rId3">
            <a:alphaModFix/>
          </a:blip>
          <a:srcRect b="0" l="0" r="0" t="0"/>
          <a:stretch/>
        </p:blipFill>
        <p:spPr>
          <a:xfrm>
            <a:off x="5987517" y="2523542"/>
            <a:ext cx="2865800" cy="1910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8330b8285a_0_42"/>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Types of Machine Learning Example</a:t>
            </a:r>
            <a:endParaRPr/>
          </a:p>
        </p:txBody>
      </p:sp>
      <p:grpSp>
        <p:nvGrpSpPr>
          <p:cNvPr id="160" name="Google Shape;160;g38330b8285a_0_42"/>
          <p:cNvGrpSpPr/>
          <p:nvPr/>
        </p:nvGrpSpPr>
        <p:grpSpPr>
          <a:xfrm>
            <a:off x="916458" y="1019750"/>
            <a:ext cx="214625" cy="214625"/>
            <a:chOff x="2594050" y="1631825"/>
            <a:chExt cx="439625" cy="439625"/>
          </a:xfrm>
        </p:grpSpPr>
        <p:sp>
          <p:nvSpPr>
            <p:cNvPr id="161" name="Google Shape;161;g38330b8285a_0_42"/>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38330b8285a_0_42"/>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38330b8285a_0_42"/>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8330b8285a_0_42"/>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5" name="Google Shape;165;g38330b8285a_0_42"/>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6" name="Google Shape;166;g38330b8285a_0_42"/>
          <p:cNvSpPr txBox="1"/>
          <p:nvPr/>
        </p:nvSpPr>
        <p:spPr>
          <a:xfrm>
            <a:off x="684275" y="1547800"/>
            <a:ext cx="5067600" cy="3427800"/>
          </a:xfrm>
          <a:prstGeom prst="rect">
            <a:avLst/>
          </a:prstGeom>
          <a:noFill/>
          <a:ln>
            <a:noFill/>
          </a:ln>
        </p:spPr>
        <p:txBody>
          <a:bodyPr anchorCtr="0" anchor="t" bIns="91425" lIns="91425" spcFirstLastPara="1" rIns="91425" wrap="square" tIns="91425">
            <a:noAutofit/>
          </a:bodyPr>
          <a:lstStyle/>
          <a:p>
            <a:pPr indent="-203200" lvl="0" marL="342900" marR="0" rtl="0" algn="l">
              <a:lnSpc>
                <a:spcPct val="115000"/>
              </a:lnSpc>
              <a:spcBef>
                <a:spcPts val="0"/>
              </a:spcBef>
              <a:spcAft>
                <a:spcPts val="0"/>
              </a:spcAft>
              <a:buClr>
                <a:schemeClr val="accent1"/>
              </a:buClr>
              <a:buSzPts val="1400"/>
              <a:buFont typeface="Quattrocento Sans"/>
              <a:buChar char="◉"/>
            </a:pPr>
            <a:r>
              <a:rPr b="1" i="0" lang="en" sz="1400" u="none" cap="none" strike="noStrike">
                <a:solidFill>
                  <a:schemeClr val="dk1"/>
                </a:solidFill>
                <a:latin typeface="Quattrocento Sans"/>
                <a:ea typeface="Quattrocento Sans"/>
                <a:cs typeface="Quattrocento Sans"/>
                <a:sym typeface="Quattrocento Sans"/>
              </a:rPr>
              <a:t>Supervised Learning:  </a:t>
            </a:r>
            <a:endParaRPr b="1" i="0" sz="1400" u="none" cap="none" strike="noStrike">
              <a:solidFill>
                <a:schemeClr val="dk1"/>
              </a:solidFill>
              <a:latin typeface="Quattrocento Sans"/>
              <a:ea typeface="Quattrocento Sans"/>
              <a:cs typeface="Quattrocento Sans"/>
              <a:sym typeface="Quattrocento Sans"/>
            </a:endParaRPr>
          </a:p>
          <a:p>
            <a:pPr indent="-196850" lvl="1" marL="514350" marR="0" rtl="0" algn="l">
              <a:lnSpc>
                <a:spcPct val="115000"/>
              </a:lnSpc>
              <a:spcBef>
                <a:spcPts val="500"/>
              </a:spcBef>
              <a:spcAft>
                <a:spcPts val="0"/>
              </a:spcAft>
              <a:buClr>
                <a:srgbClr val="FFCD00"/>
              </a:buClr>
              <a:buSzPts val="1300"/>
              <a:buFont typeface="Quattrocento Sans"/>
              <a:buChar char="○"/>
            </a:pPr>
            <a:r>
              <a:rPr b="0" i="0" lang="en" sz="1300" u="none" cap="none" strike="noStrike">
                <a:solidFill>
                  <a:srgbClr val="000000"/>
                </a:solidFill>
                <a:highlight>
                  <a:srgbClr val="FFFFFF"/>
                </a:highlight>
                <a:latin typeface="Quattrocento Sans"/>
                <a:ea typeface="Quattrocento Sans"/>
                <a:cs typeface="Quattrocento Sans"/>
                <a:sym typeface="Quattrocento Sans"/>
              </a:rPr>
              <a:t>Classification (spam or not spam)</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196850" lvl="1" marL="514350" marR="0" rtl="0" algn="l">
              <a:lnSpc>
                <a:spcPct val="115000"/>
              </a:lnSpc>
              <a:spcBef>
                <a:spcPts val="0"/>
              </a:spcBef>
              <a:spcAft>
                <a:spcPts val="0"/>
              </a:spcAft>
              <a:buClr>
                <a:srgbClr val="FFCD00"/>
              </a:buClr>
              <a:buSzPts val="1300"/>
              <a:buFont typeface="Quattrocento Sans"/>
              <a:buChar char="○"/>
            </a:pPr>
            <a:r>
              <a:rPr b="0" i="0" lang="en" sz="1300" u="none" cap="none" strike="noStrike">
                <a:solidFill>
                  <a:srgbClr val="000000"/>
                </a:solidFill>
                <a:highlight>
                  <a:srgbClr val="FFFFFF"/>
                </a:highlight>
                <a:latin typeface="Quattrocento Sans"/>
                <a:ea typeface="Quattrocento Sans"/>
                <a:cs typeface="Quattrocento Sans"/>
                <a:sym typeface="Quattrocento Sans"/>
              </a:rPr>
              <a:t>Regression (predicting house prices)</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203200" lvl="0" marL="342900" marR="0" rtl="0" algn="l">
              <a:lnSpc>
                <a:spcPct val="115000"/>
              </a:lnSpc>
              <a:spcBef>
                <a:spcPts val="1500"/>
              </a:spcBef>
              <a:spcAft>
                <a:spcPts val="0"/>
              </a:spcAft>
              <a:buClr>
                <a:srgbClr val="FFCD00"/>
              </a:buClr>
              <a:buSzPts val="1400"/>
              <a:buFont typeface="Quattrocento Sans"/>
              <a:buChar char="◉"/>
            </a:pPr>
            <a:r>
              <a:rPr b="1" i="0" lang="en" sz="1400" u="none" cap="none" strike="noStrike">
                <a:solidFill>
                  <a:srgbClr val="000000"/>
                </a:solidFill>
                <a:highlight>
                  <a:srgbClr val="FFFFFF"/>
                </a:highlight>
                <a:latin typeface="Quattrocento Sans"/>
                <a:ea typeface="Quattrocento Sans"/>
                <a:cs typeface="Quattrocento Sans"/>
                <a:sym typeface="Quattrocento Sans"/>
              </a:rPr>
              <a:t>Unsupervised Learning:</a:t>
            </a:r>
            <a:endParaRPr b="1" i="0" sz="1400" u="none" cap="none" strike="noStrike">
              <a:solidFill>
                <a:srgbClr val="000000"/>
              </a:solidFill>
              <a:highlight>
                <a:srgbClr val="FFFFFF"/>
              </a:highlight>
              <a:latin typeface="Quattrocento Sans"/>
              <a:ea typeface="Quattrocento Sans"/>
              <a:cs typeface="Quattrocento Sans"/>
              <a:sym typeface="Quattrocento Sans"/>
            </a:endParaRPr>
          </a:p>
          <a:p>
            <a:pPr indent="-196850" lvl="1" marL="514350" marR="0" rtl="0" algn="l">
              <a:lnSpc>
                <a:spcPct val="115000"/>
              </a:lnSpc>
              <a:spcBef>
                <a:spcPts val="500"/>
              </a:spcBef>
              <a:spcAft>
                <a:spcPts val="0"/>
              </a:spcAft>
              <a:buClr>
                <a:schemeClr val="accent1"/>
              </a:buClr>
              <a:buSzPts val="1300"/>
              <a:buFont typeface="Quattrocento Sans"/>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Clustering (grouping customers by shopping habits)</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196850" lvl="1" marL="514350" marR="0" rtl="0" algn="l">
              <a:lnSpc>
                <a:spcPct val="115000"/>
              </a:lnSpc>
              <a:spcBef>
                <a:spcPts val="0"/>
              </a:spcBef>
              <a:spcAft>
                <a:spcPts val="0"/>
              </a:spcAft>
              <a:buClr>
                <a:schemeClr val="accent1"/>
              </a:buClr>
              <a:buSzPts val="1300"/>
              <a:buFont typeface="Quattrocento Sans"/>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Dimensionality reduction (data compression)</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203200" lvl="0" marL="342900" marR="0" rtl="0" algn="l">
              <a:lnSpc>
                <a:spcPct val="115000"/>
              </a:lnSpc>
              <a:spcBef>
                <a:spcPts val="1500"/>
              </a:spcBef>
              <a:spcAft>
                <a:spcPts val="0"/>
              </a:spcAft>
              <a:buClr>
                <a:srgbClr val="FFCD00"/>
              </a:buClr>
              <a:buSzPts val="1400"/>
              <a:buFont typeface="Quattrocento Sans"/>
              <a:buChar char="◉"/>
            </a:pPr>
            <a:r>
              <a:rPr b="1" i="0" lang="en" sz="1400" u="none" cap="none" strike="noStrike">
                <a:solidFill>
                  <a:srgbClr val="000000"/>
                </a:solidFill>
                <a:highlight>
                  <a:srgbClr val="FFFFFF"/>
                </a:highlight>
                <a:latin typeface="Quattrocento Sans"/>
                <a:ea typeface="Quattrocento Sans"/>
                <a:cs typeface="Quattrocento Sans"/>
                <a:sym typeface="Quattrocento Sans"/>
              </a:rPr>
              <a:t>Reinforcement Learning </a:t>
            </a:r>
            <a:endParaRPr b="1" i="0" sz="1400" u="none" cap="none" strike="noStrike">
              <a:solidFill>
                <a:srgbClr val="000000"/>
              </a:solidFill>
              <a:highlight>
                <a:srgbClr val="FFFFFF"/>
              </a:highlight>
              <a:latin typeface="Quattrocento Sans"/>
              <a:ea typeface="Quattrocento Sans"/>
              <a:cs typeface="Quattrocento Sans"/>
              <a:sym typeface="Quattrocento Sans"/>
            </a:endParaRPr>
          </a:p>
          <a:p>
            <a:pPr indent="-196850" lvl="1" marL="514350" marR="0" rtl="0" algn="l">
              <a:lnSpc>
                <a:spcPct val="115000"/>
              </a:lnSpc>
              <a:spcBef>
                <a:spcPts val="500"/>
              </a:spcBef>
              <a:spcAft>
                <a:spcPts val="0"/>
              </a:spcAft>
              <a:buClr>
                <a:schemeClr val="accent1"/>
              </a:buClr>
              <a:buSzPts val="1300"/>
              <a:buFont typeface="Quattrocento Sans"/>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Game playing, self-driving cars</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3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pic>
        <p:nvPicPr>
          <p:cNvPr id="167" name="Google Shape;167;g38330b8285a_0_42" title="631ae11ef8115f9ee491991e_How does spam filters work.jpg"/>
          <p:cNvPicPr preferRelativeResize="0"/>
          <p:nvPr/>
        </p:nvPicPr>
        <p:blipFill rotWithShape="1">
          <a:blip r:embed="rId3">
            <a:alphaModFix/>
          </a:blip>
          <a:srcRect b="0" l="0" r="0" t="24334"/>
          <a:stretch/>
        </p:blipFill>
        <p:spPr>
          <a:xfrm>
            <a:off x="5709601" y="1375154"/>
            <a:ext cx="2566002" cy="1046050"/>
          </a:xfrm>
          <a:prstGeom prst="rect">
            <a:avLst/>
          </a:prstGeom>
          <a:noFill/>
          <a:ln>
            <a:noFill/>
          </a:ln>
        </p:spPr>
      </p:pic>
      <p:pic>
        <p:nvPicPr>
          <p:cNvPr id="168" name="Google Shape;168;g38330b8285a_0_42" title="Customer-segmentation-and-campaigns.png"/>
          <p:cNvPicPr preferRelativeResize="0"/>
          <p:nvPr/>
        </p:nvPicPr>
        <p:blipFill rotWithShape="1">
          <a:blip r:embed="rId4">
            <a:alphaModFix/>
          </a:blip>
          <a:srcRect b="0" l="0" r="0" t="0"/>
          <a:stretch/>
        </p:blipFill>
        <p:spPr>
          <a:xfrm>
            <a:off x="6055756" y="2555058"/>
            <a:ext cx="1339294" cy="754888"/>
          </a:xfrm>
          <a:prstGeom prst="rect">
            <a:avLst/>
          </a:prstGeom>
          <a:noFill/>
          <a:ln>
            <a:noFill/>
          </a:ln>
        </p:spPr>
      </p:pic>
      <p:pic>
        <p:nvPicPr>
          <p:cNvPr id="169" name="Google Shape;169;g38330b8285a_0_42" title="Screen Shot 2025-09-24 at 1.08.13 PM.png"/>
          <p:cNvPicPr preferRelativeResize="0"/>
          <p:nvPr/>
        </p:nvPicPr>
        <p:blipFill rotWithShape="1">
          <a:blip r:embed="rId5">
            <a:alphaModFix/>
          </a:blip>
          <a:srcRect b="0" l="0" r="0" t="0"/>
          <a:stretch/>
        </p:blipFill>
        <p:spPr>
          <a:xfrm>
            <a:off x="5751875" y="3470741"/>
            <a:ext cx="1914974" cy="15048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8330b8285a_0_181"/>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Roadmap for Building ML System</a:t>
            </a:r>
            <a:endParaRPr>
              <a:highlight>
                <a:schemeClr val="accent1"/>
              </a:highlight>
            </a:endParaRPr>
          </a:p>
        </p:txBody>
      </p:sp>
      <p:grpSp>
        <p:nvGrpSpPr>
          <p:cNvPr id="175" name="Google Shape;175;g38330b8285a_0_181"/>
          <p:cNvGrpSpPr/>
          <p:nvPr/>
        </p:nvGrpSpPr>
        <p:grpSpPr>
          <a:xfrm>
            <a:off x="916458" y="1019750"/>
            <a:ext cx="214625" cy="214625"/>
            <a:chOff x="2594050" y="1631825"/>
            <a:chExt cx="439625" cy="439625"/>
          </a:xfrm>
        </p:grpSpPr>
        <p:sp>
          <p:nvSpPr>
            <p:cNvPr id="176" name="Google Shape;176;g38330b8285a_0_181"/>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g38330b8285a_0_181"/>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g38330b8285a_0_181"/>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g38330b8285a_0_181"/>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0" name="Google Shape;180;g38330b8285a_0_181"/>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81" name="Google Shape;181;g38330b8285a_0_181" title="Screen Shot 2025-09-24 at 3.14.37 PM.png"/>
          <p:cNvPicPr preferRelativeResize="0"/>
          <p:nvPr/>
        </p:nvPicPr>
        <p:blipFill rotWithShape="1">
          <a:blip r:embed="rId3">
            <a:alphaModFix/>
          </a:blip>
          <a:srcRect b="0" l="3855" r="0" t="0"/>
          <a:stretch/>
        </p:blipFill>
        <p:spPr>
          <a:xfrm>
            <a:off x="4292204" y="1484100"/>
            <a:ext cx="4523808" cy="3491499"/>
          </a:xfrm>
          <a:prstGeom prst="rect">
            <a:avLst/>
          </a:prstGeom>
          <a:noFill/>
          <a:ln>
            <a:noFill/>
          </a:ln>
        </p:spPr>
      </p:pic>
      <p:sp>
        <p:nvSpPr>
          <p:cNvPr id="182" name="Google Shape;182;g38330b8285a_0_181"/>
          <p:cNvSpPr txBox="1"/>
          <p:nvPr/>
        </p:nvSpPr>
        <p:spPr>
          <a:xfrm>
            <a:off x="684275" y="1547800"/>
            <a:ext cx="3718500" cy="3427800"/>
          </a:xfrm>
          <a:prstGeom prst="rect">
            <a:avLst/>
          </a:prstGeom>
          <a:noFill/>
          <a:ln>
            <a:noFill/>
          </a:ln>
        </p:spPr>
        <p:txBody>
          <a:bodyPr anchorCtr="0" anchor="t" bIns="91425" lIns="91425" spcFirstLastPara="1" rIns="91425" wrap="square" tIns="91425">
            <a:noAutofit/>
          </a:bodyPr>
          <a:lstStyle/>
          <a:p>
            <a:pPr indent="-196850" lvl="0" marL="342900" marR="0" rtl="0" algn="l">
              <a:lnSpc>
                <a:spcPct val="115000"/>
              </a:lnSpc>
              <a:spcBef>
                <a:spcPts val="0"/>
              </a:spcBef>
              <a:spcAft>
                <a:spcPts val="0"/>
              </a:spcAft>
              <a:buClr>
                <a:schemeClr val="accent1"/>
              </a:buClr>
              <a:buSzPts val="1300"/>
              <a:buFont typeface="Arial"/>
              <a:buChar char="◉"/>
            </a:pPr>
            <a:r>
              <a:rPr b="1" i="0" lang="en" sz="1400" u="none" cap="none" strike="noStrike">
                <a:solidFill>
                  <a:schemeClr val="dk1"/>
                </a:solidFill>
                <a:highlight>
                  <a:schemeClr val="lt1"/>
                </a:highlight>
                <a:latin typeface="Quattrocento Sans"/>
                <a:ea typeface="Quattrocento Sans"/>
                <a:cs typeface="Quattrocento Sans"/>
                <a:sym typeface="Quattrocento Sans"/>
              </a:rPr>
              <a:t>Preprocessing</a:t>
            </a:r>
            <a:r>
              <a:rPr b="1" i="0" lang="en" sz="1300" u="none" cap="none" strike="noStrike">
                <a:solidFill>
                  <a:schemeClr val="dk1"/>
                </a:solidFill>
                <a:highlight>
                  <a:schemeClr val="lt1"/>
                </a:highlight>
                <a:latin typeface="Quattrocento Sans"/>
                <a:ea typeface="Quattrocento Sans"/>
                <a:cs typeface="Quattrocento Sans"/>
                <a:sym typeface="Quattrocento Sans"/>
              </a:rPr>
              <a:t> – </a:t>
            </a:r>
            <a:r>
              <a:rPr b="0" i="0" lang="en" sz="1300" u="none" cap="none" strike="noStrike">
                <a:solidFill>
                  <a:schemeClr val="dk1"/>
                </a:solidFill>
                <a:highlight>
                  <a:schemeClr val="lt1"/>
                </a:highlight>
                <a:latin typeface="Quattrocento Sans"/>
                <a:ea typeface="Quattrocento Sans"/>
                <a:cs typeface="Quattrocento Sans"/>
                <a:sym typeface="Quattrocento Sans"/>
              </a:rPr>
              <a:t>clean and prepare data.</a:t>
            </a:r>
            <a:endParaRPr b="0" i="0" sz="1200" u="none" cap="none" strike="noStrike">
              <a:solidFill>
                <a:srgbClr val="000000"/>
              </a:solidFill>
              <a:highlight>
                <a:srgbClr val="FFFFFF"/>
              </a:highlight>
              <a:latin typeface="Quattrocento Sans"/>
              <a:ea typeface="Quattrocento Sans"/>
              <a:cs typeface="Quattrocento Sans"/>
              <a:sym typeface="Quattrocento Sans"/>
            </a:endParaRPr>
          </a:p>
          <a:p>
            <a:pPr indent="-196850" lvl="0" marL="342900" marR="0" rtl="0" algn="l">
              <a:lnSpc>
                <a:spcPct val="115000"/>
              </a:lnSpc>
              <a:spcBef>
                <a:spcPts val="300"/>
              </a:spcBef>
              <a:spcAft>
                <a:spcPts val="0"/>
              </a:spcAft>
              <a:buClr>
                <a:schemeClr val="accent1"/>
              </a:buClr>
              <a:buSzPts val="1300"/>
              <a:buFont typeface="Arial"/>
              <a:buChar char="◉"/>
            </a:pPr>
            <a:r>
              <a:rPr b="1" i="0" lang="en" sz="1400" u="none" cap="none" strike="noStrike">
                <a:solidFill>
                  <a:schemeClr val="dk1"/>
                </a:solidFill>
                <a:highlight>
                  <a:schemeClr val="lt1"/>
                </a:highlight>
                <a:latin typeface="Quattrocento Sans"/>
                <a:ea typeface="Quattrocento Sans"/>
                <a:cs typeface="Quattrocento Sans"/>
                <a:sym typeface="Quattrocento Sans"/>
              </a:rPr>
              <a:t>Training</a:t>
            </a:r>
            <a:r>
              <a:rPr b="1" i="0" lang="en" sz="1300" u="none" cap="none" strike="noStrike">
                <a:solidFill>
                  <a:schemeClr val="dk1"/>
                </a:solidFill>
                <a:highlight>
                  <a:schemeClr val="lt1"/>
                </a:highlight>
                <a:latin typeface="Quattrocento Sans"/>
                <a:ea typeface="Quattrocento Sans"/>
                <a:cs typeface="Quattrocento Sans"/>
                <a:sym typeface="Quattrocento Sans"/>
              </a:rPr>
              <a:t> – </a:t>
            </a:r>
            <a:r>
              <a:rPr b="0" i="0" lang="en" sz="1300" u="none" cap="none" strike="noStrike">
                <a:solidFill>
                  <a:schemeClr val="dk1"/>
                </a:solidFill>
                <a:highlight>
                  <a:schemeClr val="lt1"/>
                </a:highlight>
                <a:latin typeface="Quattrocento Sans"/>
                <a:ea typeface="Quattrocento Sans"/>
                <a:cs typeface="Quattrocento Sans"/>
                <a:sym typeface="Quattrocento Sans"/>
              </a:rPr>
              <a:t>selecting a model &amp; fit it to data</a:t>
            </a:r>
            <a:endParaRPr b="0" i="0" sz="1200" u="none" cap="none" strike="noStrike">
              <a:solidFill>
                <a:srgbClr val="000000"/>
              </a:solidFill>
              <a:highlight>
                <a:srgbClr val="FFFFFF"/>
              </a:highlight>
              <a:latin typeface="Quattrocento Sans"/>
              <a:ea typeface="Quattrocento Sans"/>
              <a:cs typeface="Quattrocento Sans"/>
              <a:sym typeface="Quattrocento Sans"/>
            </a:endParaRPr>
          </a:p>
          <a:p>
            <a:pPr indent="-196850" lvl="0" marL="342900" marR="0" rtl="0" algn="l">
              <a:lnSpc>
                <a:spcPct val="115000"/>
              </a:lnSpc>
              <a:spcBef>
                <a:spcPts val="300"/>
              </a:spcBef>
              <a:spcAft>
                <a:spcPts val="0"/>
              </a:spcAft>
              <a:buClr>
                <a:schemeClr val="accent1"/>
              </a:buClr>
              <a:buSzPts val="1300"/>
              <a:buFont typeface="Arial"/>
              <a:buChar char="◉"/>
            </a:pPr>
            <a:r>
              <a:rPr b="1" i="0" lang="en" sz="1400" u="none" cap="none" strike="noStrike">
                <a:solidFill>
                  <a:schemeClr val="dk1"/>
                </a:solidFill>
                <a:highlight>
                  <a:schemeClr val="lt1"/>
                </a:highlight>
                <a:latin typeface="Quattrocento Sans"/>
                <a:ea typeface="Quattrocento Sans"/>
                <a:cs typeface="Quattrocento Sans"/>
                <a:sym typeface="Quattrocento Sans"/>
              </a:rPr>
              <a:t>Evaluation</a:t>
            </a:r>
            <a:r>
              <a:rPr b="1"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300" u="none" cap="none" strike="noStrike">
                <a:solidFill>
                  <a:schemeClr val="dk1"/>
                </a:solidFill>
                <a:highlight>
                  <a:schemeClr val="lt1"/>
                </a:highlight>
                <a:latin typeface="Quattrocento Sans"/>
                <a:ea typeface="Quattrocento Sans"/>
                <a:cs typeface="Quattrocento Sans"/>
                <a:sym typeface="Quattrocento Sans"/>
              </a:rPr>
              <a:t>– test how well it works</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196850" lvl="0" marL="342900" marR="0" rtl="0" algn="l">
              <a:lnSpc>
                <a:spcPct val="115000"/>
              </a:lnSpc>
              <a:spcBef>
                <a:spcPts val="500"/>
              </a:spcBef>
              <a:spcAft>
                <a:spcPts val="0"/>
              </a:spcAft>
              <a:buClr>
                <a:schemeClr val="accent1"/>
              </a:buClr>
              <a:buSzPts val="1300"/>
              <a:buFont typeface="Arial"/>
              <a:buChar char="◉"/>
            </a:pPr>
            <a:r>
              <a:rPr b="1" i="0" lang="en" sz="1400" u="none" cap="none" strike="noStrike">
                <a:solidFill>
                  <a:srgbClr val="000000"/>
                </a:solidFill>
                <a:highlight>
                  <a:srgbClr val="FFFFFF"/>
                </a:highlight>
                <a:latin typeface="Quattrocento Sans"/>
                <a:ea typeface="Quattrocento Sans"/>
                <a:cs typeface="Quattrocento Sans"/>
                <a:sym typeface="Quattrocento Sans"/>
              </a:rPr>
              <a:t>Prediction</a:t>
            </a:r>
            <a:r>
              <a:rPr b="0" i="0" lang="en" sz="1300" u="none" cap="none" strike="noStrike">
                <a:solidFill>
                  <a:srgbClr val="000000"/>
                </a:solidFill>
                <a:highlight>
                  <a:srgbClr val="FFFFFF"/>
                </a:highlight>
                <a:latin typeface="Quattrocento Sans"/>
                <a:ea typeface="Quattrocento Sans"/>
                <a:cs typeface="Quattrocento Sans"/>
                <a:sym typeface="Quattrocento Sans"/>
              </a:rPr>
              <a:t> – use model for future cases</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15000"/>
              </a:lnSpc>
              <a:spcBef>
                <a:spcPts val="50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500"/>
              </a:spcBef>
              <a:spcAft>
                <a:spcPts val="0"/>
              </a:spcAft>
              <a:buClr>
                <a:srgbClr val="000000"/>
              </a:buClr>
              <a:buSzPts val="1300"/>
              <a:buFont typeface="Arial"/>
              <a:buNone/>
            </a:pPr>
            <a:r>
              <a:t/>
            </a:r>
            <a:endParaRPr b="0" i="0" sz="4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t/>
            </a:r>
            <a:endParaRPr b="0" i="0" sz="8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300"/>
              </a:spcAft>
              <a:buClr>
                <a:srgbClr val="000000"/>
              </a:buClr>
              <a:buSzPts val="1300"/>
              <a:buFont typeface="Arial"/>
              <a:buNone/>
            </a:pPr>
            <a:r>
              <a:t/>
            </a:r>
            <a:endParaRPr b="0" i="0" sz="12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cxnSp>
        <p:nvCxnSpPr>
          <p:cNvPr id="187" name="Google Shape;187;g3dd637020ec_0_327"/>
          <p:cNvCxnSpPr/>
          <p:nvPr/>
        </p:nvCxnSpPr>
        <p:spPr>
          <a:xfrm>
            <a:off x="6450" y="1428750"/>
            <a:ext cx="2397300" cy="0"/>
          </a:xfrm>
          <a:prstGeom prst="straightConnector1">
            <a:avLst/>
          </a:prstGeom>
          <a:noFill/>
          <a:ln cap="flat" cmpd="sng" w="9525">
            <a:solidFill>
              <a:srgbClr val="CCCCCC"/>
            </a:solidFill>
            <a:prstDash val="solid"/>
            <a:round/>
            <a:headEnd len="sm" w="sm" type="none"/>
            <a:tailEnd len="sm" w="sm" type="none"/>
          </a:ln>
        </p:spPr>
      </p:cxnSp>
      <p:sp>
        <p:nvSpPr>
          <p:cNvPr id="188" name="Google Shape;188;g3dd637020ec_0_327"/>
          <p:cNvSpPr txBox="1"/>
          <p:nvPr>
            <p:ph idx="4294967295" type="ctrTitle"/>
          </p:nvPr>
        </p:nvSpPr>
        <p:spPr>
          <a:xfrm>
            <a:off x="2371625" y="816550"/>
            <a:ext cx="6105600" cy="1159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600"/>
              </a:spcBef>
              <a:spcAft>
                <a:spcPts val="0"/>
              </a:spcAft>
              <a:buClr>
                <a:schemeClr val="dk1"/>
              </a:buClr>
              <a:buSzPts val="1100"/>
              <a:buFont typeface="Arial"/>
              <a:buNone/>
            </a:pPr>
            <a:r>
              <a:rPr b="1" i="1" lang="en" sz="2000" u="none" cap="none" strike="noStrike">
                <a:solidFill>
                  <a:schemeClr val="dk1"/>
                </a:solidFill>
                <a:latin typeface="Lora"/>
                <a:ea typeface="Lora"/>
                <a:cs typeface="Lora"/>
                <a:sym typeface="Lora"/>
              </a:rPr>
              <a:t>Question?</a:t>
            </a:r>
            <a:endParaRPr b="1" i="0" sz="4400" u="none" cap="none" strike="noStrike">
              <a:solidFill>
                <a:schemeClr val="dk1"/>
              </a:solidFill>
              <a:latin typeface="Lora"/>
              <a:ea typeface="Lora"/>
              <a:cs typeface="Lora"/>
              <a:sym typeface="Lora"/>
            </a:endParaRPr>
          </a:p>
        </p:txBody>
      </p:sp>
      <p:cxnSp>
        <p:nvCxnSpPr>
          <p:cNvPr id="189" name="Google Shape;189;g3dd637020ec_0_327"/>
          <p:cNvCxnSpPr/>
          <p:nvPr/>
        </p:nvCxnSpPr>
        <p:spPr>
          <a:xfrm>
            <a:off x="7972425" y="1428750"/>
            <a:ext cx="1171500" cy="0"/>
          </a:xfrm>
          <a:prstGeom prst="straightConnector1">
            <a:avLst/>
          </a:prstGeom>
          <a:noFill/>
          <a:ln cap="flat" cmpd="sng" w="9525">
            <a:solidFill>
              <a:srgbClr val="CCCCCC"/>
            </a:solidFill>
            <a:prstDash val="solid"/>
            <a:round/>
            <a:headEnd len="sm" w="sm" type="none"/>
            <a:tailEnd len="sm" w="sm" type="none"/>
          </a:ln>
        </p:spPr>
      </p:cxnSp>
      <p:sp>
        <p:nvSpPr>
          <p:cNvPr id="190" name="Google Shape;190;g3dd637020ec_0_327"/>
          <p:cNvSpPr/>
          <p:nvPr/>
        </p:nvSpPr>
        <p:spPr>
          <a:xfrm>
            <a:off x="831925" y="859175"/>
            <a:ext cx="1139100" cy="1139100"/>
          </a:xfrm>
          <a:prstGeom prst="ellipse">
            <a:avLst/>
          </a:prstGeom>
          <a:solidFill>
            <a:srgbClr val="FFC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g3dd637020ec_0_327"/>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pSp>
        <p:nvGrpSpPr>
          <p:cNvPr id="192" name="Google Shape;192;g3dd637020ec_0_327"/>
          <p:cNvGrpSpPr/>
          <p:nvPr/>
        </p:nvGrpSpPr>
        <p:grpSpPr>
          <a:xfrm>
            <a:off x="1209506" y="1124425"/>
            <a:ext cx="383935" cy="608659"/>
            <a:chOff x="6718575" y="2318625"/>
            <a:chExt cx="256950" cy="407375"/>
          </a:xfrm>
        </p:grpSpPr>
        <p:sp>
          <p:nvSpPr>
            <p:cNvPr id="193" name="Google Shape;193;g3dd637020ec_0_327"/>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194" name="Google Shape;194;g3dd637020ec_0_327"/>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195" name="Google Shape;195;g3dd637020ec_0_327"/>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196" name="Google Shape;196;g3dd637020ec_0_327"/>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197" name="Google Shape;197;g3dd637020ec_0_327"/>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198" name="Google Shape;198;g3dd637020ec_0_327"/>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199" name="Google Shape;199;g3dd637020ec_0_327"/>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200" name="Google Shape;200;g3dd637020ec_0_327"/>
            <p:cNvSpPr/>
            <p:nvPr/>
          </p:nvSpPr>
          <p:spPr>
            <a:xfrm>
              <a:off x="6795900" y="2628550"/>
              <a:ext cx="102300" cy="25"/>
            </a:xfrm>
            <a:custGeom>
              <a:rect b="b" l="l" r="r" t="t"/>
              <a:pathLst>
                <a:path extrusionOk="0" fill="none" h="1" w="4092">
                  <a:moveTo>
                    <a:pt x="0" y="1"/>
                  </a:moveTo>
                  <a:lnTo>
                    <a:pt x="4092" y="1"/>
                  </a:lnTo>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dd637020ec_0_396"/>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From Biological to Artificial Neurons</a:t>
            </a:r>
            <a:endParaRPr>
              <a:highlight>
                <a:schemeClr val="accent1"/>
              </a:highlight>
            </a:endParaRPr>
          </a:p>
        </p:txBody>
      </p:sp>
      <p:grpSp>
        <p:nvGrpSpPr>
          <p:cNvPr id="206" name="Google Shape;206;g3dd637020ec_0_396"/>
          <p:cNvGrpSpPr/>
          <p:nvPr/>
        </p:nvGrpSpPr>
        <p:grpSpPr>
          <a:xfrm>
            <a:off x="916458" y="1019750"/>
            <a:ext cx="214625" cy="214625"/>
            <a:chOff x="2594050" y="1631825"/>
            <a:chExt cx="439625" cy="439625"/>
          </a:xfrm>
        </p:grpSpPr>
        <p:sp>
          <p:nvSpPr>
            <p:cNvPr id="207" name="Google Shape;207;g3dd637020ec_0_396"/>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3dd637020ec_0_396"/>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g3dd637020ec_0_396"/>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3dd637020ec_0_396"/>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1" name="Google Shape;211;g3dd637020ec_0_396"/>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12" name="Google Shape;212;g3dd637020ec_0_396" title="Screen Shot 2025-09-24 at 6.14.54 PM.png"/>
          <p:cNvPicPr preferRelativeResize="0"/>
          <p:nvPr/>
        </p:nvPicPr>
        <p:blipFill rotWithShape="1">
          <a:blip r:embed="rId3">
            <a:alphaModFix/>
          </a:blip>
          <a:srcRect b="0" l="0" r="0" t="0"/>
          <a:stretch/>
        </p:blipFill>
        <p:spPr>
          <a:xfrm>
            <a:off x="4774450" y="2784950"/>
            <a:ext cx="3991251" cy="1794776"/>
          </a:xfrm>
          <a:prstGeom prst="rect">
            <a:avLst/>
          </a:prstGeom>
          <a:noFill/>
          <a:ln>
            <a:noFill/>
          </a:ln>
        </p:spPr>
      </p:pic>
      <p:sp>
        <p:nvSpPr>
          <p:cNvPr id="213" name="Google Shape;213;g3dd637020ec_0_396"/>
          <p:cNvSpPr txBox="1"/>
          <p:nvPr/>
        </p:nvSpPr>
        <p:spPr>
          <a:xfrm>
            <a:off x="684275" y="1547800"/>
            <a:ext cx="7284000" cy="3427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1300" u="none" cap="none" strike="noStrike">
                <a:solidFill>
                  <a:schemeClr val="dk1"/>
                </a:solidFill>
                <a:highlight>
                  <a:schemeClr val="lt1"/>
                </a:highlight>
                <a:latin typeface="Quattrocento Sans"/>
                <a:ea typeface="Quattrocento Sans"/>
                <a:cs typeface="Quattrocento Sans"/>
                <a:sym typeface="Quattrocento Sans"/>
              </a:rPr>
              <a:t>A biological neuron consists of three primary components relevant to this abstraction:</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1" i="0" lang="en" sz="1200" u="none" cap="none" strike="noStrike">
                <a:solidFill>
                  <a:schemeClr val="dk1"/>
                </a:solidFill>
                <a:highlight>
                  <a:schemeClr val="lt1"/>
                </a:highlight>
                <a:latin typeface="Quattrocento Sans"/>
                <a:ea typeface="Quattrocento Sans"/>
                <a:cs typeface="Quattrocento Sans"/>
                <a:sym typeface="Quattrocento Sans"/>
              </a:rPr>
              <a:t>Dendrites:</a:t>
            </a:r>
            <a:r>
              <a:rPr b="0" i="0" lang="en" sz="1200" u="none" cap="none" strike="noStrike">
                <a:solidFill>
                  <a:schemeClr val="dk1"/>
                </a:solidFill>
                <a:highlight>
                  <a:schemeClr val="lt1"/>
                </a:highlight>
                <a:latin typeface="Quattrocento Sans"/>
                <a:ea typeface="Quattrocento Sans"/>
                <a:cs typeface="Quattrocento Sans"/>
                <a:sym typeface="Quattrocento Sans"/>
              </a:rPr>
              <a:t> </a:t>
            </a:r>
            <a:r>
              <a:rPr b="0" i="0" lang="en" sz="1100" u="none" cap="none" strike="noStrike">
                <a:solidFill>
                  <a:schemeClr val="dk1"/>
                </a:solidFill>
                <a:highlight>
                  <a:schemeClr val="lt1"/>
                </a:highlight>
                <a:latin typeface="Quattrocento Sans"/>
                <a:ea typeface="Quattrocento Sans"/>
                <a:cs typeface="Quattrocento Sans"/>
                <a:sym typeface="Quattrocento Sans"/>
              </a:rPr>
              <a:t>Receptors that accept input signals from various sources.</a:t>
            </a:r>
            <a:endParaRPr b="0" i="0" sz="1100" u="none" cap="none" strike="noStrike">
              <a:solidFill>
                <a:schemeClr val="dk1"/>
              </a:solidFill>
              <a:highlight>
                <a:schemeClr val="lt1"/>
              </a:highlight>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1" i="0" lang="en" sz="1200" u="none" cap="none" strike="noStrike">
                <a:solidFill>
                  <a:schemeClr val="dk1"/>
                </a:solidFill>
                <a:highlight>
                  <a:schemeClr val="lt1"/>
                </a:highlight>
                <a:latin typeface="Quattrocento Sans"/>
                <a:ea typeface="Quattrocento Sans"/>
                <a:cs typeface="Quattrocento Sans"/>
                <a:sym typeface="Quattrocento Sans"/>
              </a:rPr>
              <a:t>Nucleus (Cell Body):</a:t>
            </a:r>
            <a:r>
              <a:rPr b="0" i="0" lang="en" sz="1200" u="none" cap="none" strike="noStrike">
                <a:solidFill>
                  <a:schemeClr val="dk1"/>
                </a:solidFill>
                <a:highlight>
                  <a:schemeClr val="lt1"/>
                </a:highlight>
                <a:latin typeface="Quattrocento Sans"/>
                <a:ea typeface="Quattrocento Sans"/>
                <a:cs typeface="Quattrocento Sans"/>
                <a:sym typeface="Quattrocento Sans"/>
              </a:rPr>
              <a:t> </a:t>
            </a:r>
            <a:r>
              <a:rPr b="0" i="0" lang="en" sz="1100" u="none" cap="none" strike="noStrike">
                <a:solidFill>
                  <a:schemeClr val="dk1"/>
                </a:solidFill>
                <a:highlight>
                  <a:schemeClr val="lt1"/>
                </a:highlight>
                <a:latin typeface="Quattrocento Sans"/>
                <a:ea typeface="Quattrocento Sans"/>
                <a:cs typeface="Quattrocento Sans"/>
                <a:sym typeface="Quattrocento Sans"/>
              </a:rPr>
              <a:t>The central processing unit where incoming signals are aggregated.</a:t>
            </a:r>
            <a:endParaRPr b="0" i="0" sz="1100" u="none" cap="none" strike="noStrike">
              <a:solidFill>
                <a:schemeClr val="dk1"/>
              </a:solidFill>
              <a:highlight>
                <a:schemeClr val="lt1"/>
              </a:highlight>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1" i="0" lang="en" sz="1200" u="none" cap="none" strike="noStrike">
                <a:solidFill>
                  <a:schemeClr val="dk1"/>
                </a:solidFill>
                <a:highlight>
                  <a:schemeClr val="lt1"/>
                </a:highlight>
                <a:latin typeface="Quattrocento Sans"/>
                <a:ea typeface="Quattrocento Sans"/>
                <a:cs typeface="Quattrocento Sans"/>
                <a:sym typeface="Quattrocento Sans"/>
              </a:rPr>
              <a:t>Axon: </a:t>
            </a:r>
            <a:r>
              <a:rPr b="0" i="0" lang="en" sz="1100" u="none" cap="none" strike="noStrike">
                <a:solidFill>
                  <a:schemeClr val="dk1"/>
                </a:solidFill>
                <a:highlight>
                  <a:schemeClr val="lt1"/>
                </a:highlight>
                <a:latin typeface="Quattrocento Sans"/>
                <a:ea typeface="Quattrocento Sans"/>
                <a:cs typeface="Quattrocento Sans"/>
                <a:sym typeface="Quattrocento Sans"/>
              </a:rPr>
              <a:t>The single output mechanism that transmits the processed signal to the dendrites of subsequent neurons.</a:t>
            </a:r>
            <a:endParaRPr b="0" i="0" sz="11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300"/>
              <a:buFont typeface="Arial"/>
              <a:buNone/>
            </a:pPr>
            <a:r>
              <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300"/>
              <a:buFont typeface="Arial"/>
              <a:buNone/>
            </a:pPr>
            <a:r>
              <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300"/>
              <a:buFont typeface="Arial"/>
              <a:buNone/>
            </a:pPr>
            <a:r>
              <a:rPr b="0" i="0" lang="en" sz="1300" u="none" cap="none" strike="noStrike">
                <a:solidFill>
                  <a:schemeClr val="dk1"/>
                </a:solidFill>
                <a:highlight>
                  <a:schemeClr val="lt1"/>
                </a:highlight>
                <a:latin typeface="Quattrocento Sans"/>
                <a:ea typeface="Quattrocento Sans"/>
                <a:cs typeface="Quattrocento Sans"/>
                <a:sym typeface="Quattrocento Sans"/>
              </a:rPr>
              <a:t>Inspired by biological neurons (McCulloch-Pitts 1943).</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1" i="0" lang="en" sz="1200" u="none" cap="none" strike="noStrike">
                <a:solidFill>
                  <a:schemeClr val="dk1"/>
                </a:solidFill>
                <a:highlight>
                  <a:schemeClr val="lt1"/>
                </a:highlight>
                <a:latin typeface="Quattrocento Sans"/>
                <a:ea typeface="Quattrocento Sans"/>
                <a:cs typeface="Quattrocento Sans"/>
                <a:sym typeface="Quattrocento Sans"/>
              </a:rPr>
              <a:t>Inputs (features)</a:t>
            </a:r>
            <a:r>
              <a:rPr b="0" i="0" lang="en" sz="1200" u="none" cap="none" strike="noStrike">
                <a:solidFill>
                  <a:schemeClr val="dk1"/>
                </a:solidFill>
                <a:highlight>
                  <a:schemeClr val="lt1"/>
                </a:highlight>
                <a:latin typeface="Quattrocento Sans"/>
                <a:ea typeface="Quattrocento Sans"/>
                <a:cs typeface="Quattrocento Sans"/>
                <a:sym typeface="Quattrocento Sans"/>
              </a:rPr>
              <a:t> come in.</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0" i="0" lang="en" sz="1200" u="none" cap="none" strike="noStrike">
                <a:solidFill>
                  <a:schemeClr val="dk1"/>
                </a:solidFill>
                <a:highlight>
                  <a:schemeClr val="lt1"/>
                </a:highlight>
                <a:latin typeface="Quattrocento Sans"/>
                <a:ea typeface="Quattrocento Sans"/>
                <a:cs typeface="Quattrocento Sans"/>
                <a:sym typeface="Quattrocento Sans"/>
              </a:rPr>
              <a:t>Each input has a </a:t>
            </a:r>
            <a:r>
              <a:rPr b="1" i="0" lang="en" sz="1200" u="none" cap="none" strike="noStrike">
                <a:solidFill>
                  <a:schemeClr val="dk1"/>
                </a:solidFill>
                <a:highlight>
                  <a:schemeClr val="lt1"/>
                </a:highlight>
                <a:latin typeface="Quattrocento Sans"/>
                <a:ea typeface="Quattrocento Sans"/>
                <a:cs typeface="Quattrocento Sans"/>
                <a:sym typeface="Quattrocento Sans"/>
              </a:rPr>
              <a:t>weight</a:t>
            </a:r>
            <a:r>
              <a:rPr b="0" i="0" lang="en" sz="1200" u="none" cap="none" strike="noStrike">
                <a:solidFill>
                  <a:schemeClr val="dk1"/>
                </a:solidFill>
                <a:highlight>
                  <a:schemeClr val="lt1"/>
                </a:highlight>
                <a:latin typeface="Quattrocento Sans"/>
                <a:ea typeface="Quattrocento Sans"/>
                <a:cs typeface="Quattrocento Sans"/>
                <a:sym typeface="Quattrocento Sans"/>
              </a:rPr>
              <a:t> (importance).</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0" i="0" lang="en" sz="1200" u="none" cap="none" strike="noStrike">
                <a:solidFill>
                  <a:schemeClr val="dk1"/>
                </a:solidFill>
                <a:highlight>
                  <a:schemeClr val="lt1"/>
                </a:highlight>
                <a:latin typeface="Quattrocento Sans"/>
                <a:ea typeface="Quattrocento Sans"/>
                <a:cs typeface="Quattrocento Sans"/>
                <a:sym typeface="Quattrocento Sans"/>
              </a:rPr>
              <a:t>All inputs are combined (a </a:t>
            </a:r>
            <a:r>
              <a:rPr b="1" i="0" lang="en" sz="1200" u="none" cap="none" strike="noStrike">
                <a:solidFill>
                  <a:schemeClr val="dk1"/>
                </a:solidFill>
                <a:highlight>
                  <a:schemeClr val="lt1"/>
                </a:highlight>
                <a:latin typeface="Quattrocento Sans"/>
                <a:ea typeface="Quattrocento Sans"/>
                <a:cs typeface="Quattrocento Sans"/>
                <a:sym typeface="Quattrocento Sans"/>
              </a:rPr>
              <a:t>weighted sum</a:t>
            </a:r>
            <a:r>
              <a:rPr b="0" i="0" lang="en" sz="1200" u="none" cap="none" strike="noStrike">
                <a:solidFill>
                  <a:schemeClr val="dk1"/>
                </a:solidFill>
                <a:highlight>
                  <a:schemeClr val="lt1"/>
                </a:highlight>
                <a:latin typeface="Quattrocento Sans"/>
                <a:ea typeface="Quattrocento Sans"/>
                <a:cs typeface="Quattrocento Sans"/>
                <a:sym typeface="Quattrocento Sans"/>
              </a:rPr>
              <a:t>).</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0" i="0" lang="en" sz="1200" u="none" cap="none" strike="noStrike">
                <a:solidFill>
                  <a:schemeClr val="dk1"/>
                </a:solidFill>
                <a:highlight>
                  <a:schemeClr val="lt1"/>
                </a:highlight>
                <a:latin typeface="Quattrocento Sans"/>
                <a:ea typeface="Quattrocento Sans"/>
                <a:cs typeface="Quattrocento Sans"/>
                <a:sym typeface="Quattrocento Sans"/>
              </a:rPr>
              <a:t>An </a:t>
            </a:r>
            <a:r>
              <a:rPr b="1" i="0" lang="en" sz="1200" u="none" cap="none" strike="noStrike">
                <a:solidFill>
                  <a:schemeClr val="dk1"/>
                </a:solidFill>
                <a:highlight>
                  <a:schemeClr val="lt1"/>
                </a:highlight>
                <a:latin typeface="Quattrocento Sans"/>
                <a:ea typeface="Quattrocento Sans"/>
                <a:cs typeface="Quattrocento Sans"/>
                <a:sym typeface="Quattrocento Sans"/>
              </a:rPr>
              <a:t>activation function</a:t>
            </a:r>
            <a:r>
              <a:rPr b="0" i="0" lang="en" sz="1200" u="none" cap="none" strike="noStrike">
                <a:solidFill>
                  <a:schemeClr val="dk1"/>
                </a:solidFill>
                <a:highlight>
                  <a:schemeClr val="lt1"/>
                </a:highlight>
                <a:latin typeface="Quattrocento Sans"/>
                <a:ea typeface="Quattrocento Sans"/>
                <a:cs typeface="Quattrocento Sans"/>
                <a:sym typeface="Quattrocento Sans"/>
              </a:rPr>
              <a:t> decides the output.</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400"/>
              <a:buFont typeface="Arial"/>
              <a:buNone/>
            </a:pPr>
            <a:r>
              <a:t/>
            </a:r>
            <a:endParaRPr b="1" i="0" sz="14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500"/>
              </a:spcBef>
              <a:spcAft>
                <a:spcPts val="0"/>
              </a:spcAft>
              <a:buClr>
                <a:srgbClr val="000000"/>
              </a:buClr>
              <a:buSzPts val="1300"/>
              <a:buFont typeface="Arial"/>
              <a:buNone/>
            </a:pPr>
            <a:r>
              <a:t/>
            </a:r>
            <a:endParaRPr b="0" i="0" sz="4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t/>
            </a:r>
            <a:endParaRPr b="0" i="0" sz="8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300"/>
              </a:spcAft>
              <a:buClr>
                <a:srgbClr val="000000"/>
              </a:buClr>
              <a:buSzPts val="1300"/>
              <a:buFont typeface="Arial"/>
              <a:buNone/>
            </a:pPr>
            <a:r>
              <a:t/>
            </a:r>
            <a:endParaRPr b="0" i="0" sz="12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dd637020ec_0_12"/>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2000"/>
              <a:buFont typeface="Arial"/>
              <a:buNone/>
            </a:pPr>
            <a:r>
              <a:rPr lang="en"/>
              <a:t>Single Artificial Neuron/Perceptron</a:t>
            </a:r>
            <a:endParaRPr>
              <a:highlight>
                <a:schemeClr val="accent1"/>
              </a:highlight>
            </a:endParaRPr>
          </a:p>
        </p:txBody>
      </p:sp>
      <p:grpSp>
        <p:nvGrpSpPr>
          <p:cNvPr id="219" name="Google Shape;219;g3dd637020ec_0_12"/>
          <p:cNvGrpSpPr/>
          <p:nvPr/>
        </p:nvGrpSpPr>
        <p:grpSpPr>
          <a:xfrm>
            <a:off x="916458" y="1019750"/>
            <a:ext cx="214625" cy="214625"/>
            <a:chOff x="2594050" y="1631825"/>
            <a:chExt cx="439625" cy="439625"/>
          </a:xfrm>
        </p:grpSpPr>
        <p:sp>
          <p:nvSpPr>
            <p:cNvPr id="220" name="Google Shape;220;g3dd637020ec_0_12"/>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3dd637020ec_0_12"/>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3dd637020ec_0_12"/>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g3dd637020ec_0_12"/>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4" name="Google Shape;224;g3dd637020ec_0_12"/>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225" name="Google Shape;225;g3dd637020ec_0_12"/>
          <p:cNvSpPr txBox="1"/>
          <p:nvPr/>
        </p:nvSpPr>
        <p:spPr>
          <a:xfrm>
            <a:off x="684275" y="1547800"/>
            <a:ext cx="7751700" cy="3427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Quattrocento Sans"/>
                <a:ea typeface="Quattrocento Sans"/>
                <a:cs typeface="Quattrocento Sans"/>
                <a:sym typeface="Quattrocento Sans"/>
              </a:rPr>
              <a:t>The Perceptron Idea: </a:t>
            </a:r>
            <a:endParaRPr b="0" i="0" sz="1400" u="none" cap="none" strike="noStrike">
              <a:solidFill>
                <a:schemeClr val="dk1"/>
              </a:solidFill>
              <a:highlight>
                <a:schemeClr val="lt1"/>
              </a:highlight>
              <a:latin typeface="Quattrocento Sans"/>
              <a:ea typeface="Quattrocento Sans"/>
              <a:cs typeface="Quattrocento Sans"/>
              <a:sym typeface="Quattrocento Sans"/>
            </a:endParaRPr>
          </a:p>
          <a:p>
            <a:pPr indent="-190500" lvl="0" marL="342900" marR="0" rtl="0" algn="l">
              <a:lnSpc>
                <a:spcPct val="115000"/>
              </a:lnSpc>
              <a:spcBef>
                <a:spcPts val="800"/>
              </a:spcBef>
              <a:spcAft>
                <a:spcPts val="0"/>
              </a:spcAft>
              <a:buClr>
                <a:schemeClr val="accent1"/>
              </a:buClr>
              <a:buSzPts val="1200"/>
              <a:buFont typeface="Arial"/>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Designed by Frank Rosenblatt (1957).</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190500" lvl="0" marL="342900" marR="0" rtl="0" algn="l">
              <a:lnSpc>
                <a:spcPct val="115000"/>
              </a:lnSpc>
              <a:spcBef>
                <a:spcPts val="300"/>
              </a:spcBef>
              <a:spcAft>
                <a:spcPts val="0"/>
              </a:spcAft>
              <a:buClr>
                <a:schemeClr val="accent1"/>
              </a:buClr>
              <a:buSzPts val="1200"/>
              <a:buFont typeface="Arial"/>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A single perceptron receives numerical inputs, applies a transformation, and produces an output. </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190500" lvl="0" marL="342900" marR="0" rtl="0" algn="l">
              <a:lnSpc>
                <a:spcPct val="115000"/>
              </a:lnSpc>
              <a:spcBef>
                <a:spcPts val="300"/>
              </a:spcBef>
              <a:spcAft>
                <a:spcPts val="0"/>
              </a:spcAft>
              <a:buClr>
                <a:schemeClr val="accent1"/>
              </a:buClr>
              <a:buSzPts val="1200"/>
              <a:buFont typeface="Arial"/>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To allow the model to learn, these inputs are modified by weights and a bias.</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190500" lvl="0" marL="342900" marR="0" rtl="0" algn="l">
              <a:lnSpc>
                <a:spcPct val="115000"/>
              </a:lnSpc>
              <a:spcBef>
                <a:spcPts val="0"/>
              </a:spcBef>
              <a:spcAft>
                <a:spcPts val="0"/>
              </a:spcAft>
              <a:buClr>
                <a:schemeClr val="accent1"/>
              </a:buClr>
              <a:buSzPts val="1200"/>
              <a:buFont typeface="Arial"/>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Automatically adjusts weights based on mistakes &amp; learn the optimal weight  </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190500" lvl="0" marL="342900" marR="0" rtl="0" algn="l">
              <a:lnSpc>
                <a:spcPct val="115000"/>
              </a:lnSpc>
              <a:spcBef>
                <a:spcPts val="300"/>
              </a:spcBef>
              <a:spcAft>
                <a:spcPts val="0"/>
              </a:spcAft>
              <a:buClr>
                <a:schemeClr val="accent1"/>
              </a:buClr>
              <a:buSzPts val="1200"/>
              <a:buFont typeface="Arial"/>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Good for classification.</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300"/>
              <a:buFont typeface="Arial"/>
              <a:buNone/>
            </a:pPr>
            <a:r>
              <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300"/>
              <a:buFont typeface="Arial"/>
              <a:buNone/>
            </a:pPr>
            <a:r>
              <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300"/>
              <a:buFont typeface="Arial"/>
              <a:buNone/>
            </a:pPr>
            <a:r>
              <a:rPr b="0" i="0" lang="en" sz="1300" u="none" cap="none" strike="noStrike">
                <a:solidFill>
                  <a:schemeClr val="dk1"/>
                </a:solidFill>
                <a:highlight>
                  <a:schemeClr val="lt1"/>
                </a:highlight>
                <a:latin typeface="Quattrocento Sans"/>
                <a:ea typeface="Quattrocento Sans"/>
                <a:cs typeface="Quattrocento Sans"/>
                <a:sym typeface="Quattrocento Sans"/>
              </a:rPr>
              <a:t>Despite initial computational limitations that led to an "AI Winter," modern computational power has made the perceptron the building block of contemporary deep learning.</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400"/>
              <a:buFont typeface="Arial"/>
              <a:buNone/>
            </a:pPr>
            <a:r>
              <a:t/>
            </a:r>
            <a:endParaRPr b="1" i="0" sz="14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500"/>
              </a:spcBef>
              <a:spcAft>
                <a:spcPts val="0"/>
              </a:spcAft>
              <a:buClr>
                <a:srgbClr val="000000"/>
              </a:buClr>
              <a:buSzPts val="1300"/>
              <a:buFont typeface="Arial"/>
              <a:buNone/>
            </a:pPr>
            <a:r>
              <a:t/>
            </a:r>
            <a:endParaRPr b="0" i="0" sz="4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t/>
            </a:r>
            <a:endParaRPr b="0" i="0" sz="8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300"/>
              </a:spcAft>
              <a:buClr>
                <a:srgbClr val="000000"/>
              </a:buClr>
              <a:buSzPts val="1300"/>
              <a:buFont typeface="Arial"/>
              <a:buNone/>
            </a:pPr>
            <a:r>
              <a:t/>
            </a:r>
            <a:endParaRPr b="0" i="0" sz="12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dd637020ec_0_344"/>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From Biological to Artificial Neurons</a:t>
            </a:r>
            <a:endParaRPr>
              <a:highlight>
                <a:schemeClr val="accent1"/>
              </a:highlight>
            </a:endParaRPr>
          </a:p>
        </p:txBody>
      </p:sp>
      <p:grpSp>
        <p:nvGrpSpPr>
          <p:cNvPr id="231" name="Google Shape;231;g3dd637020ec_0_344"/>
          <p:cNvGrpSpPr/>
          <p:nvPr/>
        </p:nvGrpSpPr>
        <p:grpSpPr>
          <a:xfrm>
            <a:off x="916458" y="1019750"/>
            <a:ext cx="214625" cy="214625"/>
            <a:chOff x="2594050" y="1631825"/>
            <a:chExt cx="439625" cy="439625"/>
          </a:xfrm>
        </p:grpSpPr>
        <p:sp>
          <p:nvSpPr>
            <p:cNvPr id="232" name="Google Shape;232;g3dd637020ec_0_344"/>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3dd637020ec_0_344"/>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3dd637020ec_0_344"/>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3dd637020ec_0_344"/>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6" name="Google Shape;236;g3dd637020ec_0_344"/>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37" name="Google Shape;237;g3dd637020ec_0_344" title="Screen Shot 2026-04-07 at 12.39.33 AM.png"/>
          <p:cNvPicPr preferRelativeResize="0"/>
          <p:nvPr/>
        </p:nvPicPr>
        <p:blipFill rotWithShape="1">
          <a:blip r:embed="rId3">
            <a:alphaModFix/>
          </a:blip>
          <a:srcRect b="0" l="0" r="0" t="0"/>
          <a:stretch/>
        </p:blipFill>
        <p:spPr>
          <a:xfrm>
            <a:off x="1051975" y="1773400"/>
            <a:ext cx="6558375" cy="2664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dd637020ec_0_24"/>
          <p:cNvSpPr txBox="1"/>
          <p:nvPr>
            <p:ph type="title"/>
          </p:nvPr>
        </p:nvSpPr>
        <p:spPr>
          <a:xfrm>
            <a:off x="1381250" y="896100"/>
            <a:ext cx="688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Single Artificial Neuron/Perceptron - Math Notation</a:t>
            </a:r>
            <a:endParaRPr>
              <a:highlight>
                <a:schemeClr val="accent1"/>
              </a:highlight>
            </a:endParaRPr>
          </a:p>
        </p:txBody>
      </p:sp>
      <p:grpSp>
        <p:nvGrpSpPr>
          <p:cNvPr id="243" name="Google Shape;243;g3dd637020ec_0_24"/>
          <p:cNvGrpSpPr/>
          <p:nvPr/>
        </p:nvGrpSpPr>
        <p:grpSpPr>
          <a:xfrm>
            <a:off x="916458" y="1019750"/>
            <a:ext cx="214625" cy="214625"/>
            <a:chOff x="2594050" y="1631825"/>
            <a:chExt cx="439625" cy="439625"/>
          </a:xfrm>
        </p:grpSpPr>
        <p:sp>
          <p:nvSpPr>
            <p:cNvPr id="244" name="Google Shape;244;g3dd637020ec_0_24"/>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g3dd637020ec_0_24"/>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3dd637020ec_0_24"/>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g3dd637020ec_0_24"/>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8" name="Google Shape;248;g3dd637020ec_0_24"/>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249" name="Google Shape;249;g3dd637020ec_0_24"/>
          <p:cNvSpPr txBox="1"/>
          <p:nvPr/>
        </p:nvSpPr>
        <p:spPr>
          <a:xfrm>
            <a:off x="684275" y="1547800"/>
            <a:ext cx="7796700" cy="3427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Quattrocento Sans"/>
                <a:ea typeface="Quattrocento Sans"/>
                <a:cs typeface="Quattrocento Sans"/>
                <a:sym typeface="Quattrocento Sans"/>
              </a:rPr>
              <a:t>Think of the artificial neuron as a </a:t>
            </a:r>
            <a:r>
              <a:rPr b="1" i="0" lang="en" sz="1400" u="none" cap="none" strike="noStrike">
                <a:solidFill>
                  <a:schemeClr val="dk1"/>
                </a:solidFill>
                <a:latin typeface="Quattrocento Sans"/>
                <a:ea typeface="Quattrocento Sans"/>
                <a:cs typeface="Quattrocento Sans"/>
                <a:sym typeface="Quattrocento Sans"/>
              </a:rPr>
              <a:t>yes/no decision maker</a:t>
            </a:r>
            <a:r>
              <a:rPr b="0" i="0" lang="en" sz="1400" u="none" cap="none" strike="noStrike">
                <a:solidFill>
                  <a:schemeClr val="dk1"/>
                </a:solidFill>
                <a:latin typeface="Quattrocento Sans"/>
                <a:ea typeface="Quattrocento Sans"/>
                <a:cs typeface="Quattrocento Sans"/>
                <a:sym typeface="Quattrocento Sans"/>
              </a:rPr>
              <a:t>:</a:t>
            </a:r>
            <a:endParaRPr b="1" i="0" sz="1400" u="none" cap="none" strike="noStrike">
              <a:solidFill>
                <a:schemeClr val="dk1"/>
              </a:solidFill>
              <a:highlight>
                <a:schemeClr val="lt1"/>
              </a:highlight>
              <a:latin typeface="Quattrocento Sans"/>
              <a:ea typeface="Quattrocento Sans"/>
              <a:cs typeface="Quattrocento Sans"/>
              <a:sym typeface="Quattrocento Sans"/>
            </a:endParaRPr>
          </a:p>
          <a:p>
            <a:pPr indent="-196850" lvl="0" marL="342900" marR="0" rtl="0" algn="l">
              <a:lnSpc>
                <a:spcPct val="115000"/>
              </a:lnSpc>
              <a:spcBef>
                <a:spcPts val="500"/>
              </a:spcBef>
              <a:spcAft>
                <a:spcPts val="0"/>
              </a:spcAft>
              <a:buClr>
                <a:schemeClr val="accent1"/>
              </a:buClr>
              <a:buSzPts val="1300"/>
              <a:buFont typeface="Arial"/>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Inputs (x):</a:t>
            </a:r>
            <a:r>
              <a:rPr b="0"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highlight>
                  <a:schemeClr val="lt1"/>
                </a:highlight>
                <a:latin typeface="Quattrocento Sans"/>
                <a:ea typeface="Quattrocento Sans"/>
                <a:cs typeface="Quattrocento Sans"/>
                <a:sym typeface="Quattrocento Sans"/>
              </a:rPr>
              <a:t>These are the pieces of information. </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96850" lvl="0" marL="342900" marR="0" rtl="0" algn="l">
              <a:lnSpc>
                <a:spcPct val="115000"/>
              </a:lnSpc>
              <a:spcBef>
                <a:spcPts val="1000"/>
              </a:spcBef>
              <a:spcAft>
                <a:spcPts val="0"/>
              </a:spcAft>
              <a:buClr>
                <a:schemeClr val="accent1"/>
              </a:buClr>
              <a:buSzPts val="1300"/>
              <a:buFont typeface="Arial"/>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Weights (w):</a:t>
            </a:r>
            <a:r>
              <a:rPr b="0"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highlight>
                  <a:schemeClr val="lt1"/>
                </a:highlight>
                <a:latin typeface="Quattrocento Sans"/>
                <a:ea typeface="Quattrocento Sans"/>
                <a:cs typeface="Quattrocento Sans"/>
                <a:sym typeface="Quattrocento Sans"/>
              </a:rPr>
              <a:t>Determine the strength or importance of a specific input. </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96850" lvl="0" marL="342900" marR="0" rtl="0" algn="l">
              <a:lnSpc>
                <a:spcPct val="115000"/>
              </a:lnSpc>
              <a:spcBef>
                <a:spcPts val="1000"/>
              </a:spcBef>
              <a:spcAft>
                <a:spcPts val="0"/>
              </a:spcAft>
              <a:buClr>
                <a:schemeClr val="accent1"/>
              </a:buClr>
              <a:buSzPts val="1300"/>
              <a:buFont typeface="Arial"/>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Bias (b):</a:t>
            </a:r>
            <a:r>
              <a:rPr b="0"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highlight>
                  <a:schemeClr val="lt1"/>
                </a:highlight>
                <a:latin typeface="Quattrocento Sans"/>
                <a:ea typeface="Quattrocento Sans"/>
                <a:cs typeface="Quattrocento Sans"/>
                <a:sym typeface="Quattrocento Sans"/>
              </a:rPr>
              <a:t>An offset value that acts as a threshold. </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0" lvl="0" marL="34290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highlight>
                  <a:schemeClr val="lt1"/>
                </a:highlight>
                <a:latin typeface="Quattrocento Sans"/>
                <a:ea typeface="Quattrocento Sans"/>
                <a:cs typeface="Quattrocento Sans"/>
                <a:sym typeface="Quattrocento Sans"/>
              </a:rPr>
              <a:t>The product of the inputs and weights must overcome this bias to have a significant effect on the output.</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96850" lvl="0" marL="342900" marR="0" rtl="0" algn="l">
              <a:lnSpc>
                <a:spcPct val="115000"/>
              </a:lnSpc>
              <a:spcBef>
                <a:spcPts val="1000"/>
              </a:spcBef>
              <a:spcAft>
                <a:spcPts val="0"/>
              </a:spcAft>
              <a:buClr>
                <a:schemeClr val="accent1"/>
              </a:buClr>
              <a:buSzPts val="1300"/>
              <a:buFont typeface="Arial"/>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Weighted Sum (Σ):</a:t>
            </a:r>
            <a:r>
              <a:rPr b="0"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highlight>
                  <a:schemeClr val="lt1"/>
                </a:highlight>
                <a:latin typeface="Quattrocento Sans"/>
                <a:ea typeface="Quattrocento Sans"/>
                <a:cs typeface="Quattrocento Sans"/>
                <a:sym typeface="Quattrocento Sans"/>
              </a:rPr>
              <a:t>Multiply inputs by weights and add them up. This gives a single score.</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0" lvl="0" marL="514350" marR="0" rtl="0" algn="l">
              <a:lnSpc>
                <a:spcPct val="115000"/>
              </a:lnSpc>
              <a:spcBef>
                <a:spcPts val="300"/>
              </a:spcBef>
              <a:spcAft>
                <a:spcPts val="0"/>
              </a:spcAft>
              <a:buClr>
                <a:srgbClr val="000000"/>
              </a:buClr>
              <a:buSzPts val="1100"/>
              <a:buFont typeface="Arial"/>
              <a:buNone/>
            </a:pPr>
            <a:r>
              <a:t/>
            </a:r>
            <a:endParaRPr b="0" i="0" sz="1100" u="none" cap="none" strike="noStrike">
              <a:solidFill>
                <a:schemeClr val="dk1"/>
              </a:solidFill>
              <a:highlight>
                <a:schemeClr val="lt1"/>
              </a:highlight>
              <a:latin typeface="Quattrocento Sans"/>
              <a:ea typeface="Quattrocento Sans"/>
              <a:cs typeface="Quattrocento Sans"/>
              <a:sym typeface="Quattrocento Sans"/>
            </a:endParaRPr>
          </a:p>
          <a:p>
            <a:pPr indent="114300" lvl="0" marL="4914900" marR="0" rtl="0" algn="l">
              <a:lnSpc>
                <a:spcPct val="115000"/>
              </a:lnSpc>
              <a:spcBef>
                <a:spcPts val="300"/>
              </a:spcBef>
              <a:spcAft>
                <a:spcPts val="0"/>
              </a:spcAft>
              <a:buClr>
                <a:srgbClr val="000000"/>
              </a:buClr>
              <a:buSzPts val="1200"/>
              <a:buFont typeface="Arial"/>
              <a:buNone/>
            </a:pPr>
            <a:r>
              <a:rPr b="0" i="0" lang="en" sz="1200" u="none" cap="none" strike="noStrike">
                <a:solidFill>
                  <a:schemeClr val="dk1"/>
                </a:solidFill>
                <a:highlight>
                  <a:schemeClr val="lt1"/>
                </a:highlight>
                <a:latin typeface="Quattrocento Sans"/>
                <a:ea typeface="Quattrocento Sans"/>
                <a:cs typeface="Quattrocento Sans"/>
                <a:sym typeface="Quattrocento Sans"/>
              </a:rPr>
              <a:t> </a:t>
            </a:r>
            <a:r>
              <a:rPr b="0" i="0" lang="en" sz="1400" u="none" cap="none" strike="noStrike">
                <a:solidFill>
                  <a:schemeClr val="dk1"/>
                </a:solidFill>
                <a:highlight>
                  <a:schemeClr val="lt1"/>
                </a:highlight>
                <a:latin typeface="Quattrocento Sans"/>
                <a:ea typeface="Quattrocento Sans"/>
                <a:cs typeface="Quattrocento Sans"/>
                <a:sym typeface="Quattrocento Sans"/>
              </a:rPr>
              <a:t>→</a:t>
            </a:r>
            <a:endParaRPr b="0" i="0" sz="1000" u="none" cap="none" strike="noStrike">
              <a:solidFill>
                <a:schemeClr val="dk1"/>
              </a:solidFill>
              <a:highlight>
                <a:schemeClr val="lt1"/>
              </a:highlight>
              <a:latin typeface="Quattrocento Sans"/>
              <a:ea typeface="Quattrocento Sans"/>
              <a:cs typeface="Quattrocento Sans"/>
              <a:sym typeface="Quattrocento Sans"/>
            </a:endParaRPr>
          </a:p>
          <a:p>
            <a:pPr indent="0" lvl="0" marL="514350" marR="0" rtl="0" algn="l">
              <a:lnSpc>
                <a:spcPct val="115000"/>
              </a:lnSpc>
              <a:spcBef>
                <a:spcPts val="300"/>
              </a:spcBef>
              <a:spcAft>
                <a:spcPts val="0"/>
              </a:spcAft>
              <a:buClr>
                <a:srgbClr val="000000"/>
              </a:buClr>
              <a:buSzPts val="100"/>
              <a:buFont typeface="Arial"/>
              <a:buNone/>
            </a:pPr>
            <a:r>
              <a:t/>
            </a:r>
            <a:endParaRPr b="0" i="0" sz="100" u="none" cap="none" strike="noStrike">
              <a:solidFill>
                <a:schemeClr val="dk1"/>
              </a:solidFill>
              <a:highlight>
                <a:schemeClr val="lt1"/>
              </a:highlight>
              <a:latin typeface="Quattrocento Sans"/>
              <a:ea typeface="Quattrocento Sans"/>
              <a:cs typeface="Quattrocento Sans"/>
              <a:sym typeface="Quattrocento Sans"/>
            </a:endParaRPr>
          </a:p>
          <a:p>
            <a:pPr indent="-196850" lvl="0" marL="342900" marR="0" rtl="0" algn="l">
              <a:lnSpc>
                <a:spcPct val="115000"/>
              </a:lnSpc>
              <a:spcBef>
                <a:spcPts val="1000"/>
              </a:spcBef>
              <a:spcAft>
                <a:spcPts val="0"/>
              </a:spcAft>
              <a:buClr>
                <a:schemeClr val="accent1"/>
              </a:buClr>
              <a:buSzPts val="1300"/>
              <a:buFont typeface="Arial"/>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Activation Function: </a:t>
            </a:r>
            <a:endParaRPr b="1" i="0" sz="1300" u="none" cap="none" strike="noStrike">
              <a:solidFill>
                <a:schemeClr val="dk1"/>
              </a:solidFill>
              <a:highlight>
                <a:schemeClr val="lt1"/>
              </a:highlight>
              <a:latin typeface="Quattrocento Sans"/>
              <a:ea typeface="Quattrocento Sans"/>
              <a:cs typeface="Quattrocento Sans"/>
              <a:sym typeface="Quattrocento Sans"/>
            </a:endParaRPr>
          </a:p>
          <a:p>
            <a:pPr indent="0" lvl="0" marL="342900" marR="0" rtl="0" algn="l">
              <a:lnSpc>
                <a:spcPct val="115000"/>
              </a:lnSpc>
              <a:spcBef>
                <a:spcPts val="300"/>
              </a:spcBef>
              <a:spcAft>
                <a:spcPts val="0"/>
              </a:spcAft>
              <a:buClr>
                <a:srgbClr val="000000"/>
              </a:buClr>
              <a:buSzPts val="1200"/>
              <a:buFont typeface="Arial"/>
              <a:buNone/>
            </a:pPr>
            <a:r>
              <a:rPr b="0" i="0" lang="en" sz="1200" u="none" cap="none" strike="noStrike">
                <a:solidFill>
                  <a:schemeClr val="dk1"/>
                </a:solidFill>
                <a:highlight>
                  <a:schemeClr val="lt1"/>
                </a:highlight>
                <a:latin typeface="Quattrocento Sans"/>
                <a:ea typeface="Quattrocento Sans"/>
                <a:cs typeface="Quattrocento Sans"/>
                <a:sym typeface="Quattrocento Sans"/>
              </a:rPr>
              <a:t>If score passes a certain threshold, the neuron “fires” → outputs 1, otherwise 0</a:t>
            </a:r>
            <a:r>
              <a:rPr b="0" i="0" lang="en" sz="1300" u="none" cap="none" strike="noStrike">
                <a:solidFill>
                  <a:schemeClr val="dk1"/>
                </a:solidFill>
                <a:highlight>
                  <a:schemeClr val="lt1"/>
                </a:highlight>
                <a:latin typeface="Quattrocento Sans"/>
                <a:ea typeface="Quattrocento Sans"/>
                <a:cs typeface="Quattrocento Sans"/>
                <a:sym typeface="Quattrocento Sans"/>
              </a:rPr>
              <a:t>.</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0" lvl="0" marL="514350" marR="0" rtl="0" algn="l">
              <a:lnSpc>
                <a:spcPct val="115000"/>
              </a:lnSpc>
              <a:spcBef>
                <a:spcPts val="300"/>
              </a:spcBef>
              <a:spcAft>
                <a:spcPts val="0"/>
              </a:spcAft>
              <a:buClr>
                <a:srgbClr val="000000"/>
              </a:buClr>
              <a:buSzPts val="1300"/>
              <a:buFont typeface="Arial"/>
              <a:buNone/>
            </a:pPr>
            <a:r>
              <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400"/>
              <a:buFont typeface="Arial"/>
              <a:buNone/>
            </a:pPr>
            <a:r>
              <a:t/>
            </a:r>
            <a:endParaRPr b="1" i="0" sz="14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500"/>
              </a:spcBef>
              <a:spcAft>
                <a:spcPts val="0"/>
              </a:spcAft>
              <a:buClr>
                <a:srgbClr val="000000"/>
              </a:buClr>
              <a:buSzPts val="1300"/>
              <a:buFont typeface="Arial"/>
              <a:buNone/>
            </a:pPr>
            <a:r>
              <a:t/>
            </a:r>
            <a:endParaRPr b="0" i="0" sz="4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t/>
            </a:r>
            <a:endParaRPr b="0" i="0" sz="8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300"/>
              </a:spcAft>
              <a:buClr>
                <a:srgbClr val="000000"/>
              </a:buClr>
              <a:buSzPts val="1300"/>
              <a:buFont typeface="Arial"/>
              <a:buNone/>
            </a:pPr>
            <a:r>
              <a:t/>
            </a:r>
            <a:endParaRPr b="0" i="0" sz="1200" u="none" cap="none" strike="noStrike">
              <a:solidFill>
                <a:srgbClr val="000000"/>
              </a:solidFill>
              <a:latin typeface="Quattrocento Sans"/>
              <a:ea typeface="Quattrocento Sans"/>
              <a:cs typeface="Quattrocento Sans"/>
              <a:sym typeface="Quattrocento Sans"/>
            </a:endParaRPr>
          </a:p>
        </p:txBody>
      </p:sp>
      <p:pic>
        <p:nvPicPr>
          <p:cNvPr id="250" name="Google Shape;250;g3dd637020ec_0_24" title="Screen Shot 2025-09-24 at 6.33.13 PM.png"/>
          <p:cNvPicPr preferRelativeResize="0"/>
          <p:nvPr/>
        </p:nvPicPr>
        <p:blipFill rotWithShape="1">
          <a:blip r:embed="rId3">
            <a:alphaModFix/>
          </a:blip>
          <a:srcRect b="0" l="0" r="0" t="0"/>
          <a:stretch/>
        </p:blipFill>
        <p:spPr>
          <a:xfrm>
            <a:off x="2470098" y="3618499"/>
            <a:ext cx="2841276" cy="349500"/>
          </a:xfrm>
          <a:prstGeom prst="rect">
            <a:avLst/>
          </a:prstGeom>
          <a:noFill/>
          <a:ln>
            <a:noFill/>
          </a:ln>
        </p:spPr>
      </p:pic>
      <p:pic>
        <p:nvPicPr>
          <p:cNvPr id="251" name="Google Shape;251;g3dd637020ec_0_24" title="Screen Shot 2025-09-24 at 6.36.43 PM.png"/>
          <p:cNvPicPr preferRelativeResize="0"/>
          <p:nvPr/>
        </p:nvPicPr>
        <p:blipFill rotWithShape="1">
          <a:blip r:embed="rId4">
            <a:alphaModFix/>
          </a:blip>
          <a:srcRect b="0" l="54147" r="0" t="0"/>
          <a:stretch/>
        </p:blipFill>
        <p:spPr>
          <a:xfrm>
            <a:off x="6199928" y="1547796"/>
            <a:ext cx="685134" cy="592025"/>
          </a:xfrm>
          <a:prstGeom prst="rect">
            <a:avLst/>
          </a:prstGeom>
          <a:noFill/>
          <a:ln>
            <a:noFill/>
          </a:ln>
        </p:spPr>
      </p:pic>
      <p:pic>
        <p:nvPicPr>
          <p:cNvPr id="252" name="Google Shape;252;g3dd637020ec_0_24" title="Screen Shot 2025-09-24 at 6.36.43 PM.png"/>
          <p:cNvPicPr preferRelativeResize="0"/>
          <p:nvPr/>
        </p:nvPicPr>
        <p:blipFill rotWithShape="1">
          <a:blip r:embed="rId4">
            <a:alphaModFix/>
          </a:blip>
          <a:srcRect b="0" l="-142" r="54290" t="0"/>
          <a:stretch/>
        </p:blipFill>
        <p:spPr>
          <a:xfrm>
            <a:off x="6119978" y="2139819"/>
            <a:ext cx="685125" cy="592017"/>
          </a:xfrm>
          <a:prstGeom prst="rect">
            <a:avLst/>
          </a:prstGeom>
          <a:noFill/>
          <a:ln>
            <a:noFill/>
          </a:ln>
        </p:spPr>
      </p:pic>
      <p:pic>
        <p:nvPicPr>
          <p:cNvPr id="253" name="Google Shape;253;g3dd637020ec_0_24" title="Screen Shot 2025-09-24 at 6.56.24 PM.png"/>
          <p:cNvPicPr preferRelativeResize="0"/>
          <p:nvPr/>
        </p:nvPicPr>
        <p:blipFill rotWithShape="1">
          <a:blip r:embed="rId5">
            <a:alphaModFix/>
          </a:blip>
          <a:srcRect b="0" l="0" r="0" t="0"/>
          <a:stretch/>
        </p:blipFill>
        <p:spPr>
          <a:xfrm>
            <a:off x="6574074" y="4342916"/>
            <a:ext cx="1663516" cy="393600"/>
          </a:xfrm>
          <a:prstGeom prst="rect">
            <a:avLst/>
          </a:prstGeom>
          <a:noFill/>
          <a:ln>
            <a:noFill/>
          </a:ln>
        </p:spPr>
      </p:pic>
      <p:pic>
        <p:nvPicPr>
          <p:cNvPr id="254" name="Google Shape;254;g3dd637020ec_0_24" title="Screen Shot 2026-04-07 at 8.10.29 AM.png"/>
          <p:cNvPicPr preferRelativeResize="0"/>
          <p:nvPr/>
        </p:nvPicPr>
        <p:blipFill rotWithShape="1">
          <a:blip r:embed="rId6">
            <a:alphaModFix/>
          </a:blip>
          <a:srcRect b="0" l="0" r="0" t="1555"/>
          <a:stretch/>
        </p:blipFill>
        <p:spPr>
          <a:xfrm>
            <a:off x="6548224" y="3457825"/>
            <a:ext cx="1581951" cy="670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dd637020ec_0_416"/>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Single Artificial Neuron/Perceptron</a:t>
            </a:r>
            <a:endParaRPr>
              <a:highlight>
                <a:schemeClr val="accent1"/>
              </a:highlight>
            </a:endParaRPr>
          </a:p>
        </p:txBody>
      </p:sp>
      <p:grpSp>
        <p:nvGrpSpPr>
          <p:cNvPr id="260" name="Google Shape;260;g3dd637020ec_0_416"/>
          <p:cNvGrpSpPr/>
          <p:nvPr/>
        </p:nvGrpSpPr>
        <p:grpSpPr>
          <a:xfrm>
            <a:off x="916458" y="1019750"/>
            <a:ext cx="214625" cy="214625"/>
            <a:chOff x="2594050" y="1631825"/>
            <a:chExt cx="439625" cy="439625"/>
          </a:xfrm>
        </p:grpSpPr>
        <p:sp>
          <p:nvSpPr>
            <p:cNvPr id="261" name="Google Shape;261;g3dd637020ec_0_416"/>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3dd637020ec_0_416"/>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3dd637020ec_0_416"/>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3dd637020ec_0_416"/>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5" name="Google Shape;265;g3dd637020ec_0_416"/>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66" name="Google Shape;266;g3dd637020ec_0_416" title="0_Ib3_FfuOy04kOmfO.png"/>
          <p:cNvPicPr preferRelativeResize="0"/>
          <p:nvPr/>
        </p:nvPicPr>
        <p:blipFill rotWithShape="1">
          <a:blip r:embed="rId3">
            <a:alphaModFix/>
          </a:blip>
          <a:srcRect b="0" l="0" r="0" t="0"/>
          <a:stretch/>
        </p:blipFill>
        <p:spPr>
          <a:xfrm>
            <a:off x="1746950" y="1636500"/>
            <a:ext cx="5153133" cy="31133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dd637020ec_0_372"/>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Perceptron vs Linear Regression</a:t>
            </a:r>
            <a:endParaRPr>
              <a:highlight>
                <a:schemeClr val="accent1"/>
              </a:highlight>
            </a:endParaRPr>
          </a:p>
        </p:txBody>
      </p:sp>
      <p:grpSp>
        <p:nvGrpSpPr>
          <p:cNvPr id="272" name="Google Shape;272;g3dd637020ec_0_372"/>
          <p:cNvGrpSpPr/>
          <p:nvPr/>
        </p:nvGrpSpPr>
        <p:grpSpPr>
          <a:xfrm>
            <a:off x="916458" y="1019750"/>
            <a:ext cx="214625" cy="214625"/>
            <a:chOff x="2594050" y="1631825"/>
            <a:chExt cx="439625" cy="439625"/>
          </a:xfrm>
        </p:grpSpPr>
        <p:sp>
          <p:nvSpPr>
            <p:cNvPr id="273" name="Google Shape;273;g3dd637020ec_0_372"/>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g3dd637020ec_0_372"/>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3dd637020ec_0_372"/>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3dd637020ec_0_372"/>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7" name="Google Shape;277;g3dd637020ec_0_372"/>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78" name="Google Shape;278;g3dd637020ec_0_372"/>
          <p:cNvSpPr txBox="1"/>
          <p:nvPr/>
        </p:nvSpPr>
        <p:spPr>
          <a:xfrm>
            <a:off x="684275" y="1547800"/>
            <a:ext cx="7796700" cy="3427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Quattrocento Sans"/>
                <a:ea typeface="Quattrocento Sans"/>
                <a:cs typeface="Quattrocento Sans"/>
                <a:sym typeface="Quattrocento Sans"/>
              </a:rPr>
              <a:t>The "engine" of both models is exactly the same: </a:t>
            </a:r>
            <a:endParaRPr b="0" i="0" sz="1400" u="none" cap="none" strike="noStrike">
              <a:solidFill>
                <a:schemeClr val="dk1"/>
              </a:solidFill>
              <a:latin typeface="Quattrocento Sans"/>
              <a:ea typeface="Quattrocento Sans"/>
              <a:cs typeface="Quattrocento Sans"/>
              <a:sym typeface="Quattrocento Sans"/>
            </a:endParaRPr>
          </a:p>
          <a:p>
            <a:pPr indent="457200" lvl="0" marL="0" marR="0" rtl="0" algn="l">
              <a:lnSpc>
                <a:spcPct val="115000"/>
              </a:lnSpc>
              <a:spcBef>
                <a:spcPts val="500"/>
              </a:spcBef>
              <a:spcAft>
                <a:spcPts val="0"/>
              </a:spcAft>
              <a:buClr>
                <a:srgbClr val="000000"/>
              </a:buClr>
              <a:buSzPts val="1400"/>
              <a:buFont typeface="Arial"/>
              <a:buNone/>
            </a:pPr>
            <a:r>
              <a:rPr b="1" i="0" lang="en" sz="1400" u="none" cap="none" strike="noStrike">
                <a:solidFill>
                  <a:schemeClr val="dk1"/>
                </a:solidFill>
                <a:latin typeface="Quattrocento Sans"/>
                <a:ea typeface="Quattrocento Sans"/>
                <a:cs typeface="Quattrocento Sans"/>
                <a:sym typeface="Quattrocento Sans"/>
              </a:rPr>
              <a:t>a linear equation calculating the dot product of inputs and weights.</a:t>
            </a:r>
            <a:endParaRPr b="1" i="0" sz="1400" u="none" cap="none" strike="noStrike">
              <a:solidFill>
                <a:schemeClr val="dk1"/>
              </a:solidFill>
              <a:latin typeface="Quattrocento Sans"/>
              <a:ea typeface="Quattrocento Sans"/>
              <a:cs typeface="Quattrocento Sans"/>
              <a:sym typeface="Quattrocento Sans"/>
            </a:endParaRPr>
          </a:p>
          <a:p>
            <a:pPr indent="457200" lvl="0" marL="0" marR="0" rtl="0" algn="l">
              <a:lnSpc>
                <a:spcPct val="115000"/>
              </a:lnSpc>
              <a:spcBef>
                <a:spcPts val="500"/>
              </a:spcBef>
              <a:spcAft>
                <a:spcPts val="0"/>
              </a:spcAft>
              <a:buClr>
                <a:srgbClr val="000000"/>
              </a:buClr>
              <a:buSzPts val="800"/>
              <a:buFont typeface="Arial"/>
              <a:buNone/>
            </a:pPr>
            <a:r>
              <a:t/>
            </a:r>
            <a:endParaRPr b="0" i="0" sz="800" u="none" cap="none" strike="noStrike">
              <a:solidFill>
                <a:schemeClr val="dk1"/>
              </a:solidFill>
              <a:latin typeface="Quattrocento Sans"/>
              <a:ea typeface="Quattrocento Sans"/>
              <a:cs typeface="Quattrocento Sans"/>
              <a:sym typeface="Quattrocento Sans"/>
            </a:endParaRPr>
          </a:p>
          <a:p>
            <a:pPr indent="-196850" lvl="0" marL="342900" marR="0" rtl="0" algn="l">
              <a:lnSpc>
                <a:spcPct val="115000"/>
              </a:lnSpc>
              <a:spcBef>
                <a:spcPts val="500"/>
              </a:spcBef>
              <a:spcAft>
                <a:spcPts val="0"/>
              </a:spcAft>
              <a:buClr>
                <a:schemeClr val="accent1"/>
              </a:buClr>
              <a:buSzPts val="1300"/>
              <a:buFont typeface="Arial"/>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Linear Regression </a:t>
            </a:r>
            <a:r>
              <a:rPr b="0" i="0" lang="en" sz="1300" u="none" cap="none" strike="noStrike">
                <a:solidFill>
                  <a:schemeClr val="dk1"/>
                </a:solidFill>
                <a:highlight>
                  <a:schemeClr val="lt1"/>
                </a:highlight>
                <a:latin typeface="Quattrocento Sans"/>
                <a:ea typeface="Quattrocento Sans"/>
                <a:cs typeface="Quattrocento Sans"/>
                <a:sym typeface="Quattrocento Sans"/>
              </a:rPr>
              <a:t>simply outputs the raw continuous value of the linear combination:</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0" lvl="0" marL="514350" marR="0" rtl="0" algn="l">
              <a:lnSpc>
                <a:spcPct val="115000"/>
              </a:lnSpc>
              <a:spcBef>
                <a:spcPts val="300"/>
              </a:spcBef>
              <a:spcAft>
                <a:spcPts val="0"/>
              </a:spcAft>
              <a:buClr>
                <a:srgbClr val="000000"/>
              </a:buClr>
              <a:buSzPts val="1200"/>
              <a:buFont typeface="Arial"/>
              <a:buNone/>
            </a:pPr>
            <a:r>
              <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0" lvl="0" marL="514350" marR="0" rtl="0" algn="l">
              <a:lnSpc>
                <a:spcPct val="115000"/>
              </a:lnSpc>
              <a:spcBef>
                <a:spcPts val="300"/>
              </a:spcBef>
              <a:spcAft>
                <a:spcPts val="0"/>
              </a:spcAft>
              <a:buClr>
                <a:srgbClr val="000000"/>
              </a:buClr>
              <a:buSzPts val="800"/>
              <a:buFont typeface="Arial"/>
              <a:buNone/>
            </a:pPr>
            <a:r>
              <a:t/>
            </a:r>
            <a:endParaRPr b="0" i="0" sz="800" u="none" cap="none" strike="noStrike">
              <a:solidFill>
                <a:schemeClr val="dk1"/>
              </a:solidFill>
              <a:highlight>
                <a:schemeClr val="lt1"/>
              </a:highlight>
              <a:latin typeface="Quattrocento Sans"/>
              <a:ea typeface="Quattrocento Sans"/>
              <a:cs typeface="Quattrocento Sans"/>
              <a:sym typeface="Quattrocento Sans"/>
            </a:endParaRPr>
          </a:p>
          <a:p>
            <a:pPr indent="-196850" lvl="0" marL="342900" marR="0" rtl="0" algn="l">
              <a:lnSpc>
                <a:spcPct val="115000"/>
              </a:lnSpc>
              <a:spcBef>
                <a:spcPts val="1000"/>
              </a:spcBef>
              <a:spcAft>
                <a:spcPts val="0"/>
              </a:spcAft>
              <a:buClr>
                <a:schemeClr val="accent1"/>
              </a:buClr>
              <a:buSzPts val="1300"/>
              <a:buFont typeface="Arial"/>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The Perceptron </a:t>
            </a:r>
            <a:r>
              <a:rPr b="0" i="0" lang="en" sz="1300" u="none" cap="none" strike="noStrike">
                <a:solidFill>
                  <a:schemeClr val="dk1"/>
                </a:solidFill>
                <a:highlight>
                  <a:schemeClr val="lt1"/>
                </a:highlight>
                <a:latin typeface="Quattrocento Sans"/>
                <a:ea typeface="Quattrocento Sans"/>
                <a:cs typeface="Quattrocento Sans"/>
                <a:sym typeface="Quattrocento Sans"/>
              </a:rPr>
              <a:t>takes that exact same linear combination and wraps it in a step function:</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0" lvl="0" marL="342900" marR="0" rtl="0" algn="l">
              <a:lnSpc>
                <a:spcPct val="115000"/>
              </a:lnSpc>
              <a:spcBef>
                <a:spcPts val="1000"/>
              </a:spcBef>
              <a:spcAft>
                <a:spcPts val="0"/>
              </a:spcAft>
              <a:buClr>
                <a:srgbClr val="000000"/>
              </a:buClr>
              <a:buSzPts val="1600"/>
              <a:buFont typeface="Arial"/>
              <a:buNone/>
            </a:pPr>
            <a:r>
              <a:t/>
            </a:r>
            <a:endParaRPr b="0" i="0" sz="1600" u="none" cap="none" strike="noStrike">
              <a:solidFill>
                <a:schemeClr val="dk1"/>
              </a:solidFill>
              <a:highlight>
                <a:schemeClr val="lt1"/>
              </a:highlight>
              <a:latin typeface="Quattrocento Sans"/>
              <a:ea typeface="Quattrocento Sans"/>
              <a:cs typeface="Quattrocento Sans"/>
              <a:sym typeface="Quattrocento Sans"/>
            </a:endParaRPr>
          </a:p>
          <a:p>
            <a:pPr indent="-196850" lvl="0" marL="342900" marR="0" rtl="0" algn="l">
              <a:lnSpc>
                <a:spcPct val="115000"/>
              </a:lnSpc>
              <a:spcBef>
                <a:spcPts val="1000"/>
              </a:spcBef>
              <a:spcAft>
                <a:spcPts val="0"/>
              </a:spcAft>
              <a:buClr>
                <a:schemeClr val="accent1"/>
              </a:buClr>
              <a:buSzPts val="1300"/>
              <a:buFont typeface="Arial"/>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The Takeaway:  </a:t>
            </a:r>
            <a:r>
              <a:rPr b="0" i="0" lang="en" sz="1300" u="none" cap="none" strike="noStrike">
                <a:solidFill>
                  <a:schemeClr val="dk1"/>
                </a:solidFill>
                <a:highlight>
                  <a:schemeClr val="lt1"/>
                </a:highlight>
                <a:latin typeface="Quattrocento Sans"/>
                <a:ea typeface="Quattrocento Sans"/>
                <a:cs typeface="Quattrocento Sans"/>
                <a:sym typeface="Quattrocento Sans"/>
              </a:rPr>
              <a:t>If you take a single artificial neuron (a perceptron) and remove the step function— replacing it with a "linear" or "identity" activation function and train it using Mean Squared Error, you have just built a Linear Regression model.</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0" lvl="0" marL="514350" marR="0" rtl="0" algn="l">
              <a:lnSpc>
                <a:spcPct val="115000"/>
              </a:lnSpc>
              <a:spcBef>
                <a:spcPts val="300"/>
              </a:spcBef>
              <a:spcAft>
                <a:spcPts val="0"/>
              </a:spcAft>
              <a:buClr>
                <a:srgbClr val="000000"/>
              </a:buClr>
              <a:buSzPts val="800"/>
              <a:buFont typeface="Arial"/>
              <a:buNone/>
            </a:pPr>
            <a:r>
              <a:t/>
            </a:r>
            <a:endParaRPr b="0" i="0" sz="8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t/>
            </a:r>
            <a:endParaRPr b="0" i="0" sz="4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t/>
            </a:r>
            <a:endParaRPr b="0" i="0" sz="8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300"/>
              </a:spcAft>
              <a:buClr>
                <a:srgbClr val="000000"/>
              </a:buClr>
              <a:buSzPts val="1300"/>
              <a:buFont typeface="Arial"/>
              <a:buNone/>
            </a:pPr>
            <a:r>
              <a:t/>
            </a:r>
            <a:endParaRPr b="0" i="0" sz="1200" u="none" cap="none" strike="noStrike">
              <a:solidFill>
                <a:srgbClr val="000000"/>
              </a:solidFill>
              <a:latin typeface="Quattrocento Sans"/>
              <a:ea typeface="Quattrocento Sans"/>
              <a:cs typeface="Quattrocento Sans"/>
              <a:sym typeface="Quattrocento Sans"/>
            </a:endParaRPr>
          </a:p>
        </p:txBody>
      </p:sp>
      <p:pic>
        <p:nvPicPr>
          <p:cNvPr id="279" name="Google Shape;279;g3dd637020ec_0_372" title="Screen Shot 2026-04-07 at 1.19.38 AM.png"/>
          <p:cNvPicPr preferRelativeResize="0"/>
          <p:nvPr/>
        </p:nvPicPr>
        <p:blipFill rotWithShape="1">
          <a:blip r:embed="rId3">
            <a:alphaModFix/>
          </a:blip>
          <a:srcRect b="0" l="0" r="0" t="0"/>
          <a:stretch/>
        </p:blipFill>
        <p:spPr>
          <a:xfrm>
            <a:off x="2630675" y="2789350"/>
            <a:ext cx="3058375" cy="293450"/>
          </a:xfrm>
          <a:prstGeom prst="rect">
            <a:avLst/>
          </a:prstGeom>
          <a:noFill/>
          <a:ln>
            <a:noFill/>
          </a:ln>
        </p:spPr>
      </p:pic>
      <p:pic>
        <p:nvPicPr>
          <p:cNvPr id="280" name="Google Shape;280;g3dd637020ec_0_372" title="Screen Shot 2026-04-07 at 1.19.43 AM.png"/>
          <p:cNvPicPr preferRelativeResize="0"/>
          <p:nvPr/>
        </p:nvPicPr>
        <p:blipFill rotWithShape="1">
          <a:blip r:embed="rId4">
            <a:alphaModFix/>
          </a:blip>
          <a:srcRect b="0" l="0" r="0" t="0"/>
          <a:stretch/>
        </p:blipFill>
        <p:spPr>
          <a:xfrm>
            <a:off x="2572999" y="3509675"/>
            <a:ext cx="3362950" cy="435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dd637020ec_0_428"/>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Activation Function</a:t>
            </a:r>
            <a:endParaRPr>
              <a:highlight>
                <a:schemeClr val="accent1"/>
              </a:highlight>
            </a:endParaRPr>
          </a:p>
        </p:txBody>
      </p:sp>
      <p:grpSp>
        <p:nvGrpSpPr>
          <p:cNvPr id="286" name="Google Shape;286;g3dd637020ec_0_428"/>
          <p:cNvGrpSpPr/>
          <p:nvPr/>
        </p:nvGrpSpPr>
        <p:grpSpPr>
          <a:xfrm>
            <a:off x="916458" y="1019750"/>
            <a:ext cx="214625" cy="214625"/>
            <a:chOff x="2594050" y="1631825"/>
            <a:chExt cx="439625" cy="439625"/>
          </a:xfrm>
        </p:grpSpPr>
        <p:sp>
          <p:nvSpPr>
            <p:cNvPr id="287" name="Google Shape;287;g3dd637020ec_0_428"/>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3dd637020ec_0_428"/>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g3dd637020ec_0_428"/>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3dd637020ec_0_428"/>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1" name="Google Shape;291;g3dd637020ec_0_428"/>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92" name="Google Shape;292;g3dd637020ec_0_428"/>
          <p:cNvSpPr txBox="1"/>
          <p:nvPr/>
        </p:nvSpPr>
        <p:spPr>
          <a:xfrm>
            <a:off x="537700" y="1547800"/>
            <a:ext cx="3833100" cy="3427800"/>
          </a:xfrm>
          <a:prstGeom prst="rect">
            <a:avLst/>
          </a:prstGeom>
          <a:noFill/>
          <a:ln>
            <a:noFill/>
          </a:ln>
        </p:spPr>
        <p:txBody>
          <a:bodyPr anchorCtr="0" anchor="t" bIns="91425" lIns="91425" spcFirstLastPara="1" rIns="91425" wrap="square" tIns="91425">
            <a:noAutofit/>
          </a:bodyPr>
          <a:lstStyle/>
          <a:p>
            <a:pPr indent="-190500" lvl="0" marL="342900" marR="0" rtl="0" algn="l">
              <a:lnSpc>
                <a:spcPct val="115000"/>
              </a:lnSpc>
              <a:spcBef>
                <a:spcPts val="0"/>
              </a:spcBef>
              <a:spcAft>
                <a:spcPts val="0"/>
              </a:spcAft>
              <a:buClr>
                <a:schemeClr val="accent1"/>
              </a:buClr>
              <a:buSzPts val="1200"/>
              <a:buFont typeface="Quattrocento Sans"/>
              <a:buChar char="◉"/>
            </a:pPr>
            <a:r>
              <a:rPr b="0" i="0" lang="en" sz="1200" u="none" cap="none" strike="noStrike">
                <a:solidFill>
                  <a:srgbClr val="0A0A0A"/>
                </a:solidFill>
                <a:highlight>
                  <a:srgbClr val="FFFFFF"/>
                </a:highlight>
                <a:latin typeface="Quattrocento Sans"/>
                <a:ea typeface="Quattrocento Sans"/>
                <a:cs typeface="Quattrocento Sans"/>
                <a:sym typeface="Quattrocento Sans"/>
              </a:rPr>
              <a:t>Act as filters, helping to decide which information is relevant &amp; which should be suppressed.</a:t>
            </a:r>
            <a:endParaRPr b="0" i="0" sz="1300" u="none" cap="none" strike="noStrike">
              <a:solidFill>
                <a:schemeClr val="dk1"/>
              </a:solidFill>
              <a:latin typeface="Quattrocento Sans"/>
              <a:ea typeface="Quattrocento Sans"/>
              <a:cs typeface="Quattrocento Sans"/>
              <a:sym typeface="Quattrocento Sans"/>
            </a:endParaRPr>
          </a:p>
          <a:p>
            <a:pPr indent="-190500" lvl="0" marL="342900" marR="0" rtl="0" algn="l">
              <a:lnSpc>
                <a:spcPct val="115000"/>
              </a:lnSpc>
              <a:spcBef>
                <a:spcPts val="500"/>
              </a:spcBef>
              <a:spcAft>
                <a:spcPts val="0"/>
              </a:spcAft>
              <a:buClr>
                <a:schemeClr val="accent1"/>
              </a:buClr>
              <a:buSzPts val="1200"/>
              <a:buFont typeface="Arial"/>
              <a:buChar char="◉"/>
            </a:pPr>
            <a:r>
              <a:rPr b="0" i="0" lang="en" sz="1200" u="none" cap="none" strike="noStrike">
                <a:solidFill>
                  <a:schemeClr val="dk1"/>
                </a:solidFill>
                <a:latin typeface="Quattrocento Sans"/>
                <a:ea typeface="Quattrocento Sans"/>
                <a:cs typeface="Quattrocento Sans"/>
                <a:sym typeface="Quattrocento Sans"/>
              </a:rPr>
              <a:t>To introduce non-linearity and constrain the output values </a:t>
            </a:r>
            <a:endParaRPr b="0" i="0" sz="1200" u="none" cap="none" strike="noStrike">
              <a:solidFill>
                <a:schemeClr val="dk1"/>
              </a:solidFill>
              <a:latin typeface="Quattrocento Sans"/>
              <a:ea typeface="Quattrocento Sans"/>
              <a:cs typeface="Quattrocento Sans"/>
              <a:sym typeface="Quattrocento Sans"/>
            </a:endParaRPr>
          </a:p>
          <a:p>
            <a:pPr indent="-190500" lvl="0" marL="342900" marR="0" rtl="0" algn="l">
              <a:lnSpc>
                <a:spcPct val="115000"/>
              </a:lnSpc>
              <a:spcBef>
                <a:spcPts val="500"/>
              </a:spcBef>
              <a:spcAft>
                <a:spcPts val="0"/>
              </a:spcAft>
              <a:buClr>
                <a:schemeClr val="accent1"/>
              </a:buClr>
              <a:buSzPts val="1200"/>
              <a:buFont typeface="Quattrocento Sans"/>
              <a:buChar char="◉"/>
            </a:pPr>
            <a:r>
              <a:rPr b="0" i="0" lang="en" sz="1100" u="sng" cap="none" strike="noStrike">
                <a:solidFill>
                  <a:srgbClr val="0000FF"/>
                </a:solidFill>
                <a:latin typeface="Quattrocento Sans"/>
                <a:ea typeface="Quattrocento Sans"/>
                <a:cs typeface="Quattrocento Sans"/>
                <a:sym typeface="Quattrocento Sans"/>
                <a:hlinkClick r:id="rId3">
                  <a:extLst>
                    <a:ext uri="{A12FA001-AC4F-418D-AE19-62706E023703}">
                      <ahyp:hlinkClr val="tx"/>
                    </a:ext>
                  </a:extLst>
                </a:hlinkClick>
              </a:rPr>
              <a:t>https://en.wikipedia.org/wiki/Activation_function</a:t>
            </a:r>
            <a:endParaRPr b="0" i="0" sz="1100" u="none" cap="none" strike="noStrike">
              <a:solidFill>
                <a:srgbClr val="0000FF"/>
              </a:solidFill>
              <a:latin typeface="Quattrocento Sans"/>
              <a:ea typeface="Quattrocento Sans"/>
              <a:cs typeface="Quattrocento Sans"/>
              <a:sym typeface="Quattrocento Sans"/>
            </a:endParaRPr>
          </a:p>
          <a:p>
            <a:pPr indent="0" lvl="0" marL="514350" marR="0" rtl="0" algn="l">
              <a:lnSpc>
                <a:spcPct val="115000"/>
              </a:lnSpc>
              <a:spcBef>
                <a:spcPts val="500"/>
              </a:spcBef>
              <a:spcAft>
                <a:spcPts val="0"/>
              </a:spcAft>
              <a:buClr>
                <a:srgbClr val="000000"/>
              </a:buClr>
              <a:buSzPts val="800"/>
              <a:buFont typeface="Arial"/>
              <a:buNone/>
            </a:pPr>
            <a:r>
              <a:t/>
            </a:r>
            <a:endParaRPr b="0" i="0" sz="8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800"/>
              <a:buFont typeface="Arial"/>
              <a:buNone/>
            </a:pPr>
            <a:r>
              <a:t/>
            </a:r>
            <a:endParaRPr b="0" i="0" sz="8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t/>
            </a:r>
            <a:endParaRPr b="0" i="0" sz="4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t/>
            </a:r>
            <a:endParaRPr b="0" i="0" sz="8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300"/>
              </a:spcAft>
              <a:buClr>
                <a:srgbClr val="000000"/>
              </a:buClr>
              <a:buSzPts val="1300"/>
              <a:buFont typeface="Arial"/>
              <a:buNone/>
            </a:pPr>
            <a:r>
              <a:t/>
            </a:r>
            <a:endParaRPr b="0" i="0" sz="1200" u="none" cap="none" strike="noStrike">
              <a:solidFill>
                <a:srgbClr val="000000"/>
              </a:solidFill>
              <a:latin typeface="Quattrocento Sans"/>
              <a:ea typeface="Quattrocento Sans"/>
              <a:cs typeface="Quattrocento Sans"/>
              <a:sym typeface="Quattrocento Sans"/>
            </a:endParaRPr>
          </a:p>
        </p:txBody>
      </p:sp>
      <p:pic>
        <p:nvPicPr>
          <p:cNvPr id="293" name="Google Shape;293;g3dd637020ec_0_428" title="activation-functions.png"/>
          <p:cNvPicPr preferRelativeResize="0"/>
          <p:nvPr/>
        </p:nvPicPr>
        <p:blipFill rotWithShape="1">
          <a:blip r:embed="rId4">
            <a:alphaModFix/>
          </a:blip>
          <a:srcRect b="0" l="0" r="0" t="0"/>
          <a:stretch/>
        </p:blipFill>
        <p:spPr>
          <a:xfrm>
            <a:off x="4450583" y="819875"/>
            <a:ext cx="4225894" cy="41557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dd637020ec_0_39"/>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Activation Function in Perceptron </a:t>
            </a:r>
            <a:endParaRPr>
              <a:highlight>
                <a:schemeClr val="accent1"/>
              </a:highlight>
            </a:endParaRPr>
          </a:p>
        </p:txBody>
      </p:sp>
      <p:grpSp>
        <p:nvGrpSpPr>
          <p:cNvPr id="299" name="Google Shape;299;g3dd637020ec_0_39"/>
          <p:cNvGrpSpPr/>
          <p:nvPr/>
        </p:nvGrpSpPr>
        <p:grpSpPr>
          <a:xfrm>
            <a:off x="916458" y="1019750"/>
            <a:ext cx="214625" cy="214625"/>
            <a:chOff x="2594050" y="1631825"/>
            <a:chExt cx="439625" cy="439625"/>
          </a:xfrm>
        </p:grpSpPr>
        <p:sp>
          <p:nvSpPr>
            <p:cNvPr id="300" name="Google Shape;300;g3dd637020ec_0_39"/>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3dd637020ec_0_39"/>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g3dd637020ec_0_39"/>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3dd637020ec_0_39"/>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g3dd637020ec_0_39"/>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pic>
        <p:nvPicPr>
          <p:cNvPr id="305" name="Google Shape;305;g3dd637020ec_0_39" title="Screen Shot 2025-09-24 at 7.05.47 PM.png"/>
          <p:cNvPicPr preferRelativeResize="0"/>
          <p:nvPr/>
        </p:nvPicPr>
        <p:blipFill rotWithShape="1">
          <a:blip r:embed="rId3">
            <a:alphaModFix/>
          </a:blip>
          <a:srcRect b="0" l="0" r="0" t="0"/>
          <a:stretch/>
        </p:blipFill>
        <p:spPr>
          <a:xfrm>
            <a:off x="1740869" y="1833067"/>
            <a:ext cx="5520925" cy="2977475"/>
          </a:xfrm>
          <a:prstGeom prst="rect">
            <a:avLst/>
          </a:prstGeom>
          <a:noFill/>
          <a:ln>
            <a:noFill/>
          </a:ln>
        </p:spPr>
      </p:pic>
      <p:sp>
        <p:nvSpPr>
          <p:cNvPr id="306" name="Google Shape;306;g3dd637020ec_0_39"/>
          <p:cNvSpPr txBox="1"/>
          <p:nvPr/>
        </p:nvSpPr>
        <p:spPr>
          <a:xfrm>
            <a:off x="684275" y="1547800"/>
            <a:ext cx="3718500" cy="68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300"/>
              <a:buFont typeface="Arial"/>
              <a:buNone/>
            </a:pPr>
            <a:r>
              <a:t/>
            </a:r>
            <a:endParaRPr b="0" i="0" sz="8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chemeClr val="dk1"/>
              </a:buClr>
              <a:buSzPts val="1100"/>
              <a:buFont typeface="Arial"/>
              <a:buNone/>
            </a:pPr>
            <a:r>
              <a:rPr b="1" i="0" lang="en" sz="1400" u="none" cap="none" strike="noStrike">
                <a:solidFill>
                  <a:srgbClr val="000000"/>
                </a:solidFill>
                <a:latin typeface="Quattrocento Sans"/>
                <a:ea typeface="Quattrocento Sans"/>
                <a:cs typeface="Quattrocento Sans"/>
                <a:sym typeface="Quattrocento Sans"/>
              </a:rPr>
              <a:t>Unit step function</a:t>
            </a:r>
            <a:endParaRPr b="1" i="0" sz="14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chemeClr val="dk1"/>
              </a:buClr>
              <a:buSzPts val="1100"/>
              <a:buFont typeface="Arial"/>
              <a:buNone/>
            </a:pPr>
            <a:r>
              <a:t/>
            </a:r>
            <a:endParaRPr b="0" i="0" sz="12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t/>
            </a:r>
            <a:endParaRPr b="0" i="0" sz="12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300"/>
              </a:spcAft>
              <a:buClr>
                <a:srgbClr val="000000"/>
              </a:buClr>
              <a:buSzPts val="1300"/>
              <a:buFont typeface="Arial"/>
              <a:buNone/>
            </a:pPr>
            <a:r>
              <a:t/>
            </a:r>
            <a:endParaRPr b="1" i="0" sz="1400" u="none" cap="none" strike="noStrike">
              <a:solidFill>
                <a:schemeClr val="dk1"/>
              </a:solidFill>
              <a:highlight>
                <a:schemeClr val="lt1"/>
              </a:highlight>
              <a:latin typeface="Quattrocento Sans"/>
              <a:ea typeface="Quattrocento Sans"/>
              <a:cs typeface="Quattrocento Sans"/>
              <a:sym typeface="Quattrocen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dd637020ec_0_51"/>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The Perceptron Learning Rule</a:t>
            </a:r>
            <a:endParaRPr>
              <a:highlight>
                <a:schemeClr val="accent1"/>
              </a:highlight>
            </a:endParaRPr>
          </a:p>
        </p:txBody>
      </p:sp>
      <p:grpSp>
        <p:nvGrpSpPr>
          <p:cNvPr id="312" name="Google Shape;312;g3dd637020ec_0_51"/>
          <p:cNvGrpSpPr/>
          <p:nvPr/>
        </p:nvGrpSpPr>
        <p:grpSpPr>
          <a:xfrm>
            <a:off x="916458" y="1019750"/>
            <a:ext cx="214625" cy="214625"/>
            <a:chOff x="2594050" y="1631825"/>
            <a:chExt cx="439625" cy="439625"/>
          </a:xfrm>
        </p:grpSpPr>
        <p:sp>
          <p:nvSpPr>
            <p:cNvPr id="313" name="Google Shape;313;g3dd637020ec_0_51"/>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3dd637020ec_0_51"/>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g3dd637020ec_0_51"/>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g3dd637020ec_0_51"/>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7" name="Google Shape;317;g3dd637020ec_0_51"/>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318" name="Google Shape;318;g3dd637020ec_0_51"/>
          <p:cNvSpPr txBox="1"/>
          <p:nvPr/>
        </p:nvSpPr>
        <p:spPr>
          <a:xfrm>
            <a:off x="684275" y="1547800"/>
            <a:ext cx="7796700" cy="3427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chemeClr val="dk1"/>
              </a:buClr>
              <a:buSzPts val="1400"/>
              <a:buFont typeface="Quattrocento Sans"/>
              <a:buAutoNum type="arabicPeriod"/>
            </a:pPr>
            <a:r>
              <a:rPr b="0" i="0" lang="en" sz="1400" u="none" cap="none" strike="noStrike">
                <a:solidFill>
                  <a:schemeClr val="dk1"/>
                </a:solidFill>
                <a:latin typeface="Quattrocento Sans"/>
                <a:ea typeface="Quattrocento Sans"/>
                <a:cs typeface="Quattrocento Sans"/>
                <a:sym typeface="Quattrocento Sans"/>
              </a:rPr>
              <a:t>Initialize the weights and bias unit to 0 or small random numbers</a:t>
            </a:r>
            <a:endParaRPr b="0" i="0" sz="1400" u="none" cap="none" strike="noStrike">
              <a:solidFill>
                <a:schemeClr val="dk1"/>
              </a:solidFill>
              <a:latin typeface="Quattrocento Sans"/>
              <a:ea typeface="Quattrocento Sans"/>
              <a:cs typeface="Quattrocento Sans"/>
              <a:sym typeface="Quattrocento Sans"/>
            </a:endParaRPr>
          </a:p>
          <a:p>
            <a:pPr indent="-317500" lvl="0" marL="457200" marR="0" rtl="0" algn="l">
              <a:lnSpc>
                <a:spcPct val="115000"/>
              </a:lnSpc>
              <a:spcBef>
                <a:spcPts val="0"/>
              </a:spcBef>
              <a:spcAft>
                <a:spcPts val="0"/>
              </a:spcAft>
              <a:buClr>
                <a:schemeClr val="dk1"/>
              </a:buClr>
              <a:buSzPts val="1400"/>
              <a:buFont typeface="Quattrocento Sans"/>
              <a:buAutoNum type="arabicPeriod"/>
            </a:pPr>
            <a:r>
              <a:rPr b="0" i="0" lang="en" sz="1400" u="none" cap="none" strike="noStrike">
                <a:solidFill>
                  <a:schemeClr val="dk1"/>
                </a:solidFill>
                <a:latin typeface="Quattrocento Sans"/>
                <a:ea typeface="Quattrocento Sans"/>
                <a:cs typeface="Quattrocento Sans"/>
                <a:sym typeface="Quattrocento Sans"/>
              </a:rPr>
              <a:t>For each training sample:</a:t>
            </a:r>
            <a:endParaRPr b="0" i="0" sz="1400" u="none" cap="none" strike="noStrike">
              <a:solidFill>
                <a:schemeClr val="dk1"/>
              </a:solidFill>
              <a:latin typeface="Quattrocento Sans"/>
              <a:ea typeface="Quattrocento Sans"/>
              <a:cs typeface="Quattrocento Sans"/>
              <a:sym typeface="Quattrocento Sans"/>
            </a:endParaRPr>
          </a:p>
          <a:p>
            <a:pPr indent="-317500" lvl="1" marL="914400" marR="0" rtl="0" algn="l">
              <a:lnSpc>
                <a:spcPct val="115000"/>
              </a:lnSpc>
              <a:spcBef>
                <a:spcPts val="0"/>
              </a:spcBef>
              <a:spcAft>
                <a:spcPts val="0"/>
              </a:spcAft>
              <a:buClr>
                <a:schemeClr val="dk1"/>
              </a:buClr>
              <a:buSzPts val="1400"/>
              <a:buFont typeface="Quattrocento Sans"/>
              <a:buAutoNum type="alphaLcPeriod"/>
            </a:pPr>
            <a:r>
              <a:rPr b="0" i="0" lang="en" sz="1400" u="none" cap="none" strike="noStrike">
                <a:solidFill>
                  <a:schemeClr val="dk1"/>
                </a:solidFill>
                <a:latin typeface="Quattrocento Sans"/>
                <a:ea typeface="Quattrocento Sans"/>
                <a:cs typeface="Quattrocento Sans"/>
                <a:sym typeface="Quattrocento Sans"/>
              </a:rPr>
              <a:t>Compute the output value (the class label predicted by the unit step function)</a:t>
            </a:r>
            <a:endParaRPr b="0" i="0" sz="1400" u="none" cap="none" strike="noStrike">
              <a:solidFill>
                <a:schemeClr val="dk1"/>
              </a:solidFill>
              <a:latin typeface="Quattrocento Sans"/>
              <a:ea typeface="Quattrocento Sans"/>
              <a:cs typeface="Quattrocento Sans"/>
              <a:sym typeface="Quattrocento Sans"/>
            </a:endParaRPr>
          </a:p>
          <a:p>
            <a:pPr indent="-317500" lvl="1" marL="914400" marR="0" rtl="0" algn="l">
              <a:lnSpc>
                <a:spcPct val="115000"/>
              </a:lnSpc>
              <a:spcBef>
                <a:spcPts val="0"/>
              </a:spcBef>
              <a:spcAft>
                <a:spcPts val="0"/>
              </a:spcAft>
              <a:buClr>
                <a:schemeClr val="dk1"/>
              </a:buClr>
              <a:buSzPts val="1400"/>
              <a:buFont typeface="Quattrocento Sans"/>
              <a:buAutoNum type="alphaLcPeriod"/>
            </a:pPr>
            <a:r>
              <a:rPr b="0" i="0" lang="en" sz="1400" u="none" cap="none" strike="noStrike">
                <a:solidFill>
                  <a:schemeClr val="dk1"/>
                </a:solidFill>
                <a:latin typeface="Quattrocento Sans"/>
                <a:ea typeface="Quattrocento Sans"/>
                <a:cs typeface="Quattrocento Sans"/>
                <a:sym typeface="Quattrocento Sans"/>
              </a:rPr>
              <a:t>Update the weights &amp; biases: </a:t>
            </a:r>
            <a:endParaRPr b="0" i="0" sz="1400" u="none" cap="none" strike="noStrike">
              <a:solidFill>
                <a:schemeClr val="dk1"/>
              </a:solidFill>
              <a:latin typeface="Quattrocento Sans"/>
              <a:ea typeface="Quattrocento Sans"/>
              <a:cs typeface="Quattrocento Sans"/>
              <a:sym typeface="Quattrocento Sans"/>
            </a:endParaRPr>
          </a:p>
          <a:p>
            <a:pPr indent="-317500" lvl="2" marL="1371600" marR="0" rtl="0" algn="l">
              <a:lnSpc>
                <a:spcPct val="115000"/>
              </a:lnSpc>
              <a:spcBef>
                <a:spcPts val="0"/>
              </a:spcBef>
              <a:spcAft>
                <a:spcPts val="0"/>
              </a:spcAft>
              <a:buClr>
                <a:schemeClr val="dk1"/>
              </a:buClr>
              <a:buSzPts val="1400"/>
              <a:buFont typeface="Quattrocento Sans"/>
              <a:buAutoNum type="romanLcPeriod"/>
            </a:pPr>
            <a:r>
              <a:rPr b="0" i="0" lang="en" sz="1400" u="none" cap="none" strike="noStrike">
                <a:solidFill>
                  <a:schemeClr val="dk1"/>
                </a:solidFill>
                <a:latin typeface="Quattrocento Sans"/>
                <a:ea typeface="Quattrocento Sans"/>
                <a:cs typeface="Quattrocento Sans"/>
                <a:sym typeface="Quattrocento Sans"/>
              </a:rPr>
              <a:t>If prediction is correct → no change</a:t>
            </a:r>
            <a:endParaRPr b="0" i="0" sz="1400" u="none" cap="none" strike="noStrike">
              <a:solidFill>
                <a:schemeClr val="dk1"/>
              </a:solidFill>
              <a:latin typeface="Quattrocento Sans"/>
              <a:ea typeface="Quattrocento Sans"/>
              <a:cs typeface="Quattrocento Sans"/>
              <a:sym typeface="Quattrocento Sans"/>
            </a:endParaRPr>
          </a:p>
          <a:p>
            <a:pPr indent="-317500" lvl="2" marL="1371600" marR="0" rtl="0" algn="l">
              <a:lnSpc>
                <a:spcPct val="115000"/>
              </a:lnSpc>
              <a:spcBef>
                <a:spcPts val="0"/>
              </a:spcBef>
              <a:spcAft>
                <a:spcPts val="0"/>
              </a:spcAft>
              <a:buClr>
                <a:schemeClr val="dk1"/>
              </a:buClr>
              <a:buSzPts val="1400"/>
              <a:buFont typeface="Quattrocento Sans"/>
              <a:buAutoNum type="romanLcPeriod"/>
            </a:pPr>
            <a:r>
              <a:rPr b="0" i="0" lang="en" sz="1400" u="none" cap="none" strike="noStrike">
                <a:solidFill>
                  <a:schemeClr val="dk1"/>
                </a:solidFill>
                <a:latin typeface="Quattrocento Sans"/>
                <a:ea typeface="Quattrocento Sans"/>
                <a:cs typeface="Quattrocento Sans"/>
                <a:sym typeface="Quattrocento Sans"/>
              </a:rPr>
              <a:t>If prediction is wrong → adjust weights &amp; biases slightly </a:t>
            </a:r>
            <a:endParaRPr b="0" i="0" sz="1400" u="none" cap="none" strike="noStrike">
              <a:solidFill>
                <a:schemeClr val="dk1"/>
              </a:solidFill>
              <a:latin typeface="Quattrocento Sans"/>
              <a:ea typeface="Quattrocento Sans"/>
              <a:cs typeface="Quattrocento Sans"/>
              <a:sym typeface="Quattrocento Sans"/>
            </a:endParaRPr>
          </a:p>
          <a:p>
            <a:pPr indent="-317500" lvl="0" marL="457200" marR="0" rtl="0" algn="l">
              <a:lnSpc>
                <a:spcPct val="115000"/>
              </a:lnSpc>
              <a:spcBef>
                <a:spcPts val="0"/>
              </a:spcBef>
              <a:spcAft>
                <a:spcPts val="0"/>
              </a:spcAft>
              <a:buClr>
                <a:schemeClr val="dk1"/>
              </a:buClr>
              <a:buSzPts val="1400"/>
              <a:buFont typeface="Quattrocento Sans"/>
              <a:buAutoNum type="arabicPeriod"/>
            </a:pPr>
            <a:r>
              <a:rPr b="0" i="0" lang="en" sz="1400" u="none" cap="none" strike="noStrike">
                <a:solidFill>
                  <a:schemeClr val="dk1"/>
                </a:solidFill>
                <a:latin typeface="Quattrocento Sans"/>
                <a:ea typeface="Quattrocento Sans"/>
                <a:cs typeface="Quattrocento Sans"/>
                <a:sym typeface="Quattrocento Sans"/>
              </a:rPr>
              <a:t>Repeat until errors are minimized.</a:t>
            </a:r>
            <a:endParaRPr b="0" i="0" sz="14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500"/>
              </a:spcBef>
              <a:spcAft>
                <a:spcPts val="0"/>
              </a:spcAft>
              <a:buClr>
                <a:srgbClr val="000000"/>
              </a:buClr>
              <a:buSzPts val="1400"/>
              <a:buFont typeface="Arial"/>
              <a:buNone/>
            </a:pPr>
            <a:r>
              <a:t/>
            </a:r>
            <a:endParaRPr b="0" i="0" sz="1400" u="none" cap="none" strike="noStrike">
              <a:solidFill>
                <a:schemeClr val="accent3"/>
              </a:solidFill>
              <a:latin typeface="Quattrocento Sans"/>
              <a:ea typeface="Quattrocento Sans"/>
              <a:cs typeface="Quattrocento Sans"/>
              <a:sym typeface="Quattrocento Sans"/>
            </a:endParaRPr>
          </a:p>
          <a:p>
            <a:pPr indent="0" lvl="0" marL="0" marR="0" rtl="0" algn="l">
              <a:lnSpc>
                <a:spcPct val="115000"/>
              </a:lnSpc>
              <a:spcBef>
                <a:spcPts val="500"/>
              </a:spcBef>
              <a:spcAft>
                <a:spcPts val="0"/>
              </a:spcAft>
              <a:buClr>
                <a:srgbClr val="000000"/>
              </a:buClr>
              <a:buSzPts val="1400"/>
              <a:buFont typeface="Arial"/>
              <a:buNone/>
            </a:pPr>
            <a:r>
              <a:t/>
            </a:r>
            <a:endParaRPr b="0" i="0" sz="1400" u="none" cap="none" strike="noStrike">
              <a:solidFill>
                <a:schemeClr val="accent3"/>
              </a:solidFill>
              <a:latin typeface="Quattrocento Sans"/>
              <a:ea typeface="Quattrocento Sans"/>
              <a:cs typeface="Quattrocento Sans"/>
              <a:sym typeface="Quattrocento Sans"/>
            </a:endParaRPr>
          </a:p>
          <a:p>
            <a:pPr indent="0" lvl="0" marL="0" marR="0" rtl="0" algn="l">
              <a:lnSpc>
                <a:spcPct val="100000"/>
              </a:lnSpc>
              <a:spcBef>
                <a:spcPts val="500"/>
              </a:spcBef>
              <a:spcAft>
                <a:spcPts val="0"/>
              </a:spcAft>
              <a:buClr>
                <a:srgbClr val="000000"/>
              </a:buClr>
              <a:buSzPts val="1200"/>
              <a:buFont typeface="Arial"/>
              <a:buNone/>
            </a:pPr>
            <a:r>
              <a:rPr b="0" i="0" lang="en" sz="1200" u="none" cap="none" strike="noStrike">
                <a:solidFill>
                  <a:schemeClr val="accent3"/>
                </a:solidFill>
                <a:latin typeface="Quattrocento Sans"/>
                <a:ea typeface="Quattrocento Sans"/>
                <a:cs typeface="Quattrocento Sans"/>
                <a:sym typeface="Quattrocento Sans"/>
              </a:rPr>
              <a:t>Note: The bias and all weights are being updated </a:t>
            </a:r>
            <a:endParaRPr b="0" i="0" sz="1200" u="none" cap="none" strike="noStrike">
              <a:solidFill>
                <a:schemeClr val="accent3"/>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accent3"/>
                </a:solidFill>
                <a:latin typeface="Quattrocento Sans"/>
                <a:ea typeface="Quattrocento Sans"/>
                <a:cs typeface="Quattrocento Sans"/>
                <a:sym typeface="Quattrocento Sans"/>
              </a:rPr>
              <a:t>           simultaneously with the same predicted class.</a:t>
            </a:r>
            <a:endParaRPr b="0" i="0" sz="1200" u="none" cap="none" strike="noStrike">
              <a:solidFill>
                <a:schemeClr val="accent3"/>
              </a:solidFill>
              <a:latin typeface="Quattrocento Sans"/>
              <a:ea typeface="Quattrocento Sans"/>
              <a:cs typeface="Quattrocento Sans"/>
              <a:sym typeface="Quattrocento Sans"/>
            </a:endParaRPr>
          </a:p>
          <a:p>
            <a:pPr indent="0" lvl="0" marL="0" marR="0" rtl="0" algn="l">
              <a:lnSpc>
                <a:spcPct val="115000"/>
              </a:lnSpc>
              <a:spcBef>
                <a:spcPts val="0"/>
              </a:spcBef>
              <a:spcAft>
                <a:spcPts val="0"/>
              </a:spcAft>
              <a:buClr>
                <a:srgbClr val="000000"/>
              </a:buClr>
              <a:buSzPts val="1500"/>
              <a:buFont typeface="Arial"/>
              <a:buNone/>
            </a:pPr>
            <a:r>
              <a:rPr b="0" i="0" lang="en" sz="1500" u="none" cap="none" strike="noStrike">
                <a:solidFill>
                  <a:schemeClr val="dk1"/>
                </a:solidFill>
                <a:latin typeface="Quattrocento Sans"/>
                <a:ea typeface="Quattrocento Sans"/>
                <a:cs typeface="Quattrocento Sans"/>
                <a:sym typeface="Quattrocento Sans"/>
              </a:rPr>
              <a:t> </a:t>
            </a:r>
            <a:endParaRPr b="0" i="0" sz="15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500"/>
              </a:spcBef>
              <a:spcAft>
                <a:spcPts val="0"/>
              </a:spcAft>
              <a:buClr>
                <a:srgbClr val="000000"/>
              </a:buClr>
              <a:buSzPts val="1400"/>
              <a:buFont typeface="Arial"/>
              <a:buNone/>
            </a:pPr>
            <a:r>
              <a:t/>
            </a:r>
            <a:endParaRPr b="0" i="0" sz="14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500"/>
              </a:spcBef>
              <a:spcAft>
                <a:spcPts val="300"/>
              </a:spcAft>
              <a:buClr>
                <a:srgbClr val="000000"/>
              </a:buClr>
              <a:buSzPts val="1300"/>
              <a:buFont typeface="Arial"/>
              <a:buNone/>
            </a:pPr>
            <a:r>
              <a:t/>
            </a:r>
            <a:endParaRPr b="0" i="0" sz="1200" u="none" cap="none" strike="noStrike">
              <a:solidFill>
                <a:srgbClr val="000000"/>
              </a:solidFill>
              <a:latin typeface="Quattrocento Sans"/>
              <a:ea typeface="Quattrocento Sans"/>
              <a:cs typeface="Quattrocento Sans"/>
              <a:sym typeface="Quattrocento Sans"/>
            </a:endParaRPr>
          </a:p>
        </p:txBody>
      </p:sp>
      <p:pic>
        <p:nvPicPr>
          <p:cNvPr id="319" name="Google Shape;319;g3dd637020ec_0_51" title="Screen Shot 2025-09-24 at 7.46.40 PM.png"/>
          <p:cNvPicPr preferRelativeResize="0"/>
          <p:nvPr/>
        </p:nvPicPr>
        <p:blipFill rotWithShape="1">
          <a:blip r:embed="rId3">
            <a:alphaModFix/>
          </a:blip>
          <a:srcRect b="0" l="0" r="0" t="0"/>
          <a:stretch/>
        </p:blipFill>
        <p:spPr>
          <a:xfrm>
            <a:off x="6826749" y="2784825"/>
            <a:ext cx="1168275" cy="479500"/>
          </a:xfrm>
          <a:prstGeom prst="rect">
            <a:avLst/>
          </a:prstGeom>
          <a:noFill/>
          <a:ln>
            <a:noFill/>
          </a:ln>
        </p:spPr>
      </p:pic>
      <p:cxnSp>
        <p:nvCxnSpPr>
          <p:cNvPr id="320" name="Google Shape;320;g3dd637020ec_0_51"/>
          <p:cNvCxnSpPr>
            <a:endCxn id="319" idx="1"/>
          </p:cNvCxnSpPr>
          <p:nvPr/>
        </p:nvCxnSpPr>
        <p:spPr>
          <a:xfrm>
            <a:off x="6476949" y="3024275"/>
            <a:ext cx="349800" cy="300"/>
          </a:xfrm>
          <a:prstGeom prst="straightConnector1">
            <a:avLst/>
          </a:prstGeom>
          <a:noFill/>
          <a:ln cap="flat" cmpd="sng" w="19050">
            <a:solidFill>
              <a:schemeClr val="accent2"/>
            </a:solidFill>
            <a:prstDash val="solid"/>
            <a:round/>
            <a:headEnd len="sm" w="sm" type="none"/>
            <a:tailEnd len="med" w="med" type="triangle"/>
          </a:ln>
        </p:spPr>
      </p:cxnSp>
      <p:pic>
        <p:nvPicPr>
          <p:cNvPr id="321" name="Google Shape;321;g3dd637020ec_0_51" title="Screen Shot 2025-09-24 at 8.07.12 PM.png"/>
          <p:cNvPicPr preferRelativeResize="0"/>
          <p:nvPr/>
        </p:nvPicPr>
        <p:blipFill rotWithShape="1">
          <a:blip r:embed="rId4">
            <a:alphaModFix/>
          </a:blip>
          <a:srcRect b="0" l="0" r="0" t="0"/>
          <a:stretch/>
        </p:blipFill>
        <p:spPr>
          <a:xfrm>
            <a:off x="6583768" y="3584190"/>
            <a:ext cx="1656100" cy="572475"/>
          </a:xfrm>
          <a:prstGeom prst="rect">
            <a:avLst/>
          </a:prstGeom>
          <a:noFill/>
          <a:ln>
            <a:noFill/>
          </a:ln>
        </p:spPr>
      </p:pic>
      <p:cxnSp>
        <p:nvCxnSpPr>
          <p:cNvPr id="322" name="Google Shape;322;g3dd637020ec_0_51"/>
          <p:cNvCxnSpPr>
            <a:stCxn id="319" idx="2"/>
            <a:endCxn id="321" idx="0"/>
          </p:cNvCxnSpPr>
          <p:nvPr/>
        </p:nvCxnSpPr>
        <p:spPr>
          <a:xfrm>
            <a:off x="7410887" y="3264325"/>
            <a:ext cx="900" cy="319800"/>
          </a:xfrm>
          <a:prstGeom prst="straightConnector1">
            <a:avLst/>
          </a:prstGeom>
          <a:noFill/>
          <a:ln cap="flat" cmpd="sng" w="19050">
            <a:solidFill>
              <a:schemeClr val="accent2"/>
            </a:solidFill>
            <a:prstDash val="solid"/>
            <a:round/>
            <a:headEnd len="sm" w="sm" type="none"/>
            <a:tailEnd len="med" w="med" type="triangle"/>
          </a:ln>
        </p:spPr>
      </p:cxnSp>
      <p:sp>
        <p:nvSpPr>
          <p:cNvPr id="323" name="Google Shape;323;g3dd637020ec_0_51"/>
          <p:cNvSpPr txBox="1"/>
          <p:nvPr/>
        </p:nvSpPr>
        <p:spPr>
          <a:xfrm>
            <a:off x="5553462" y="4475278"/>
            <a:ext cx="1117800" cy="38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3"/>
                </a:solidFill>
                <a:latin typeface="Quattrocento Sans"/>
                <a:ea typeface="Quattrocento Sans"/>
                <a:cs typeface="Quattrocento Sans"/>
                <a:sym typeface="Quattrocento Sans"/>
              </a:rPr>
              <a:t>Learning Rate</a:t>
            </a:r>
            <a:endParaRPr b="1" i="0" sz="1000" u="none" cap="none" strike="noStrike">
              <a:solidFill>
                <a:schemeClr val="accent3"/>
              </a:solidFill>
              <a:latin typeface="Quattrocento Sans"/>
              <a:ea typeface="Quattrocento Sans"/>
              <a:cs typeface="Quattrocento Sans"/>
              <a:sym typeface="Quattrocento Sans"/>
            </a:endParaRPr>
          </a:p>
        </p:txBody>
      </p:sp>
      <p:sp>
        <p:nvSpPr>
          <p:cNvPr id="324" name="Google Shape;324;g3dd637020ec_0_51"/>
          <p:cNvSpPr txBox="1"/>
          <p:nvPr/>
        </p:nvSpPr>
        <p:spPr>
          <a:xfrm>
            <a:off x="7601133" y="4475278"/>
            <a:ext cx="1117800" cy="38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3"/>
                </a:solidFill>
                <a:latin typeface="Quattrocento Sans"/>
                <a:ea typeface="Quattrocento Sans"/>
                <a:cs typeface="Quattrocento Sans"/>
                <a:sym typeface="Quattrocento Sans"/>
              </a:rPr>
              <a:t>Predicted Class</a:t>
            </a:r>
            <a:endParaRPr b="1" i="0" sz="1000" u="none" cap="none" strike="noStrike">
              <a:solidFill>
                <a:schemeClr val="accent3"/>
              </a:solidFill>
              <a:latin typeface="Quattrocento Sans"/>
              <a:ea typeface="Quattrocento Sans"/>
              <a:cs typeface="Quattrocento Sans"/>
              <a:sym typeface="Quattrocento Sans"/>
            </a:endParaRPr>
          </a:p>
        </p:txBody>
      </p:sp>
      <p:sp>
        <p:nvSpPr>
          <p:cNvPr id="325" name="Google Shape;325;g3dd637020ec_0_51"/>
          <p:cNvSpPr txBox="1"/>
          <p:nvPr/>
        </p:nvSpPr>
        <p:spPr>
          <a:xfrm>
            <a:off x="6758724" y="4465558"/>
            <a:ext cx="1117800" cy="38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3"/>
                </a:solidFill>
                <a:latin typeface="Quattrocento Sans"/>
                <a:ea typeface="Quattrocento Sans"/>
                <a:cs typeface="Quattrocento Sans"/>
                <a:sym typeface="Quattrocento Sans"/>
              </a:rPr>
              <a:t>True Class</a:t>
            </a:r>
            <a:endParaRPr b="1" i="0" sz="1000" u="none" cap="none" strike="noStrike">
              <a:solidFill>
                <a:schemeClr val="accent3"/>
              </a:solidFill>
              <a:latin typeface="Quattrocento Sans"/>
              <a:ea typeface="Quattrocento Sans"/>
              <a:cs typeface="Quattrocento Sans"/>
              <a:sym typeface="Quattrocento Sans"/>
            </a:endParaRPr>
          </a:p>
        </p:txBody>
      </p:sp>
      <p:cxnSp>
        <p:nvCxnSpPr>
          <p:cNvPr id="326" name="Google Shape;326;g3dd637020ec_0_51"/>
          <p:cNvCxnSpPr>
            <a:stCxn id="323" idx="0"/>
          </p:cNvCxnSpPr>
          <p:nvPr/>
        </p:nvCxnSpPr>
        <p:spPr>
          <a:xfrm flipH="1" rot="10800000">
            <a:off x="6112362" y="4129678"/>
            <a:ext cx="899100" cy="345600"/>
          </a:xfrm>
          <a:prstGeom prst="straightConnector1">
            <a:avLst/>
          </a:prstGeom>
          <a:noFill/>
          <a:ln cap="flat" cmpd="sng" w="19050">
            <a:solidFill>
              <a:schemeClr val="accent2"/>
            </a:solidFill>
            <a:prstDash val="solid"/>
            <a:round/>
            <a:headEnd len="sm" w="sm" type="none"/>
            <a:tailEnd len="med" w="med" type="triangle"/>
          </a:ln>
        </p:spPr>
      </p:cxnSp>
      <p:cxnSp>
        <p:nvCxnSpPr>
          <p:cNvPr id="327" name="Google Shape;327;g3dd637020ec_0_51"/>
          <p:cNvCxnSpPr/>
          <p:nvPr/>
        </p:nvCxnSpPr>
        <p:spPr>
          <a:xfrm rot="10800000">
            <a:off x="7234824" y="4090916"/>
            <a:ext cx="82800" cy="403800"/>
          </a:xfrm>
          <a:prstGeom prst="straightConnector1">
            <a:avLst/>
          </a:prstGeom>
          <a:noFill/>
          <a:ln cap="flat" cmpd="sng" w="19050">
            <a:solidFill>
              <a:schemeClr val="accent2"/>
            </a:solidFill>
            <a:prstDash val="solid"/>
            <a:round/>
            <a:headEnd len="sm" w="sm" type="none"/>
            <a:tailEnd len="med" w="med" type="triangle"/>
          </a:ln>
        </p:spPr>
      </p:cxnSp>
      <p:cxnSp>
        <p:nvCxnSpPr>
          <p:cNvPr id="328" name="Google Shape;328;g3dd637020ec_0_51"/>
          <p:cNvCxnSpPr>
            <a:stCxn id="324" idx="0"/>
          </p:cNvCxnSpPr>
          <p:nvPr/>
        </p:nvCxnSpPr>
        <p:spPr>
          <a:xfrm rot="10800000">
            <a:off x="7711233" y="4100578"/>
            <a:ext cx="448800" cy="374700"/>
          </a:xfrm>
          <a:prstGeom prst="straightConnector1">
            <a:avLst/>
          </a:prstGeom>
          <a:noFill/>
          <a:ln cap="flat" cmpd="sng" w="19050">
            <a:solidFill>
              <a:schemeClr val="accent2"/>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dd637020ec_0_88"/>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Perceptron Process Overview</a:t>
            </a:r>
            <a:endParaRPr>
              <a:highlight>
                <a:schemeClr val="accent1"/>
              </a:highlight>
            </a:endParaRPr>
          </a:p>
        </p:txBody>
      </p:sp>
      <p:grpSp>
        <p:nvGrpSpPr>
          <p:cNvPr id="334" name="Google Shape;334;g3dd637020ec_0_88"/>
          <p:cNvGrpSpPr/>
          <p:nvPr/>
        </p:nvGrpSpPr>
        <p:grpSpPr>
          <a:xfrm>
            <a:off x="916458" y="1019750"/>
            <a:ext cx="214625" cy="214625"/>
            <a:chOff x="2594050" y="1631825"/>
            <a:chExt cx="439625" cy="439625"/>
          </a:xfrm>
        </p:grpSpPr>
        <p:sp>
          <p:nvSpPr>
            <p:cNvPr id="335" name="Google Shape;335;g3dd637020ec_0_88"/>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g3dd637020ec_0_88"/>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3dd637020ec_0_88"/>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g3dd637020ec_0_88"/>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9" name="Google Shape;339;g3dd637020ec_0_88"/>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pic>
        <p:nvPicPr>
          <p:cNvPr id="340" name="Google Shape;340;g3dd637020ec_0_88" title="Screen Shot 2025-09-25 at 12.12.42 PM.png"/>
          <p:cNvPicPr preferRelativeResize="0"/>
          <p:nvPr/>
        </p:nvPicPr>
        <p:blipFill rotWithShape="1">
          <a:blip r:embed="rId3">
            <a:alphaModFix/>
          </a:blip>
          <a:srcRect b="0" l="0" r="0" t="0"/>
          <a:stretch/>
        </p:blipFill>
        <p:spPr>
          <a:xfrm>
            <a:off x="1552752" y="1513200"/>
            <a:ext cx="5808499" cy="33500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cxnSp>
        <p:nvCxnSpPr>
          <p:cNvPr id="345" name="Google Shape;345;g3dd637020ec_0_99"/>
          <p:cNvCxnSpPr/>
          <p:nvPr/>
        </p:nvCxnSpPr>
        <p:spPr>
          <a:xfrm>
            <a:off x="6450" y="1428750"/>
            <a:ext cx="2397300" cy="0"/>
          </a:xfrm>
          <a:prstGeom prst="straightConnector1">
            <a:avLst/>
          </a:prstGeom>
          <a:noFill/>
          <a:ln cap="flat" cmpd="sng" w="9525">
            <a:solidFill>
              <a:srgbClr val="CCCCCC"/>
            </a:solidFill>
            <a:prstDash val="solid"/>
            <a:round/>
            <a:headEnd len="sm" w="sm" type="none"/>
            <a:tailEnd len="sm" w="sm" type="none"/>
          </a:ln>
        </p:spPr>
      </p:cxnSp>
      <p:sp>
        <p:nvSpPr>
          <p:cNvPr id="346" name="Google Shape;346;g3dd637020ec_0_99"/>
          <p:cNvSpPr txBox="1"/>
          <p:nvPr>
            <p:ph idx="4294967295" type="ctrTitle"/>
          </p:nvPr>
        </p:nvSpPr>
        <p:spPr>
          <a:xfrm>
            <a:off x="1488325" y="2283925"/>
            <a:ext cx="5756100" cy="11598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600"/>
              </a:spcBef>
              <a:spcAft>
                <a:spcPts val="0"/>
              </a:spcAft>
              <a:buClr>
                <a:schemeClr val="dk1"/>
              </a:buClr>
              <a:buSzPts val="1100"/>
              <a:buFont typeface="Arial"/>
              <a:buNone/>
            </a:pPr>
            <a:r>
              <a:rPr b="1" i="1" lang="en" sz="2600" u="none" cap="none" strike="noStrike">
                <a:solidFill>
                  <a:schemeClr val="dk1"/>
                </a:solidFill>
                <a:latin typeface="Lora"/>
                <a:ea typeface="Lora"/>
                <a:cs typeface="Lora"/>
                <a:sym typeface="Lora"/>
              </a:rPr>
              <a:t>Implementing  Perceptron in Python</a:t>
            </a:r>
            <a:endParaRPr b="1" i="0" sz="5000" u="none" cap="none" strike="noStrike">
              <a:solidFill>
                <a:schemeClr val="dk1"/>
              </a:solidFill>
              <a:latin typeface="Lora"/>
              <a:ea typeface="Lora"/>
              <a:cs typeface="Lora"/>
              <a:sym typeface="Lora"/>
            </a:endParaRPr>
          </a:p>
        </p:txBody>
      </p:sp>
      <p:cxnSp>
        <p:nvCxnSpPr>
          <p:cNvPr id="347" name="Google Shape;347;g3dd637020ec_0_99"/>
          <p:cNvCxnSpPr/>
          <p:nvPr/>
        </p:nvCxnSpPr>
        <p:spPr>
          <a:xfrm>
            <a:off x="6319150" y="1424350"/>
            <a:ext cx="2824500" cy="4500"/>
          </a:xfrm>
          <a:prstGeom prst="straightConnector1">
            <a:avLst/>
          </a:prstGeom>
          <a:noFill/>
          <a:ln cap="flat" cmpd="sng" w="9525">
            <a:solidFill>
              <a:srgbClr val="CCCCCC"/>
            </a:solidFill>
            <a:prstDash val="solid"/>
            <a:round/>
            <a:headEnd len="sm" w="sm" type="none"/>
            <a:tailEnd len="sm" w="sm" type="none"/>
          </a:ln>
        </p:spPr>
      </p:cxnSp>
      <p:sp>
        <p:nvSpPr>
          <p:cNvPr id="348" name="Google Shape;348;g3dd637020ec_0_99"/>
          <p:cNvSpPr/>
          <p:nvPr/>
        </p:nvSpPr>
        <p:spPr>
          <a:xfrm>
            <a:off x="831925" y="859175"/>
            <a:ext cx="1139100" cy="1139100"/>
          </a:xfrm>
          <a:prstGeom prst="ellipse">
            <a:avLst/>
          </a:prstGeom>
          <a:solidFill>
            <a:srgbClr val="FFC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g3dd637020ec_0_99"/>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grpSp>
        <p:nvGrpSpPr>
          <p:cNvPr id="350" name="Google Shape;350;g3dd637020ec_0_99"/>
          <p:cNvGrpSpPr/>
          <p:nvPr/>
        </p:nvGrpSpPr>
        <p:grpSpPr>
          <a:xfrm>
            <a:off x="1070856" y="1019631"/>
            <a:ext cx="647216" cy="680979"/>
            <a:chOff x="2594050" y="1631825"/>
            <a:chExt cx="439625" cy="439625"/>
          </a:xfrm>
        </p:grpSpPr>
        <p:sp>
          <p:nvSpPr>
            <p:cNvPr id="351" name="Google Shape;351;g3dd637020ec_0_99"/>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sp>
          <p:nvSpPr>
            <p:cNvPr id="352" name="Google Shape;352;g3dd637020ec_0_99"/>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sp>
          <p:nvSpPr>
            <p:cNvPr id="353" name="Google Shape;353;g3dd637020ec_0_99"/>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sp>
          <p:nvSpPr>
            <p:cNvPr id="354" name="Google Shape;354;g3dd637020ec_0_99"/>
            <p:cNvSpPr/>
            <p:nvPr/>
          </p:nvSpPr>
          <p:spPr>
            <a:xfrm>
              <a:off x="2814912" y="1754062"/>
              <a:ext cx="49950" cy="49950"/>
            </a:xfrm>
            <a:custGeom>
              <a:rect b="b" l="l" r="r" t="t"/>
              <a:pathLst>
                <a:path extrusionOk="0" fill="none" h="1998" w="1998">
                  <a:moveTo>
                    <a:pt x="1" y="1997"/>
                  </a:moveTo>
                  <a:lnTo>
                    <a:pt x="1998" y="0"/>
                  </a:lnTo>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grpSp>
      <p:sp>
        <p:nvSpPr>
          <p:cNvPr id="355" name="Google Shape;355;g3dd637020ec_0_99"/>
          <p:cNvSpPr/>
          <p:nvPr/>
        </p:nvSpPr>
        <p:spPr>
          <a:xfrm>
            <a:off x="0" y="4539250"/>
            <a:ext cx="9149700" cy="604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1" lang="en" sz="1600" u="none" cap="none" strike="noStrike">
                <a:solidFill>
                  <a:srgbClr val="000000"/>
                </a:solidFill>
                <a:latin typeface="Lora"/>
                <a:ea typeface="Lora"/>
                <a:cs typeface="Lora"/>
                <a:sym typeface="Lora"/>
              </a:rPr>
              <a:t>Chapter 2</a:t>
            </a:r>
            <a:endParaRPr b="1" i="1" sz="1600" u="none" cap="none" strike="noStrike">
              <a:solidFill>
                <a:srgbClr val="000000"/>
              </a:solidFill>
              <a:latin typeface="Lora"/>
              <a:ea typeface="Lora"/>
              <a:cs typeface="Lora"/>
              <a:sym typeface="Lo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dd637020ec_0_72"/>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Perceptron Convergence &amp; Limitations</a:t>
            </a:r>
            <a:endParaRPr>
              <a:highlight>
                <a:schemeClr val="accent1"/>
              </a:highlight>
            </a:endParaRPr>
          </a:p>
        </p:txBody>
      </p:sp>
      <p:grpSp>
        <p:nvGrpSpPr>
          <p:cNvPr id="361" name="Google Shape;361;g3dd637020ec_0_72"/>
          <p:cNvGrpSpPr/>
          <p:nvPr/>
        </p:nvGrpSpPr>
        <p:grpSpPr>
          <a:xfrm>
            <a:off x="916458" y="1019750"/>
            <a:ext cx="214625" cy="214625"/>
            <a:chOff x="2594050" y="1631825"/>
            <a:chExt cx="439625" cy="439625"/>
          </a:xfrm>
        </p:grpSpPr>
        <p:sp>
          <p:nvSpPr>
            <p:cNvPr id="362" name="Google Shape;362;g3dd637020ec_0_72"/>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g3dd637020ec_0_72"/>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3dd637020ec_0_72"/>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g3dd637020ec_0_72"/>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6" name="Google Shape;366;g3dd637020ec_0_72"/>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367" name="Google Shape;367;g3dd637020ec_0_72"/>
          <p:cNvSpPr txBox="1"/>
          <p:nvPr/>
        </p:nvSpPr>
        <p:spPr>
          <a:xfrm>
            <a:off x="684275" y="1547800"/>
            <a:ext cx="7859100" cy="2200500"/>
          </a:xfrm>
          <a:prstGeom prst="rect">
            <a:avLst/>
          </a:prstGeom>
          <a:noFill/>
          <a:ln>
            <a:noFill/>
          </a:ln>
        </p:spPr>
        <p:txBody>
          <a:bodyPr anchorCtr="0" anchor="t" bIns="91425" lIns="91425" spcFirstLastPara="1" rIns="91425" wrap="square" tIns="91425">
            <a:noAutofit/>
          </a:bodyPr>
          <a:lstStyle/>
          <a:p>
            <a:pPr indent="-203200" lvl="0" marL="342900" marR="0" rtl="0" algn="l">
              <a:lnSpc>
                <a:spcPct val="115000"/>
              </a:lnSpc>
              <a:spcBef>
                <a:spcPts val="0"/>
              </a:spcBef>
              <a:spcAft>
                <a:spcPts val="0"/>
              </a:spcAft>
              <a:buClr>
                <a:schemeClr val="accent1"/>
              </a:buClr>
              <a:buSzPts val="1400"/>
              <a:buFont typeface="Quattrocento Sans"/>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The perceptron only converges if the data is linearly separable.</a:t>
            </a:r>
            <a:endParaRPr b="0" i="0" sz="1400" u="none" cap="none" strike="noStrike">
              <a:solidFill>
                <a:schemeClr val="dk1"/>
              </a:solidFill>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500"/>
              <a:buFont typeface="Arial"/>
              <a:buNone/>
            </a:pPr>
            <a:r>
              <a:t/>
            </a:r>
            <a:endParaRPr b="0" i="0" sz="5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3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pic>
        <p:nvPicPr>
          <p:cNvPr id="368" name="Google Shape;368;g3dd637020ec_0_72" title="Screen Shot 2025-09-25 at 11.50.45 AM.png"/>
          <p:cNvPicPr preferRelativeResize="0"/>
          <p:nvPr/>
        </p:nvPicPr>
        <p:blipFill rotWithShape="1">
          <a:blip r:embed="rId3">
            <a:alphaModFix/>
          </a:blip>
          <a:srcRect b="11567" l="0" r="0" t="0"/>
          <a:stretch/>
        </p:blipFill>
        <p:spPr>
          <a:xfrm>
            <a:off x="2265275" y="2056450"/>
            <a:ext cx="4519127" cy="1621601"/>
          </a:xfrm>
          <a:prstGeom prst="rect">
            <a:avLst/>
          </a:prstGeom>
          <a:noFill/>
          <a:ln>
            <a:noFill/>
          </a:ln>
        </p:spPr>
      </p:pic>
      <p:sp>
        <p:nvSpPr>
          <p:cNvPr id="369" name="Google Shape;369;g3dd637020ec_0_72"/>
          <p:cNvSpPr txBox="1"/>
          <p:nvPr/>
        </p:nvSpPr>
        <p:spPr>
          <a:xfrm>
            <a:off x="1529667" y="4293717"/>
            <a:ext cx="6408000" cy="611100"/>
          </a:xfrm>
          <a:prstGeom prst="rect">
            <a:avLst/>
          </a:prstGeom>
          <a:noFill/>
          <a:ln>
            <a:noFill/>
          </a:ln>
        </p:spPr>
        <p:txBody>
          <a:bodyPr anchorCtr="0" anchor="t" bIns="91425" lIns="91425" spcFirstLastPara="1" rIns="91425" wrap="square" tIns="91425">
            <a:noAutofit/>
          </a:bodyPr>
          <a:lstStyle/>
          <a:p>
            <a:pPr indent="-190500" lvl="1" marL="514350" marR="0" rtl="0" algn="l">
              <a:lnSpc>
                <a:spcPct val="115000"/>
              </a:lnSpc>
              <a:spcBef>
                <a:spcPts val="0"/>
              </a:spcBef>
              <a:spcAft>
                <a:spcPts val="0"/>
              </a:spcAft>
              <a:buClr>
                <a:schemeClr val="accent1"/>
              </a:buClr>
              <a:buSzPts val="1200"/>
              <a:buFont typeface="Quattrocento Sans"/>
              <a:buChar char="○"/>
            </a:pPr>
            <a:r>
              <a:rPr b="0" i="0" lang="en" sz="1200" u="none" cap="none" strike="noStrike">
                <a:solidFill>
                  <a:schemeClr val="dk1"/>
                </a:solidFill>
                <a:highlight>
                  <a:schemeClr val="lt1"/>
                </a:highlight>
                <a:latin typeface="Quattrocento Sans"/>
                <a:ea typeface="Quattrocento Sans"/>
                <a:cs typeface="Quattrocento Sans"/>
                <a:sym typeface="Quattrocento Sans"/>
              </a:rPr>
              <a:t>Set a maximum number of epochs (passes over data).</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90500" lvl="1" marL="514350" marR="0" rtl="0" algn="l">
              <a:lnSpc>
                <a:spcPct val="115000"/>
              </a:lnSpc>
              <a:spcBef>
                <a:spcPts val="0"/>
              </a:spcBef>
              <a:spcAft>
                <a:spcPts val="0"/>
              </a:spcAft>
              <a:buClr>
                <a:schemeClr val="accent1"/>
              </a:buClr>
              <a:buSzPts val="1200"/>
              <a:buFont typeface="Quattrocento Sans"/>
              <a:buChar char="○"/>
            </a:pPr>
            <a:r>
              <a:rPr b="0" i="0" lang="en" sz="1200" u="none" cap="none" strike="noStrike">
                <a:solidFill>
                  <a:schemeClr val="dk1"/>
                </a:solidFill>
                <a:highlight>
                  <a:schemeClr val="lt1"/>
                </a:highlight>
                <a:latin typeface="Quattrocento Sans"/>
                <a:ea typeface="Quattrocento Sans"/>
                <a:cs typeface="Quattrocento Sans"/>
                <a:sym typeface="Quattrocento Sans"/>
              </a:rPr>
              <a:t>Allow some tolerated errors (misclassifications).</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300"/>
              </a:spcBef>
              <a:spcAft>
                <a:spcPts val="3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sp>
        <p:nvSpPr>
          <p:cNvPr id="370" name="Google Shape;370;g3dd637020ec_0_72"/>
          <p:cNvSpPr txBox="1"/>
          <p:nvPr/>
        </p:nvSpPr>
        <p:spPr>
          <a:xfrm>
            <a:off x="5310500" y="3934048"/>
            <a:ext cx="3372600" cy="61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400" u="none" cap="none" strike="noStrike">
                <a:solidFill>
                  <a:schemeClr val="accent2"/>
                </a:solidFill>
                <a:latin typeface="Quattrocento Sans"/>
                <a:ea typeface="Quattrocento Sans"/>
                <a:cs typeface="Quattrocento Sans"/>
                <a:sym typeface="Quattrocento Sans"/>
              </a:rPr>
              <a:t>The perceptron keeps updating forever.</a:t>
            </a:r>
            <a:endParaRPr b="1" i="0" sz="1400" u="none" cap="none" strike="noStrike">
              <a:solidFill>
                <a:schemeClr val="accent2"/>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chemeClr val="dk1"/>
              </a:buClr>
              <a:buSzPts val="1100"/>
              <a:buFont typeface="Arial"/>
              <a:buNone/>
            </a:pPr>
            <a:r>
              <a:rPr b="1" i="0" lang="en" sz="1400" u="none" cap="none" strike="noStrike">
                <a:solidFill>
                  <a:schemeClr val="accent2"/>
                </a:solidFill>
                <a:latin typeface="Quattrocento Sans"/>
                <a:ea typeface="Quattrocento Sans"/>
                <a:cs typeface="Quattrocento Sans"/>
                <a:sym typeface="Quattrocento Sans"/>
              </a:rPr>
              <a:t>Endless Oscillation</a:t>
            </a:r>
            <a:endParaRPr b="1" i="0" sz="1400" u="none" cap="none" strike="noStrike">
              <a:solidFill>
                <a:schemeClr val="accent2"/>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accent2"/>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Quattrocento Sans"/>
              <a:ea typeface="Quattrocento Sans"/>
              <a:cs typeface="Quattrocento Sans"/>
              <a:sym typeface="Quattrocento Sans"/>
            </a:endParaRPr>
          </a:p>
        </p:txBody>
      </p:sp>
      <p:sp>
        <p:nvSpPr>
          <p:cNvPr id="371" name="Google Shape;371;g3dd637020ec_0_72"/>
          <p:cNvSpPr txBox="1"/>
          <p:nvPr/>
        </p:nvSpPr>
        <p:spPr>
          <a:xfrm>
            <a:off x="1111726" y="4282821"/>
            <a:ext cx="767700" cy="272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1200" u="none" cap="none" strike="noStrike">
                <a:solidFill>
                  <a:schemeClr val="dk1"/>
                </a:solidFill>
                <a:highlight>
                  <a:schemeClr val="lt1"/>
                </a:highlight>
                <a:latin typeface="Quattrocento Sans"/>
                <a:ea typeface="Quattrocento Sans"/>
                <a:cs typeface="Quattrocento Sans"/>
                <a:sym typeface="Quattrocento Sans"/>
              </a:rPr>
              <a:t>Solution:</a:t>
            </a:r>
            <a:endParaRPr b="0" i="0" sz="2400" u="none" cap="none" strike="noStrike">
              <a:solidFill>
                <a:schemeClr val="dk1"/>
              </a:solidFill>
              <a:latin typeface="Quattrocento Sans"/>
              <a:ea typeface="Quattrocento Sans"/>
              <a:cs typeface="Quattrocento Sans"/>
              <a:sym typeface="Quattrocento Sans"/>
            </a:endParaRPr>
          </a:p>
        </p:txBody>
      </p:sp>
      <p:sp>
        <p:nvSpPr>
          <p:cNvPr id="372" name="Google Shape;372;g3dd637020ec_0_72"/>
          <p:cNvSpPr txBox="1"/>
          <p:nvPr/>
        </p:nvSpPr>
        <p:spPr>
          <a:xfrm>
            <a:off x="722961" y="3942638"/>
            <a:ext cx="5005500" cy="384900"/>
          </a:xfrm>
          <a:prstGeom prst="rect">
            <a:avLst/>
          </a:prstGeom>
          <a:noFill/>
          <a:ln>
            <a:noFill/>
          </a:ln>
        </p:spPr>
        <p:txBody>
          <a:bodyPr anchorCtr="0" anchor="t" bIns="91425" lIns="91425" spcFirstLastPara="1" rIns="91425" wrap="square" tIns="91425">
            <a:spAutoFit/>
          </a:bodyPr>
          <a:lstStyle/>
          <a:p>
            <a:pPr indent="-196850" lvl="0" marL="342900" marR="0" rtl="0" algn="l">
              <a:lnSpc>
                <a:spcPct val="115000"/>
              </a:lnSpc>
              <a:spcBef>
                <a:spcPts val="1500"/>
              </a:spcBef>
              <a:spcAft>
                <a:spcPts val="500"/>
              </a:spcAft>
              <a:buClr>
                <a:schemeClr val="accent1"/>
              </a:buClr>
              <a:buSzPts val="1300"/>
              <a:buFont typeface="Quattrocento Sans"/>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What will happen if the data is not linearly separable?</a:t>
            </a:r>
            <a:endParaRPr b="0" i="0" sz="1300" u="none" cap="none" strike="noStrike">
              <a:solidFill>
                <a:schemeClr val="dk1"/>
              </a:solidFill>
              <a:latin typeface="Quattrocento Sans"/>
              <a:ea typeface="Quattrocento Sans"/>
              <a:cs typeface="Quattrocento Sans"/>
              <a:sym typeface="Quattrocento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dd637020ec_0_113"/>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Adaptive Linear Neurons (Adaline)</a:t>
            </a:r>
            <a:endParaRPr>
              <a:highlight>
                <a:schemeClr val="accent1"/>
              </a:highlight>
            </a:endParaRPr>
          </a:p>
        </p:txBody>
      </p:sp>
      <p:grpSp>
        <p:nvGrpSpPr>
          <p:cNvPr id="378" name="Google Shape;378;g3dd637020ec_0_113"/>
          <p:cNvGrpSpPr/>
          <p:nvPr/>
        </p:nvGrpSpPr>
        <p:grpSpPr>
          <a:xfrm>
            <a:off x="916458" y="1019750"/>
            <a:ext cx="214625" cy="214625"/>
            <a:chOff x="2594050" y="1631825"/>
            <a:chExt cx="439625" cy="439625"/>
          </a:xfrm>
        </p:grpSpPr>
        <p:sp>
          <p:nvSpPr>
            <p:cNvPr id="379" name="Google Shape;379;g3dd637020ec_0_113"/>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3dd637020ec_0_113"/>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3dd637020ec_0_113"/>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g3dd637020ec_0_113"/>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3" name="Google Shape;383;g3dd637020ec_0_113"/>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384" name="Google Shape;384;g3dd637020ec_0_113"/>
          <p:cNvSpPr txBox="1"/>
          <p:nvPr/>
        </p:nvSpPr>
        <p:spPr>
          <a:xfrm>
            <a:off x="684275" y="1547800"/>
            <a:ext cx="8172900" cy="3427800"/>
          </a:xfrm>
          <a:prstGeom prst="rect">
            <a:avLst/>
          </a:prstGeom>
          <a:noFill/>
          <a:ln>
            <a:noFill/>
          </a:ln>
        </p:spPr>
        <p:txBody>
          <a:bodyPr anchorCtr="0" anchor="t" bIns="91425" lIns="91425" spcFirstLastPara="1" rIns="91425" wrap="square" tIns="91425">
            <a:noAutofit/>
          </a:bodyPr>
          <a:lstStyle/>
          <a:p>
            <a:pPr indent="-203200" lvl="0" marL="342900" marR="0" rtl="0" algn="l">
              <a:lnSpc>
                <a:spcPct val="115000"/>
              </a:lnSpc>
              <a:spcBef>
                <a:spcPts val="0"/>
              </a:spcBef>
              <a:spcAft>
                <a:spcPts val="0"/>
              </a:spcAft>
              <a:buClr>
                <a:schemeClr val="accent1"/>
              </a:buClr>
              <a:buSzPts val="1400"/>
              <a:buFont typeface="Quattrocento Sans"/>
              <a:buChar char="◉"/>
            </a:pPr>
            <a:r>
              <a:rPr b="0" i="0" lang="en" sz="1400" u="none" cap="none" strike="noStrike">
                <a:solidFill>
                  <a:schemeClr val="dk1"/>
                </a:solidFill>
                <a:latin typeface="Quattrocento Sans"/>
                <a:ea typeface="Quattrocento Sans"/>
                <a:cs typeface="Quattrocento Sans"/>
                <a:sym typeface="Quattrocento Sans"/>
              </a:rPr>
              <a:t>Use in classification task.</a:t>
            </a:r>
            <a:endParaRPr b="0" i="0" sz="1400" u="none" cap="none" strike="noStrike">
              <a:solidFill>
                <a:schemeClr val="dk1"/>
              </a:solidFill>
              <a:latin typeface="Quattrocento Sans"/>
              <a:ea typeface="Quattrocento Sans"/>
              <a:cs typeface="Quattrocento Sans"/>
              <a:sym typeface="Quattrocento Sans"/>
            </a:endParaRPr>
          </a:p>
          <a:p>
            <a:pPr indent="-203200" lvl="0" marL="342900" marR="0" rtl="0" algn="l">
              <a:lnSpc>
                <a:spcPct val="115000"/>
              </a:lnSpc>
              <a:spcBef>
                <a:spcPts val="500"/>
              </a:spcBef>
              <a:spcAft>
                <a:spcPts val="0"/>
              </a:spcAft>
              <a:buClr>
                <a:schemeClr val="accent1"/>
              </a:buClr>
              <a:buSzPts val="1400"/>
              <a:buFont typeface="Quattrocento Sans"/>
              <a:buChar char="◉"/>
            </a:pPr>
            <a:r>
              <a:rPr b="0" i="0" lang="en" sz="1400" u="none" cap="none" strike="noStrike">
                <a:solidFill>
                  <a:schemeClr val="dk1"/>
                </a:solidFill>
                <a:latin typeface="Quattrocento Sans"/>
                <a:ea typeface="Quattrocento Sans"/>
                <a:cs typeface="Quattrocento Sans"/>
                <a:sym typeface="Quattrocento Sans"/>
              </a:rPr>
              <a:t>Uses a </a:t>
            </a:r>
            <a:r>
              <a:rPr b="1" i="0" lang="en" sz="1400" u="none" cap="none" strike="noStrike">
                <a:solidFill>
                  <a:schemeClr val="dk1"/>
                </a:solidFill>
                <a:latin typeface="Quattrocento Sans"/>
                <a:ea typeface="Quattrocento Sans"/>
                <a:cs typeface="Quattrocento Sans"/>
                <a:sym typeface="Quattrocento Sans"/>
              </a:rPr>
              <a:t>continuous</a:t>
            </a:r>
            <a:r>
              <a:rPr b="0" i="0" lang="en" sz="1400" u="none" cap="none" strike="noStrike">
                <a:solidFill>
                  <a:schemeClr val="dk1"/>
                </a:solidFill>
                <a:latin typeface="Quattrocento Sans"/>
                <a:ea typeface="Quattrocento Sans"/>
                <a:cs typeface="Quattrocento Sans"/>
                <a:sym typeface="Quattrocento Sans"/>
              </a:rPr>
              <a:t> error measure </a:t>
            </a:r>
            <a:r>
              <a:rPr b="0" i="0" lang="en" sz="1300" u="none" cap="none" strike="noStrike">
                <a:solidFill>
                  <a:schemeClr val="dk1"/>
                </a:solidFill>
                <a:latin typeface="Quattrocento Sans"/>
                <a:ea typeface="Quattrocento Sans"/>
                <a:cs typeface="Quattrocento Sans"/>
                <a:sym typeface="Quattrocento Sans"/>
              </a:rPr>
              <a:t>(linear activation)</a:t>
            </a:r>
            <a:r>
              <a:rPr b="0" i="0" lang="en" sz="1400" u="none" cap="none" strike="noStrike">
                <a:solidFill>
                  <a:schemeClr val="dk1"/>
                </a:solidFill>
                <a:latin typeface="Quattrocento Sans"/>
                <a:ea typeface="Quattrocento Sans"/>
                <a:cs typeface="Quattrocento Sans"/>
                <a:sym typeface="Quattrocento Sans"/>
              </a:rPr>
              <a:t> instead of binary correct/incorrect </a:t>
            </a:r>
            <a:r>
              <a:rPr b="0" i="0" lang="en" sz="1300" u="none" cap="none" strike="noStrike">
                <a:solidFill>
                  <a:schemeClr val="dk1"/>
                </a:solidFill>
                <a:latin typeface="Quattrocento Sans"/>
                <a:ea typeface="Quattrocento Sans"/>
                <a:cs typeface="Quattrocento Sans"/>
                <a:sym typeface="Quattrocento Sans"/>
              </a:rPr>
              <a:t>(step function)</a:t>
            </a:r>
            <a:endParaRPr b="0" i="0" sz="1300" u="none" cap="none" strike="noStrike">
              <a:solidFill>
                <a:schemeClr val="dk1"/>
              </a:solidFill>
              <a:latin typeface="Quattrocento Sans"/>
              <a:ea typeface="Quattrocento Sans"/>
              <a:cs typeface="Quattrocento Sans"/>
              <a:sym typeface="Quattrocento Sans"/>
            </a:endParaRPr>
          </a:p>
          <a:p>
            <a:pPr indent="-196850" lvl="1" marL="514350" marR="0" rtl="0" algn="l">
              <a:lnSpc>
                <a:spcPct val="115000"/>
              </a:lnSpc>
              <a:spcBef>
                <a:spcPts val="500"/>
              </a:spcBef>
              <a:spcAft>
                <a:spcPts val="0"/>
              </a:spcAft>
              <a:buClr>
                <a:schemeClr val="accent2"/>
              </a:buClr>
              <a:buSzPts val="1300"/>
              <a:buFont typeface="Quattrocento Sans"/>
              <a:buChar char="○"/>
            </a:pPr>
            <a:r>
              <a:rPr b="1" i="0" lang="en" sz="1300" u="none" cap="none" strike="noStrike">
                <a:solidFill>
                  <a:schemeClr val="dk1"/>
                </a:solidFill>
                <a:latin typeface="Quattrocento Sans"/>
                <a:ea typeface="Quattrocento Sans"/>
                <a:cs typeface="Quattrocento Sans"/>
                <a:sym typeface="Quattrocento Sans"/>
              </a:rPr>
              <a:t>Linear activation function:</a:t>
            </a:r>
            <a:r>
              <a:rPr b="0" i="0" lang="en" sz="1300" u="none" cap="none" strike="noStrike">
                <a:solidFill>
                  <a:schemeClr val="dk1"/>
                </a:solidFill>
                <a:latin typeface="Quattrocento Sans"/>
                <a:ea typeface="Quattrocento Sans"/>
                <a:cs typeface="Quattrocento Sans"/>
                <a:sym typeface="Quattrocento Sans"/>
              </a:rPr>
              <a:t> 𝜎(z) = z (identity function)</a:t>
            </a:r>
            <a:endParaRPr b="0" i="0" sz="1300" u="none" cap="none" strike="noStrike">
              <a:solidFill>
                <a:schemeClr val="dk1"/>
              </a:solidFill>
              <a:latin typeface="Quattrocento Sans"/>
              <a:ea typeface="Quattrocento Sans"/>
              <a:cs typeface="Quattrocento Sans"/>
              <a:sym typeface="Quattrocento Sans"/>
            </a:endParaRPr>
          </a:p>
          <a:p>
            <a:pPr indent="-203200" lvl="0" marL="342900" marR="0" rtl="0" algn="l">
              <a:lnSpc>
                <a:spcPct val="115000"/>
              </a:lnSpc>
              <a:spcBef>
                <a:spcPts val="1000"/>
              </a:spcBef>
              <a:spcAft>
                <a:spcPts val="0"/>
              </a:spcAft>
              <a:buClr>
                <a:schemeClr val="accent1"/>
              </a:buClr>
              <a:buSzPts val="1400"/>
              <a:buFont typeface="Quattrocento Sans"/>
              <a:buChar char="◉"/>
            </a:pPr>
            <a:r>
              <a:rPr b="1" i="0" lang="en" sz="1400" u="none" cap="none" strike="noStrike">
                <a:solidFill>
                  <a:schemeClr val="dk1"/>
                </a:solidFill>
                <a:latin typeface="Quattrocento Sans"/>
                <a:ea typeface="Quattrocento Sans"/>
                <a:cs typeface="Quattrocento Sans"/>
                <a:sym typeface="Quattrocento Sans"/>
              </a:rPr>
              <a:t>Goal:</a:t>
            </a:r>
            <a:r>
              <a:rPr b="0" i="0" lang="en" sz="1400" u="none" cap="none" strike="noStrike">
                <a:solidFill>
                  <a:schemeClr val="dk1"/>
                </a:solidFill>
                <a:latin typeface="Quattrocento Sans"/>
                <a:ea typeface="Quattrocento Sans"/>
                <a:cs typeface="Quattrocento Sans"/>
                <a:sym typeface="Quattrocento Sans"/>
              </a:rPr>
              <a:t> minimize the difference between predicted and true labels. </a:t>
            </a:r>
            <a:endParaRPr b="1" i="0" sz="1400" u="none" cap="none" strike="noStrike">
              <a:solidFill>
                <a:schemeClr val="dk1"/>
              </a:solidFill>
              <a:latin typeface="Quattrocento Sans"/>
              <a:ea typeface="Quattrocento Sans"/>
              <a:cs typeface="Quattrocento Sans"/>
              <a:sym typeface="Quattrocento Sans"/>
            </a:endParaRPr>
          </a:p>
          <a:p>
            <a:pPr indent="-203200" lvl="0" marL="342900" marR="0" rtl="0" algn="l">
              <a:lnSpc>
                <a:spcPct val="115000"/>
              </a:lnSpc>
              <a:spcBef>
                <a:spcPts val="1000"/>
              </a:spcBef>
              <a:spcAft>
                <a:spcPts val="0"/>
              </a:spcAft>
              <a:buClr>
                <a:schemeClr val="accent1"/>
              </a:buClr>
              <a:buSzPts val="1400"/>
              <a:buFont typeface="Quattrocento Sans"/>
              <a:buChar char="◉"/>
            </a:pPr>
            <a:r>
              <a:rPr b="0" i="0" lang="en" sz="1400" u="none" cap="none" strike="noStrike">
                <a:solidFill>
                  <a:schemeClr val="dk1"/>
                </a:solidFill>
                <a:latin typeface="Quattrocento Sans"/>
                <a:ea typeface="Quattrocento Sans"/>
                <a:cs typeface="Quattrocento Sans"/>
                <a:sym typeface="Quattrocento Sans"/>
              </a:rPr>
              <a:t>Now that the output is </a:t>
            </a:r>
            <a:r>
              <a:rPr b="1" i="0" lang="en" sz="1400" u="none" cap="none" strike="noStrike">
                <a:solidFill>
                  <a:schemeClr val="dk1"/>
                </a:solidFill>
                <a:latin typeface="Quattrocento Sans"/>
                <a:ea typeface="Quattrocento Sans"/>
                <a:cs typeface="Quattrocento Sans"/>
                <a:sym typeface="Quattrocento Sans"/>
              </a:rPr>
              <a:t>continuous</a:t>
            </a:r>
            <a:r>
              <a:rPr b="0" i="0" lang="en" sz="1400" u="none" cap="none" strike="noStrike">
                <a:solidFill>
                  <a:schemeClr val="dk1"/>
                </a:solidFill>
                <a:latin typeface="Quattrocento Sans"/>
                <a:ea typeface="Quattrocento Sans"/>
                <a:cs typeface="Quattrocento Sans"/>
                <a:sym typeface="Quattrocento Sans"/>
              </a:rPr>
              <a:t>, we can use optimization techniques like </a:t>
            </a:r>
            <a:r>
              <a:rPr b="1" i="0" lang="en" sz="1400" u="none" cap="none" strike="noStrike">
                <a:solidFill>
                  <a:schemeClr val="dk1"/>
                </a:solidFill>
                <a:latin typeface="Quattrocento Sans"/>
                <a:ea typeface="Quattrocento Sans"/>
                <a:cs typeface="Quattrocento Sans"/>
                <a:sym typeface="Quattrocento Sans"/>
              </a:rPr>
              <a:t>Gradient Descent </a:t>
            </a:r>
            <a:r>
              <a:rPr b="0" i="0" lang="en" sz="1400" u="none" cap="none" strike="noStrike">
                <a:solidFill>
                  <a:schemeClr val="dk1"/>
                </a:solidFill>
                <a:latin typeface="Quattrocento Sans"/>
                <a:ea typeface="Quattrocento Sans"/>
                <a:cs typeface="Quattrocento Sans"/>
                <a:sym typeface="Quattrocento Sans"/>
              </a:rPr>
              <a:t> to minimize the error.  </a:t>
            </a:r>
            <a:endParaRPr b="0" i="0" sz="1400" u="none" cap="none" strike="noStrike">
              <a:solidFill>
                <a:srgbClr val="000000"/>
              </a:solidFill>
              <a:highlight>
                <a:srgbClr val="FFFFFF"/>
              </a:highlight>
              <a:latin typeface="Quattrocento Sans"/>
              <a:ea typeface="Quattrocento Sans"/>
              <a:cs typeface="Quattrocento Sans"/>
              <a:sym typeface="Quattrocento Sans"/>
            </a:endParaRPr>
          </a:p>
          <a:p>
            <a:pPr indent="-203200" lvl="0" marL="342900" marR="0" rtl="0" algn="l">
              <a:lnSpc>
                <a:spcPct val="115000"/>
              </a:lnSpc>
              <a:spcBef>
                <a:spcPts val="1000"/>
              </a:spcBef>
              <a:spcAft>
                <a:spcPts val="0"/>
              </a:spcAft>
              <a:buClr>
                <a:schemeClr val="accent1"/>
              </a:buClr>
              <a:buSzPts val="1400"/>
              <a:buFont typeface="Quattrocento Sans"/>
              <a:buChar char="◉"/>
            </a:pPr>
            <a:r>
              <a:rPr b="0" i="0" lang="en" sz="1400" u="none" cap="none" strike="noStrike">
                <a:solidFill>
                  <a:schemeClr val="dk1"/>
                </a:solidFill>
                <a:latin typeface="Quattrocento Sans"/>
                <a:ea typeface="Quattrocento Sans"/>
                <a:cs typeface="Quattrocento Sans"/>
                <a:sym typeface="Quattrocento Sans"/>
              </a:rPr>
              <a:t>Minimize the Mean Squared Error (MSE)</a:t>
            </a:r>
            <a:endParaRPr b="0" i="0" sz="1400" u="none" cap="none" strike="noStrike">
              <a:solidFill>
                <a:srgbClr val="000000"/>
              </a:solidFill>
              <a:highlight>
                <a:srgbClr val="FFFFFF"/>
              </a:highlight>
              <a:latin typeface="Quattrocento Sans"/>
              <a:ea typeface="Quattrocento Sans"/>
              <a:cs typeface="Quattrocento Sans"/>
              <a:sym typeface="Quattrocento Sans"/>
            </a:endParaRPr>
          </a:p>
          <a:p>
            <a:pPr indent="-203200" lvl="0" marL="342900" marR="0" rtl="0" algn="l">
              <a:lnSpc>
                <a:spcPct val="115000"/>
              </a:lnSpc>
              <a:spcBef>
                <a:spcPts val="1000"/>
              </a:spcBef>
              <a:spcAft>
                <a:spcPts val="0"/>
              </a:spcAft>
              <a:buClr>
                <a:schemeClr val="accent1"/>
              </a:buClr>
              <a:buSzPts val="1400"/>
              <a:buFont typeface="Quattrocento Sans"/>
              <a:buChar char="◉"/>
            </a:pPr>
            <a:r>
              <a:rPr b="0" i="0" lang="en" sz="1400" u="none" cap="none" strike="noStrike">
                <a:solidFill>
                  <a:srgbClr val="000000"/>
                </a:solidFill>
                <a:highlight>
                  <a:srgbClr val="FFFFFF"/>
                </a:highlight>
                <a:latin typeface="Quattrocento Sans"/>
                <a:ea typeface="Quattrocento Sans"/>
                <a:cs typeface="Quattrocento Sans"/>
                <a:sym typeface="Quattrocento Sans"/>
              </a:rPr>
              <a:t>While the linear activation function is used for </a:t>
            </a:r>
            <a:r>
              <a:rPr b="1" i="0" lang="en" sz="1400" u="none" cap="none" strike="noStrike">
                <a:solidFill>
                  <a:srgbClr val="000000"/>
                </a:solidFill>
                <a:highlight>
                  <a:srgbClr val="FFFFFF"/>
                </a:highlight>
                <a:latin typeface="Quattrocento Sans"/>
                <a:ea typeface="Quattrocento Sans"/>
                <a:cs typeface="Quattrocento Sans"/>
                <a:sym typeface="Quattrocento Sans"/>
              </a:rPr>
              <a:t>learning the weights</a:t>
            </a:r>
            <a:r>
              <a:rPr b="0" i="0" lang="en" sz="1400" u="none" cap="none" strike="noStrike">
                <a:solidFill>
                  <a:srgbClr val="000000"/>
                </a:solidFill>
                <a:highlight>
                  <a:srgbClr val="FFFFFF"/>
                </a:highlight>
                <a:latin typeface="Quattrocento Sans"/>
                <a:ea typeface="Quattrocento Sans"/>
                <a:cs typeface="Quattrocento Sans"/>
                <a:sym typeface="Quattrocento Sans"/>
              </a:rPr>
              <a:t> (training)a </a:t>
            </a:r>
            <a:r>
              <a:rPr b="1" i="0" lang="en" sz="1400" u="none" cap="none" strike="noStrike">
                <a:solidFill>
                  <a:srgbClr val="000000"/>
                </a:solidFill>
                <a:highlight>
                  <a:srgbClr val="FFFFFF"/>
                </a:highlight>
                <a:latin typeface="Quattrocento Sans"/>
                <a:ea typeface="Quattrocento Sans"/>
                <a:cs typeface="Quattrocento Sans"/>
                <a:sym typeface="Quattrocento Sans"/>
              </a:rPr>
              <a:t>threshold function</a:t>
            </a:r>
            <a:r>
              <a:rPr b="0" i="0" lang="en" sz="1400" u="none" cap="none" strike="noStrike">
                <a:solidFill>
                  <a:srgbClr val="000000"/>
                </a:solidFill>
                <a:highlight>
                  <a:srgbClr val="FFFFFF"/>
                </a:highlight>
                <a:latin typeface="Quattrocento Sans"/>
                <a:ea typeface="Quattrocento Sans"/>
                <a:cs typeface="Quattrocento Sans"/>
                <a:sym typeface="Quattrocento Sans"/>
              </a:rPr>
              <a:t> is applied to make the </a:t>
            </a:r>
            <a:r>
              <a:rPr b="1" i="0" lang="en" sz="1400" u="none" cap="none" strike="noStrike">
                <a:solidFill>
                  <a:srgbClr val="000000"/>
                </a:solidFill>
                <a:highlight>
                  <a:srgbClr val="FFFFFF"/>
                </a:highlight>
                <a:latin typeface="Quattrocento Sans"/>
                <a:ea typeface="Quattrocento Sans"/>
                <a:cs typeface="Quattrocento Sans"/>
                <a:sym typeface="Quattrocento Sans"/>
              </a:rPr>
              <a:t>final prediction</a:t>
            </a:r>
            <a:r>
              <a:rPr b="0" i="0" lang="en" sz="1400" u="none" cap="none" strike="noStrike">
                <a:solidFill>
                  <a:srgbClr val="000000"/>
                </a:solidFill>
                <a:highlight>
                  <a:srgbClr val="FFFFFF"/>
                </a:highlight>
                <a:latin typeface="Quattrocento Sans"/>
                <a:ea typeface="Quattrocento Sans"/>
                <a:cs typeface="Quattrocento Sans"/>
                <a:sym typeface="Quattrocento Sans"/>
              </a:rPr>
              <a:t>.  </a:t>
            </a:r>
            <a:endParaRPr b="0" i="0" sz="14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5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3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cxnSp>
        <p:nvCxnSpPr>
          <p:cNvPr id="389" name="Google Shape;389;g3dd637020ec_0_135"/>
          <p:cNvCxnSpPr/>
          <p:nvPr/>
        </p:nvCxnSpPr>
        <p:spPr>
          <a:xfrm>
            <a:off x="6450" y="1428750"/>
            <a:ext cx="2397300" cy="0"/>
          </a:xfrm>
          <a:prstGeom prst="straightConnector1">
            <a:avLst/>
          </a:prstGeom>
          <a:noFill/>
          <a:ln cap="flat" cmpd="sng" w="9525">
            <a:solidFill>
              <a:srgbClr val="CCCCCC"/>
            </a:solidFill>
            <a:prstDash val="solid"/>
            <a:round/>
            <a:headEnd len="sm" w="sm" type="none"/>
            <a:tailEnd len="sm" w="sm" type="none"/>
          </a:ln>
        </p:spPr>
      </p:cxnSp>
      <p:sp>
        <p:nvSpPr>
          <p:cNvPr id="390" name="Google Shape;390;g3dd637020ec_0_135"/>
          <p:cNvSpPr txBox="1"/>
          <p:nvPr>
            <p:ph idx="4294967295" type="ctrTitle"/>
          </p:nvPr>
        </p:nvSpPr>
        <p:spPr>
          <a:xfrm>
            <a:off x="1578200" y="2283925"/>
            <a:ext cx="5666400" cy="11598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600"/>
              </a:spcBef>
              <a:spcAft>
                <a:spcPts val="0"/>
              </a:spcAft>
              <a:buClr>
                <a:schemeClr val="dk1"/>
              </a:buClr>
              <a:buSzPts val="1100"/>
              <a:buFont typeface="Arial"/>
              <a:buNone/>
            </a:pPr>
            <a:r>
              <a:rPr b="1" i="0" lang="en" sz="2600" u="none" cap="none" strike="noStrike">
                <a:solidFill>
                  <a:schemeClr val="dk1"/>
                </a:solidFill>
                <a:latin typeface="Lora"/>
                <a:ea typeface="Lora"/>
                <a:cs typeface="Lora"/>
                <a:sym typeface="Lora"/>
              </a:rPr>
              <a:t>Minimizing Loss Functions with Gradient Descent</a:t>
            </a:r>
            <a:endParaRPr b="1" i="1" sz="2600" u="none" cap="none" strike="noStrike">
              <a:solidFill>
                <a:schemeClr val="dk1"/>
              </a:solidFill>
              <a:latin typeface="Lora"/>
              <a:ea typeface="Lora"/>
              <a:cs typeface="Lora"/>
              <a:sym typeface="Lora"/>
            </a:endParaRPr>
          </a:p>
        </p:txBody>
      </p:sp>
      <p:cxnSp>
        <p:nvCxnSpPr>
          <p:cNvPr id="391" name="Google Shape;391;g3dd637020ec_0_135"/>
          <p:cNvCxnSpPr/>
          <p:nvPr/>
        </p:nvCxnSpPr>
        <p:spPr>
          <a:xfrm>
            <a:off x="6319150" y="1424350"/>
            <a:ext cx="2824500" cy="4500"/>
          </a:xfrm>
          <a:prstGeom prst="straightConnector1">
            <a:avLst/>
          </a:prstGeom>
          <a:noFill/>
          <a:ln cap="flat" cmpd="sng" w="9525">
            <a:solidFill>
              <a:srgbClr val="CCCCCC"/>
            </a:solidFill>
            <a:prstDash val="solid"/>
            <a:round/>
            <a:headEnd len="sm" w="sm" type="none"/>
            <a:tailEnd len="sm" w="sm" type="none"/>
          </a:ln>
        </p:spPr>
      </p:cxnSp>
      <p:sp>
        <p:nvSpPr>
          <p:cNvPr id="392" name="Google Shape;392;g3dd637020ec_0_135"/>
          <p:cNvSpPr/>
          <p:nvPr/>
        </p:nvSpPr>
        <p:spPr>
          <a:xfrm>
            <a:off x="831925" y="859175"/>
            <a:ext cx="1139100" cy="1139100"/>
          </a:xfrm>
          <a:prstGeom prst="ellipse">
            <a:avLst/>
          </a:prstGeom>
          <a:solidFill>
            <a:srgbClr val="FFC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3dd637020ec_0_135"/>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grpSp>
        <p:nvGrpSpPr>
          <p:cNvPr id="394" name="Google Shape;394;g3dd637020ec_0_135"/>
          <p:cNvGrpSpPr/>
          <p:nvPr/>
        </p:nvGrpSpPr>
        <p:grpSpPr>
          <a:xfrm>
            <a:off x="1070856" y="1019631"/>
            <a:ext cx="647216" cy="680979"/>
            <a:chOff x="2594050" y="1631825"/>
            <a:chExt cx="439625" cy="439625"/>
          </a:xfrm>
        </p:grpSpPr>
        <p:sp>
          <p:nvSpPr>
            <p:cNvPr id="395" name="Google Shape;395;g3dd637020ec_0_135"/>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sp>
          <p:nvSpPr>
            <p:cNvPr id="396" name="Google Shape;396;g3dd637020ec_0_135"/>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sp>
          <p:nvSpPr>
            <p:cNvPr id="397" name="Google Shape;397;g3dd637020ec_0_135"/>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sp>
          <p:nvSpPr>
            <p:cNvPr id="398" name="Google Shape;398;g3dd637020ec_0_135"/>
            <p:cNvSpPr/>
            <p:nvPr/>
          </p:nvSpPr>
          <p:spPr>
            <a:xfrm>
              <a:off x="2814912" y="1754062"/>
              <a:ext cx="49950" cy="49950"/>
            </a:xfrm>
            <a:custGeom>
              <a:rect b="b" l="l" r="r" t="t"/>
              <a:pathLst>
                <a:path extrusionOk="0" fill="none" h="1998" w="1998">
                  <a:moveTo>
                    <a:pt x="1" y="1997"/>
                  </a:moveTo>
                  <a:lnTo>
                    <a:pt x="1998" y="0"/>
                  </a:lnTo>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grpSp>
      <p:sp>
        <p:nvSpPr>
          <p:cNvPr id="399" name="Google Shape;399;g3dd637020ec_0_135"/>
          <p:cNvSpPr/>
          <p:nvPr/>
        </p:nvSpPr>
        <p:spPr>
          <a:xfrm>
            <a:off x="0" y="4539250"/>
            <a:ext cx="9149700" cy="604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1" lang="en" sz="1600" u="none" cap="none" strike="noStrike">
                <a:solidFill>
                  <a:srgbClr val="000000"/>
                </a:solidFill>
                <a:latin typeface="Lora"/>
                <a:ea typeface="Lora"/>
                <a:cs typeface="Lora"/>
                <a:sym typeface="Lora"/>
              </a:rPr>
              <a:t>Chapter 2</a:t>
            </a:r>
            <a:endParaRPr b="1" i="1" sz="1600" u="none" cap="none" strike="noStrike">
              <a:solidFill>
                <a:srgbClr val="000000"/>
              </a:solidFill>
              <a:latin typeface="Lora"/>
              <a:ea typeface="Lora"/>
              <a:cs typeface="Lora"/>
              <a:sym typeface="Lor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dd637020ec_0_149"/>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Loss Functions</a:t>
            </a:r>
            <a:endParaRPr>
              <a:highlight>
                <a:schemeClr val="accent1"/>
              </a:highlight>
            </a:endParaRPr>
          </a:p>
        </p:txBody>
      </p:sp>
      <p:grpSp>
        <p:nvGrpSpPr>
          <p:cNvPr id="405" name="Google Shape;405;g3dd637020ec_0_149"/>
          <p:cNvGrpSpPr/>
          <p:nvPr/>
        </p:nvGrpSpPr>
        <p:grpSpPr>
          <a:xfrm>
            <a:off x="916458" y="1019750"/>
            <a:ext cx="214625" cy="214625"/>
            <a:chOff x="2594050" y="1631825"/>
            <a:chExt cx="439625" cy="439625"/>
          </a:xfrm>
        </p:grpSpPr>
        <p:sp>
          <p:nvSpPr>
            <p:cNvPr id="406" name="Google Shape;406;g3dd637020ec_0_149"/>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g3dd637020ec_0_149"/>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3dd637020ec_0_149"/>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3dd637020ec_0_149"/>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0" name="Google Shape;410;g3dd637020ec_0_149"/>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411" name="Google Shape;411;g3dd637020ec_0_149"/>
          <p:cNvSpPr txBox="1"/>
          <p:nvPr/>
        </p:nvSpPr>
        <p:spPr>
          <a:xfrm>
            <a:off x="684275" y="1547800"/>
            <a:ext cx="7858800" cy="3105300"/>
          </a:xfrm>
          <a:prstGeom prst="rect">
            <a:avLst/>
          </a:prstGeom>
          <a:noFill/>
          <a:ln>
            <a:noFill/>
          </a:ln>
        </p:spPr>
        <p:txBody>
          <a:bodyPr anchorCtr="0" anchor="t" bIns="91425" lIns="91425" spcFirstLastPara="1" rIns="91425" wrap="square" tIns="91425">
            <a:noAutofit/>
          </a:bodyPr>
          <a:lstStyle/>
          <a:p>
            <a:pPr indent="-190500" lvl="0" marL="342900" marR="0" rtl="0" algn="l">
              <a:lnSpc>
                <a:spcPct val="115000"/>
              </a:lnSpc>
              <a:spcBef>
                <a:spcPts val="0"/>
              </a:spcBef>
              <a:spcAft>
                <a:spcPts val="0"/>
              </a:spcAft>
              <a:buClr>
                <a:schemeClr val="accent1"/>
              </a:buClr>
              <a:buSzPts val="1200"/>
              <a:buFont typeface="Arial"/>
              <a:buChar char="◉"/>
            </a:pPr>
            <a:r>
              <a:rPr b="0" i="0" lang="en" sz="1400" u="none" cap="none" strike="noStrike">
                <a:solidFill>
                  <a:schemeClr val="dk1"/>
                </a:solidFill>
                <a:latin typeface="Quattrocento Sans"/>
                <a:ea typeface="Quattrocento Sans"/>
                <a:cs typeface="Quattrocento Sans"/>
                <a:sym typeface="Quattrocento Sans"/>
              </a:rPr>
              <a:t>A loss function (Cost function or Objective function) measures </a:t>
            </a:r>
            <a:r>
              <a:rPr b="1" i="0" lang="en" sz="1400" u="none" cap="none" strike="noStrike">
                <a:solidFill>
                  <a:schemeClr val="dk1"/>
                </a:solidFill>
                <a:latin typeface="Quattrocento Sans"/>
                <a:ea typeface="Quattrocento Sans"/>
                <a:cs typeface="Quattrocento Sans"/>
                <a:sym typeface="Quattrocento Sans"/>
              </a:rPr>
              <a:t>how wrong the model is</a:t>
            </a:r>
            <a:endParaRPr b="0" i="0" sz="1300" u="none" cap="none" strike="noStrike">
              <a:solidFill>
                <a:schemeClr val="dk1"/>
              </a:solidFill>
              <a:latin typeface="Quattrocento Sans"/>
              <a:ea typeface="Quattrocento Sans"/>
              <a:cs typeface="Quattrocento Sans"/>
              <a:sym typeface="Quattrocento Sans"/>
            </a:endParaRPr>
          </a:p>
          <a:p>
            <a:pPr indent="-190500" lvl="0" marL="342900" marR="0" rtl="0" algn="l">
              <a:lnSpc>
                <a:spcPct val="115000"/>
              </a:lnSpc>
              <a:spcBef>
                <a:spcPts val="1000"/>
              </a:spcBef>
              <a:spcAft>
                <a:spcPts val="0"/>
              </a:spcAft>
              <a:buClr>
                <a:srgbClr val="FFCD00"/>
              </a:buClr>
              <a:buSzPts val="1200"/>
              <a:buFont typeface="Quattrocento Sans"/>
              <a:buChar char="◉"/>
            </a:pPr>
            <a:r>
              <a:rPr b="0" i="0" lang="en" sz="1400" u="none" cap="none" strike="noStrike">
                <a:solidFill>
                  <a:srgbClr val="000000"/>
                </a:solidFill>
                <a:highlight>
                  <a:srgbClr val="FFFFFF"/>
                </a:highlight>
                <a:latin typeface="Quattrocento Sans"/>
                <a:ea typeface="Quattrocento Sans"/>
                <a:cs typeface="Quattrocento Sans"/>
                <a:sym typeface="Quattrocento Sans"/>
              </a:rPr>
              <a:t>It gives the model a score → lower is better</a:t>
            </a:r>
            <a:endParaRPr b="0" i="0" sz="1400" u="none" cap="none" strike="noStrike">
              <a:solidFill>
                <a:srgbClr val="000000"/>
              </a:solidFill>
              <a:highlight>
                <a:srgbClr val="FFFFFF"/>
              </a:highlight>
              <a:latin typeface="Quattrocento Sans"/>
              <a:ea typeface="Quattrocento Sans"/>
              <a:cs typeface="Quattrocento Sans"/>
              <a:sym typeface="Quattrocento Sans"/>
            </a:endParaRPr>
          </a:p>
          <a:p>
            <a:pPr indent="-190500" lvl="0" marL="342900" marR="0" rtl="0" algn="l">
              <a:lnSpc>
                <a:spcPct val="115000"/>
              </a:lnSpc>
              <a:spcBef>
                <a:spcPts val="1000"/>
              </a:spcBef>
              <a:spcAft>
                <a:spcPts val="0"/>
              </a:spcAft>
              <a:buClr>
                <a:srgbClr val="FFCD00"/>
              </a:buClr>
              <a:buSzPts val="1200"/>
              <a:buFont typeface="Quattrocento Sans"/>
              <a:buChar char="◉"/>
            </a:pPr>
            <a:r>
              <a:rPr b="0" i="0" lang="en" sz="1400" u="none" cap="none" strike="noStrike">
                <a:solidFill>
                  <a:srgbClr val="000000"/>
                </a:solidFill>
                <a:highlight>
                  <a:srgbClr val="FFFFFF"/>
                </a:highlight>
                <a:latin typeface="Quattrocento Sans"/>
                <a:ea typeface="Quattrocento Sans"/>
                <a:cs typeface="Quattrocento Sans"/>
                <a:sym typeface="Quattrocento Sans"/>
              </a:rPr>
              <a:t>Training = adjusting weights to </a:t>
            </a:r>
            <a:r>
              <a:rPr b="1" i="0" lang="en" sz="1400" u="none" cap="none" strike="noStrike">
                <a:solidFill>
                  <a:srgbClr val="000000"/>
                </a:solidFill>
                <a:highlight>
                  <a:srgbClr val="FFFFFF"/>
                </a:highlight>
                <a:latin typeface="Quattrocento Sans"/>
                <a:ea typeface="Quattrocento Sans"/>
                <a:cs typeface="Quattrocento Sans"/>
                <a:sym typeface="Quattrocento Sans"/>
              </a:rPr>
              <a:t>minimize the loss</a:t>
            </a:r>
            <a:endParaRPr b="1" i="0" sz="1400" u="none" cap="none" strike="noStrike">
              <a:solidFill>
                <a:srgbClr val="000000"/>
              </a:solidFill>
              <a:highlight>
                <a:srgbClr val="FFFFFF"/>
              </a:highlight>
              <a:latin typeface="Quattrocento Sans"/>
              <a:ea typeface="Quattrocento Sans"/>
              <a:cs typeface="Quattrocento Sans"/>
              <a:sym typeface="Quattrocento Sans"/>
            </a:endParaRPr>
          </a:p>
          <a:p>
            <a:pPr indent="-190500" lvl="0" marL="342900" marR="0" rtl="0" algn="l">
              <a:lnSpc>
                <a:spcPct val="115000"/>
              </a:lnSpc>
              <a:spcBef>
                <a:spcPts val="1000"/>
              </a:spcBef>
              <a:spcAft>
                <a:spcPts val="0"/>
              </a:spcAft>
              <a:buClr>
                <a:srgbClr val="FFCD00"/>
              </a:buClr>
              <a:buSzPts val="1200"/>
              <a:buFont typeface="Quattrocento Sans"/>
              <a:buChar char="◉"/>
            </a:pPr>
            <a:r>
              <a:rPr b="0" i="0" lang="en" sz="1400" u="none" cap="none" strike="noStrike">
                <a:solidFill>
                  <a:srgbClr val="000000"/>
                </a:solidFill>
                <a:highlight>
                  <a:srgbClr val="FFFFFF"/>
                </a:highlight>
                <a:latin typeface="Quattrocento Sans"/>
                <a:ea typeface="Quattrocento Sans"/>
                <a:cs typeface="Quattrocento Sans"/>
                <a:sym typeface="Quattrocento Sans"/>
              </a:rPr>
              <a:t>Common Loss Functions</a:t>
            </a:r>
            <a:endParaRPr b="0" i="0" sz="1400" u="none" cap="none" strike="noStrike">
              <a:solidFill>
                <a:srgbClr val="000000"/>
              </a:solidFill>
              <a:highlight>
                <a:srgbClr val="FFFFFF"/>
              </a:highlight>
              <a:latin typeface="Quattrocento Sans"/>
              <a:ea typeface="Quattrocento Sans"/>
              <a:cs typeface="Quattrocento Sans"/>
              <a:sym typeface="Quattrocento Sans"/>
            </a:endParaRPr>
          </a:p>
          <a:p>
            <a:pPr indent="-190500" lvl="1" marL="514350" marR="0" rtl="0" algn="l">
              <a:lnSpc>
                <a:spcPct val="115000"/>
              </a:lnSpc>
              <a:spcBef>
                <a:spcPts val="500"/>
              </a:spcBef>
              <a:spcAft>
                <a:spcPts val="0"/>
              </a:spcAft>
              <a:buClr>
                <a:schemeClr val="accent1"/>
              </a:buClr>
              <a:buSzPts val="1200"/>
              <a:buFont typeface="Quattrocento Sans"/>
              <a:buChar char="○"/>
            </a:pPr>
            <a:r>
              <a:rPr b="1" i="0" lang="en" sz="1300" u="none" cap="none" strike="noStrike">
                <a:solidFill>
                  <a:schemeClr val="dk1"/>
                </a:solidFill>
                <a:latin typeface="Quattrocento Sans"/>
                <a:ea typeface="Quattrocento Sans"/>
                <a:cs typeface="Quattrocento Sans"/>
                <a:sym typeface="Quattrocento Sans"/>
              </a:rPr>
              <a:t>Mean Squared Error (MSE)</a:t>
            </a:r>
            <a:r>
              <a:rPr b="0" i="0" lang="en" sz="1300" u="none" cap="none" strike="noStrike">
                <a:solidFill>
                  <a:schemeClr val="dk1"/>
                </a:solidFill>
                <a:latin typeface="Quattrocento Sans"/>
                <a:ea typeface="Quattrocento Sans"/>
                <a:cs typeface="Quattrocento Sans"/>
                <a:sym typeface="Quattrocento Sans"/>
              </a:rPr>
              <a:t> → Regression (continuous predictions)</a:t>
            </a:r>
            <a:endParaRPr b="0" i="0" sz="1300" u="none" cap="none" strike="noStrike">
              <a:solidFill>
                <a:schemeClr val="dk1"/>
              </a:solidFill>
              <a:latin typeface="Quattrocento Sans"/>
              <a:ea typeface="Quattrocento Sans"/>
              <a:cs typeface="Quattrocento Sans"/>
              <a:sym typeface="Quattrocento Sans"/>
            </a:endParaRPr>
          </a:p>
          <a:p>
            <a:pPr indent="-190500" lvl="1" marL="514350" marR="0" rtl="0" algn="l">
              <a:lnSpc>
                <a:spcPct val="115000"/>
              </a:lnSpc>
              <a:spcBef>
                <a:spcPts val="0"/>
              </a:spcBef>
              <a:spcAft>
                <a:spcPts val="0"/>
              </a:spcAft>
              <a:buClr>
                <a:schemeClr val="accent1"/>
              </a:buClr>
              <a:buSzPts val="1200"/>
              <a:buFont typeface="Quattrocento Sans"/>
              <a:buChar char="○"/>
            </a:pPr>
            <a:r>
              <a:rPr b="1" i="0" lang="en" sz="1300" u="none" cap="none" strike="noStrike">
                <a:solidFill>
                  <a:schemeClr val="dk1"/>
                </a:solidFill>
                <a:latin typeface="Quattrocento Sans"/>
                <a:ea typeface="Quattrocento Sans"/>
                <a:cs typeface="Quattrocento Sans"/>
                <a:sym typeface="Quattrocento Sans"/>
              </a:rPr>
              <a:t>Mean Absolute Error (MAE)</a:t>
            </a:r>
            <a:r>
              <a:rPr b="0" i="0" lang="en" sz="1300" u="none" cap="none" strike="noStrike">
                <a:solidFill>
                  <a:schemeClr val="dk1"/>
                </a:solidFill>
                <a:latin typeface="Quattrocento Sans"/>
                <a:ea typeface="Quattrocento Sans"/>
                <a:cs typeface="Quattrocento Sans"/>
                <a:sym typeface="Quattrocento Sans"/>
              </a:rPr>
              <a:t> → Regression, less sensitive to outliers</a:t>
            </a:r>
            <a:endParaRPr b="0" i="0" sz="1300" u="none" cap="none" strike="noStrike">
              <a:solidFill>
                <a:schemeClr val="dk1"/>
              </a:solidFill>
              <a:latin typeface="Quattrocento Sans"/>
              <a:ea typeface="Quattrocento Sans"/>
              <a:cs typeface="Quattrocento Sans"/>
              <a:sym typeface="Quattrocento Sans"/>
            </a:endParaRPr>
          </a:p>
          <a:p>
            <a:pPr indent="-190500" lvl="1" marL="514350" marR="0" rtl="0" algn="l">
              <a:lnSpc>
                <a:spcPct val="115000"/>
              </a:lnSpc>
              <a:spcBef>
                <a:spcPts val="0"/>
              </a:spcBef>
              <a:spcAft>
                <a:spcPts val="0"/>
              </a:spcAft>
              <a:buClr>
                <a:schemeClr val="accent1"/>
              </a:buClr>
              <a:buSzPts val="1200"/>
              <a:buFont typeface="Quattrocento Sans"/>
              <a:buChar char="○"/>
            </a:pPr>
            <a:r>
              <a:rPr b="1" i="0" lang="en" sz="1300" u="none" cap="none" strike="noStrike">
                <a:solidFill>
                  <a:schemeClr val="dk1"/>
                </a:solidFill>
                <a:latin typeface="Quattrocento Sans"/>
                <a:ea typeface="Quattrocento Sans"/>
                <a:cs typeface="Quattrocento Sans"/>
                <a:sym typeface="Quattrocento Sans"/>
              </a:rPr>
              <a:t>Cross-Entropy Loss</a:t>
            </a:r>
            <a:r>
              <a:rPr b="0" i="0" lang="en" sz="1300" u="none" cap="none" strike="noStrike">
                <a:solidFill>
                  <a:schemeClr val="dk1"/>
                </a:solidFill>
                <a:latin typeface="Quattrocento Sans"/>
                <a:ea typeface="Quattrocento Sans"/>
                <a:cs typeface="Quattrocento Sans"/>
                <a:sym typeface="Quattrocento Sans"/>
              </a:rPr>
              <a:t> → Classification problems</a:t>
            </a:r>
            <a:endParaRPr b="0" i="0" sz="1300" u="none" cap="none" strike="noStrike">
              <a:solidFill>
                <a:schemeClr val="dk1"/>
              </a:solidFill>
              <a:latin typeface="Quattrocento Sans"/>
              <a:ea typeface="Quattrocento Sans"/>
              <a:cs typeface="Quattrocento Sans"/>
              <a:sym typeface="Quattrocento Sans"/>
            </a:endParaRPr>
          </a:p>
          <a:p>
            <a:pPr indent="-190500" lvl="1" marL="514350" marR="0" rtl="0" algn="l">
              <a:lnSpc>
                <a:spcPct val="115000"/>
              </a:lnSpc>
              <a:spcBef>
                <a:spcPts val="0"/>
              </a:spcBef>
              <a:spcAft>
                <a:spcPts val="0"/>
              </a:spcAft>
              <a:buClr>
                <a:schemeClr val="accent1"/>
              </a:buClr>
              <a:buSzPts val="1200"/>
              <a:buFont typeface="Quattrocento Sans"/>
              <a:buChar char="○"/>
            </a:pPr>
            <a:r>
              <a:rPr b="1" i="0" lang="en" sz="1300" u="none" cap="none" strike="noStrike">
                <a:solidFill>
                  <a:schemeClr val="dk1"/>
                </a:solidFill>
                <a:latin typeface="Quattrocento Sans"/>
                <a:ea typeface="Quattrocento Sans"/>
                <a:cs typeface="Quattrocento Sans"/>
                <a:sym typeface="Quattrocento Sans"/>
              </a:rPr>
              <a:t>Hinge Loss</a:t>
            </a:r>
            <a:r>
              <a:rPr b="0" i="0" lang="en" sz="1300" u="none" cap="none" strike="noStrike">
                <a:solidFill>
                  <a:schemeClr val="dk1"/>
                </a:solidFill>
                <a:latin typeface="Quattrocento Sans"/>
                <a:ea typeface="Quattrocento Sans"/>
                <a:cs typeface="Quattrocento Sans"/>
                <a:sym typeface="Quattrocento Sans"/>
              </a:rPr>
              <a:t> → Support Vector Machines</a:t>
            </a:r>
            <a:endParaRPr b="0" i="0" sz="1300" u="none" cap="none" strike="noStrike">
              <a:solidFill>
                <a:schemeClr val="dk1"/>
              </a:solidFill>
              <a:latin typeface="Quattrocento Sans"/>
              <a:ea typeface="Quattrocento Sans"/>
              <a:cs typeface="Quattrocento Sans"/>
              <a:sym typeface="Quattrocento Sans"/>
            </a:endParaRPr>
          </a:p>
          <a:p>
            <a:pPr indent="-190500" lvl="1" marL="514350" marR="0" rtl="0" algn="l">
              <a:lnSpc>
                <a:spcPct val="115000"/>
              </a:lnSpc>
              <a:spcBef>
                <a:spcPts val="0"/>
              </a:spcBef>
              <a:spcAft>
                <a:spcPts val="0"/>
              </a:spcAft>
              <a:buClr>
                <a:schemeClr val="accent1"/>
              </a:buClr>
              <a:buSzPts val="1200"/>
              <a:buFont typeface="Quattrocento Sans"/>
              <a:buChar char="○"/>
            </a:pPr>
            <a:r>
              <a:rPr b="1" i="0" lang="en" sz="1300" u="none" cap="none" strike="noStrike">
                <a:solidFill>
                  <a:schemeClr val="dk1"/>
                </a:solidFill>
                <a:latin typeface="Quattrocento Sans"/>
                <a:ea typeface="Quattrocento Sans"/>
                <a:cs typeface="Quattrocento Sans"/>
                <a:sym typeface="Quattrocento Sans"/>
              </a:rPr>
              <a:t>0–1 Loss</a:t>
            </a:r>
            <a:r>
              <a:rPr b="0" i="0" lang="en" sz="1300" u="none" cap="none" strike="noStrike">
                <a:solidFill>
                  <a:schemeClr val="dk1"/>
                </a:solidFill>
                <a:latin typeface="Quattrocento Sans"/>
                <a:ea typeface="Quattrocento Sans"/>
                <a:cs typeface="Quattrocento Sans"/>
                <a:sym typeface="Quattrocento Sans"/>
              </a:rPr>
              <a:t> → Counts misclassifications</a:t>
            </a:r>
            <a:endParaRPr b="0" i="0" sz="13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dd637020ec_0_160"/>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Mean Squared Error (MSE)</a:t>
            </a:r>
            <a:endParaRPr>
              <a:highlight>
                <a:schemeClr val="accent1"/>
              </a:highlight>
            </a:endParaRPr>
          </a:p>
        </p:txBody>
      </p:sp>
      <p:grpSp>
        <p:nvGrpSpPr>
          <p:cNvPr id="417" name="Google Shape;417;g3dd637020ec_0_160"/>
          <p:cNvGrpSpPr/>
          <p:nvPr/>
        </p:nvGrpSpPr>
        <p:grpSpPr>
          <a:xfrm>
            <a:off x="916458" y="1019750"/>
            <a:ext cx="214625" cy="214625"/>
            <a:chOff x="2594050" y="1631825"/>
            <a:chExt cx="439625" cy="439625"/>
          </a:xfrm>
        </p:grpSpPr>
        <p:sp>
          <p:nvSpPr>
            <p:cNvPr id="418" name="Google Shape;418;g3dd637020ec_0_160"/>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g3dd637020ec_0_160"/>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g3dd637020ec_0_160"/>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g3dd637020ec_0_160"/>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2" name="Google Shape;422;g3dd637020ec_0_160"/>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423" name="Google Shape;423;g3dd637020ec_0_160"/>
          <p:cNvSpPr txBox="1"/>
          <p:nvPr/>
        </p:nvSpPr>
        <p:spPr>
          <a:xfrm>
            <a:off x="684275" y="1547800"/>
            <a:ext cx="7858800" cy="3521100"/>
          </a:xfrm>
          <a:prstGeom prst="rect">
            <a:avLst/>
          </a:prstGeom>
          <a:noFill/>
          <a:ln>
            <a:noFill/>
          </a:ln>
        </p:spPr>
        <p:txBody>
          <a:bodyPr anchorCtr="0" anchor="t" bIns="91425" lIns="91425" spcFirstLastPara="1" rIns="91425" wrap="square" tIns="91425">
            <a:noAutofit/>
          </a:bodyPr>
          <a:lstStyle/>
          <a:p>
            <a:pPr indent="-190500" lvl="0" marL="342900" marR="0" rtl="0" algn="l">
              <a:lnSpc>
                <a:spcPct val="115000"/>
              </a:lnSpc>
              <a:spcBef>
                <a:spcPts val="0"/>
              </a:spcBef>
              <a:spcAft>
                <a:spcPts val="0"/>
              </a:spcAft>
              <a:buClr>
                <a:schemeClr val="accent1"/>
              </a:buClr>
              <a:buSzPts val="1200"/>
              <a:buFont typeface="Arial"/>
              <a:buChar char="◉"/>
            </a:pPr>
            <a:r>
              <a:rPr b="0" i="0" lang="en" sz="1400" u="none" cap="none" strike="noStrike">
                <a:solidFill>
                  <a:schemeClr val="dk1"/>
                </a:solidFill>
                <a:latin typeface="Quattrocento Sans"/>
                <a:ea typeface="Quattrocento Sans"/>
                <a:cs typeface="Quattrocento Sans"/>
                <a:sym typeface="Quattrocento Sans"/>
              </a:rPr>
              <a:t>Measures the average of the squared differences between the predicted and the actual values.</a:t>
            </a:r>
            <a:endParaRPr b="0" i="0" sz="14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500"/>
              </a:spcBef>
              <a:spcAft>
                <a:spcPts val="0"/>
              </a:spcAft>
              <a:buClr>
                <a:srgbClr val="000000"/>
              </a:buClr>
              <a:buSzPts val="1400"/>
              <a:buFont typeface="Arial"/>
              <a:buNone/>
            </a:pPr>
            <a:r>
              <a:t/>
            </a:r>
            <a:endParaRPr b="0" i="0" sz="14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500"/>
              </a:spcBef>
              <a:spcAft>
                <a:spcPts val="0"/>
              </a:spcAft>
              <a:buClr>
                <a:srgbClr val="000000"/>
              </a:buClr>
              <a:buSzPts val="1400"/>
              <a:buFont typeface="Arial"/>
              <a:buNone/>
            </a:pPr>
            <a:r>
              <a:rPr b="0" i="0" lang="en" sz="1400" u="none" cap="none" strike="noStrike">
                <a:solidFill>
                  <a:schemeClr val="dk1"/>
                </a:solidFill>
                <a:latin typeface="Quattrocento Sans"/>
                <a:ea typeface="Quattrocento Sans"/>
                <a:cs typeface="Quattrocento Sans"/>
                <a:sym typeface="Quattrocento Sans"/>
              </a:rPr>
              <a:t>		</a:t>
            </a:r>
            <a:endParaRPr b="0" i="0" sz="14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500"/>
              </a:spcBef>
              <a:spcAft>
                <a:spcPts val="0"/>
              </a:spcAft>
              <a:buClr>
                <a:srgbClr val="000000"/>
              </a:buClr>
              <a:buSzPts val="1400"/>
              <a:buFont typeface="Arial"/>
              <a:buNone/>
            </a:pPr>
            <a:r>
              <a:t/>
            </a:r>
            <a:endParaRPr b="0" i="0" sz="14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500"/>
              </a:spcBef>
              <a:spcAft>
                <a:spcPts val="0"/>
              </a:spcAft>
              <a:buClr>
                <a:srgbClr val="000000"/>
              </a:buClr>
              <a:buSzPts val="1400"/>
              <a:buFont typeface="Arial"/>
              <a:buNone/>
            </a:pPr>
            <a:r>
              <a:t/>
            </a:r>
            <a:endParaRPr b="0" i="0" sz="14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500"/>
              </a:spcBef>
              <a:spcAft>
                <a:spcPts val="0"/>
              </a:spcAft>
              <a:buClr>
                <a:srgbClr val="000000"/>
              </a:buClr>
              <a:buSzPts val="2100"/>
              <a:buFont typeface="Arial"/>
              <a:buNone/>
            </a:pPr>
            <a:r>
              <a:t/>
            </a:r>
            <a:endParaRPr b="0" i="0" sz="2100" u="none" cap="none" strike="noStrike">
              <a:solidFill>
                <a:schemeClr val="dk1"/>
              </a:solidFill>
              <a:latin typeface="Quattrocento Sans"/>
              <a:ea typeface="Quattrocento Sans"/>
              <a:cs typeface="Quattrocento Sans"/>
              <a:sym typeface="Quattrocento Sans"/>
            </a:endParaRPr>
          </a:p>
          <a:p>
            <a:pPr indent="-190500" lvl="0" marL="342900" marR="0" rtl="0" algn="l">
              <a:lnSpc>
                <a:spcPct val="115000"/>
              </a:lnSpc>
              <a:spcBef>
                <a:spcPts val="1000"/>
              </a:spcBef>
              <a:spcAft>
                <a:spcPts val="0"/>
              </a:spcAft>
              <a:buClr>
                <a:schemeClr val="accent1"/>
              </a:buClr>
              <a:buSzPts val="1200"/>
              <a:buFont typeface="Quattrocento Sans"/>
              <a:buChar char="◉"/>
            </a:pPr>
            <a:r>
              <a:rPr b="1" i="0" lang="en" sz="1400" u="none" cap="none" strike="noStrike">
                <a:solidFill>
                  <a:schemeClr val="dk1"/>
                </a:solidFill>
                <a:highlight>
                  <a:schemeClr val="lt1"/>
                </a:highlight>
                <a:latin typeface="Quattrocento Sans"/>
                <a:ea typeface="Quattrocento Sans"/>
                <a:cs typeface="Quattrocento Sans"/>
                <a:sym typeface="Quattrocento Sans"/>
              </a:rPr>
              <a:t>Square:</a:t>
            </a:r>
            <a:r>
              <a:rPr b="0" i="0" lang="en" sz="1400" u="none" cap="none" strike="noStrike">
                <a:solidFill>
                  <a:schemeClr val="dk1"/>
                </a:solidFill>
                <a:highlight>
                  <a:schemeClr val="lt1"/>
                </a:highlight>
                <a:latin typeface="Quattrocento Sans"/>
                <a:ea typeface="Quattrocento Sans"/>
                <a:cs typeface="Quattrocento Sans"/>
                <a:sym typeface="Quattrocento Sans"/>
              </a:rPr>
              <a:t> ensures all errors are positive and punishes large errors more.</a:t>
            </a:r>
            <a:endParaRPr b="0" i="0" sz="1400" u="none" cap="none" strike="noStrike">
              <a:solidFill>
                <a:srgbClr val="000000"/>
              </a:solidFill>
              <a:highlight>
                <a:srgbClr val="FFFFFF"/>
              </a:highlight>
              <a:latin typeface="Quattrocento Sans"/>
              <a:ea typeface="Quattrocento Sans"/>
              <a:cs typeface="Quattrocento Sans"/>
              <a:sym typeface="Quattrocento Sans"/>
            </a:endParaRPr>
          </a:p>
          <a:p>
            <a:pPr indent="-190500" lvl="0" marL="342900" marR="0" rtl="0" algn="l">
              <a:lnSpc>
                <a:spcPct val="115000"/>
              </a:lnSpc>
              <a:spcBef>
                <a:spcPts val="1000"/>
              </a:spcBef>
              <a:spcAft>
                <a:spcPts val="0"/>
              </a:spcAft>
              <a:buClr>
                <a:schemeClr val="accent1"/>
              </a:buClr>
              <a:buSzPts val="1200"/>
              <a:buFont typeface="Quattrocento Sans"/>
              <a:buChar char="◉"/>
            </a:pPr>
            <a:r>
              <a:rPr b="1" i="0" lang="en" sz="1400" u="none" cap="none" strike="noStrike">
                <a:solidFill>
                  <a:schemeClr val="dk1"/>
                </a:solidFill>
                <a:highlight>
                  <a:schemeClr val="lt1"/>
                </a:highlight>
                <a:latin typeface="Quattrocento Sans"/>
                <a:ea typeface="Quattrocento Sans"/>
                <a:cs typeface="Quattrocento Sans"/>
                <a:sym typeface="Quattrocento Sans"/>
              </a:rPr>
              <a:t>Mean:</a:t>
            </a:r>
            <a:r>
              <a:rPr b="0" i="0" lang="en" sz="1400" u="none" cap="none" strike="noStrike">
                <a:solidFill>
                  <a:schemeClr val="dk1"/>
                </a:solidFill>
                <a:highlight>
                  <a:schemeClr val="lt1"/>
                </a:highlight>
                <a:latin typeface="Quattrocento Sans"/>
                <a:ea typeface="Quattrocento Sans"/>
                <a:cs typeface="Quattrocento Sans"/>
                <a:sym typeface="Quattrocento Sans"/>
              </a:rPr>
              <a:t> averages the errors across all samples</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90500" lvl="0" marL="342900" marR="0" rtl="0" algn="l">
              <a:lnSpc>
                <a:spcPct val="115000"/>
              </a:lnSpc>
              <a:spcBef>
                <a:spcPts val="1000"/>
              </a:spcBef>
              <a:spcAft>
                <a:spcPts val="500"/>
              </a:spcAft>
              <a:buClr>
                <a:srgbClr val="FFCD00"/>
              </a:buClr>
              <a:buSzPts val="1200"/>
              <a:buFont typeface="Quattrocento Sans"/>
              <a:buChar char="◉"/>
            </a:pPr>
            <a:r>
              <a:rPr b="1" i="0" lang="en" sz="1400" u="none" cap="none" strike="noStrike">
                <a:solidFill>
                  <a:srgbClr val="000000"/>
                </a:solidFill>
                <a:highlight>
                  <a:srgbClr val="FFFFFF"/>
                </a:highlight>
                <a:latin typeface="Quattrocento Sans"/>
                <a:ea typeface="Quattrocento Sans"/>
                <a:cs typeface="Quattrocento Sans"/>
                <a:sym typeface="Quattrocento Sans"/>
              </a:rPr>
              <a:t>Intuition:</a:t>
            </a:r>
            <a:r>
              <a:rPr b="0" i="0" lang="en" sz="1400" u="none" cap="none" strike="noStrike">
                <a:solidFill>
                  <a:srgbClr val="000000"/>
                </a:solidFill>
                <a:highlight>
                  <a:srgbClr val="FFFFFF"/>
                </a:highlight>
                <a:latin typeface="Quattrocento Sans"/>
                <a:ea typeface="Quattrocento Sans"/>
                <a:cs typeface="Quattrocento Sans"/>
                <a:sym typeface="Quattrocento Sans"/>
              </a:rPr>
              <a:t> On average, how far are our predictions from the truth?</a:t>
            </a:r>
            <a:endParaRPr b="0" i="0" sz="1300" u="none" cap="none" strike="noStrike">
              <a:solidFill>
                <a:srgbClr val="000000"/>
              </a:solidFill>
              <a:latin typeface="Quattrocento Sans"/>
              <a:ea typeface="Quattrocento Sans"/>
              <a:cs typeface="Quattrocento Sans"/>
              <a:sym typeface="Quattrocento Sans"/>
            </a:endParaRPr>
          </a:p>
        </p:txBody>
      </p:sp>
      <p:pic>
        <p:nvPicPr>
          <p:cNvPr id="424" name="Google Shape;424;g3dd637020ec_0_160" title="Screen Shot 2025-10-03 at 11.37.26 AM.png"/>
          <p:cNvPicPr preferRelativeResize="0"/>
          <p:nvPr/>
        </p:nvPicPr>
        <p:blipFill rotWithShape="1">
          <a:blip r:embed="rId3">
            <a:alphaModFix/>
          </a:blip>
          <a:srcRect b="0" l="0" r="0" t="0"/>
          <a:stretch/>
        </p:blipFill>
        <p:spPr>
          <a:xfrm>
            <a:off x="1578732" y="2309722"/>
            <a:ext cx="2887400" cy="721850"/>
          </a:xfrm>
          <a:prstGeom prst="rect">
            <a:avLst/>
          </a:prstGeom>
          <a:noFill/>
          <a:ln>
            <a:noFill/>
          </a:ln>
        </p:spPr>
      </p:pic>
      <p:grpSp>
        <p:nvGrpSpPr>
          <p:cNvPr id="425" name="Google Shape;425;g3dd637020ec_0_160"/>
          <p:cNvGrpSpPr/>
          <p:nvPr/>
        </p:nvGrpSpPr>
        <p:grpSpPr>
          <a:xfrm>
            <a:off x="5763115" y="2009686"/>
            <a:ext cx="2335737" cy="1555159"/>
            <a:chOff x="5649863" y="2098450"/>
            <a:chExt cx="2520761" cy="1678350"/>
          </a:xfrm>
        </p:grpSpPr>
        <p:pic>
          <p:nvPicPr>
            <p:cNvPr id="426" name="Google Shape;426;g3dd637020ec_0_160" title="Screen Shot 2025-10-03 at 11.37.34 AM.png"/>
            <p:cNvPicPr preferRelativeResize="0"/>
            <p:nvPr/>
          </p:nvPicPr>
          <p:blipFill rotWithShape="1">
            <a:blip r:embed="rId4">
              <a:alphaModFix/>
            </a:blip>
            <a:srcRect b="0" l="0" r="0" t="0"/>
            <a:stretch/>
          </p:blipFill>
          <p:spPr>
            <a:xfrm>
              <a:off x="5649863" y="2098450"/>
              <a:ext cx="2520761" cy="792600"/>
            </a:xfrm>
            <a:prstGeom prst="rect">
              <a:avLst/>
            </a:prstGeom>
            <a:noFill/>
            <a:ln>
              <a:noFill/>
            </a:ln>
          </p:spPr>
        </p:pic>
        <p:pic>
          <p:nvPicPr>
            <p:cNvPr id="427" name="Google Shape;427;g3dd637020ec_0_160" title="Screen Shot 2025-10-03 at 11.39.48 AM.png"/>
            <p:cNvPicPr preferRelativeResize="0"/>
            <p:nvPr/>
          </p:nvPicPr>
          <p:blipFill rotWithShape="1">
            <a:blip r:embed="rId5">
              <a:alphaModFix/>
            </a:blip>
            <a:srcRect b="0" l="0" r="0" t="0"/>
            <a:stretch/>
          </p:blipFill>
          <p:spPr>
            <a:xfrm>
              <a:off x="5714714" y="2891050"/>
              <a:ext cx="2258050" cy="8857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3dd637020ec_0_175"/>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Gradient Descent</a:t>
            </a:r>
            <a:endParaRPr>
              <a:highlight>
                <a:schemeClr val="accent1"/>
              </a:highlight>
            </a:endParaRPr>
          </a:p>
        </p:txBody>
      </p:sp>
      <p:grpSp>
        <p:nvGrpSpPr>
          <p:cNvPr id="433" name="Google Shape;433;g3dd637020ec_0_175"/>
          <p:cNvGrpSpPr/>
          <p:nvPr/>
        </p:nvGrpSpPr>
        <p:grpSpPr>
          <a:xfrm>
            <a:off x="916458" y="1019750"/>
            <a:ext cx="214625" cy="214625"/>
            <a:chOff x="2594050" y="1631825"/>
            <a:chExt cx="439625" cy="439625"/>
          </a:xfrm>
        </p:grpSpPr>
        <p:sp>
          <p:nvSpPr>
            <p:cNvPr id="434" name="Google Shape;434;g3dd637020ec_0_175"/>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g3dd637020ec_0_175"/>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g3dd637020ec_0_175"/>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g3dd637020ec_0_175"/>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8" name="Google Shape;438;g3dd637020ec_0_175"/>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439" name="Google Shape;439;g3dd637020ec_0_175"/>
          <p:cNvSpPr txBox="1"/>
          <p:nvPr/>
        </p:nvSpPr>
        <p:spPr>
          <a:xfrm>
            <a:off x="684275" y="1547800"/>
            <a:ext cx="7966500" cy="2438400"/>
          </a:xfrm>
          <a:prstGeom prst="rect">
            <a:avLst/>
          </a:prstGeom>
          <a:noFill/>
          <a:ln>
            <a:noFill/>
          </a:ln>
        </p:spPr>
        <p:txBody>
          <a:bodyPr anchorCtr="0" anchor="t" bIns="91425" lIns="91425" spcFirstLastPara="1" rIns="91425" wrap="square" tIns="91425">
            <a:noAutofit/>
          </a:bodyPr>
          <a:lstStyle/>
          <a:p>
            <a:pPr indent="-184150" lvl="0" marL="342900" marR="0" rtl="0" algn="l">
              <a:lnSpc>
                <a:spcPct val="115000"/>
              </a:lnSpc>
              <a:spcBef>
                <a:spcPts val="0"/>
              </a:spcBef>
              <a:spcAft>
                <a:spcPts val="0"/>
              </a:spcAft>
              <a:buClr>
                <a:schemeClr val="accent1"/>
              </a:buClr>
              <a:buSzPts val="1100"/>
              <a:buFont typeface="Arial"/>
              <a:buChar char="◉"/>
            </a:pPr>
            <a:r>
              <a:rPr b="0" i="0" lang="en" sz="1300" u="none" cap="none" strike="noStrike">
                <a:solidFill>
                  <a:schemeClr val="dk1"/>
                </a:solidFill>
                <a:latin typeface="Quattrocento Sans"/>
                <a:ea typeface="Quattrocento Sans"/>
                <a:cs typeface="Quattrocento Sans"/>
                <a:sym typeface="Quattrocento Sans"/>
              </a:rPr>
              <a:t>A method to find the</a:t>
            </a:r>
            <a:r>
              <a:rPr b="1" i="0" lang="en" sz="1300" u="none" cap="none" strike="noStrike">
                <a:solidFill>
                  <a:schemeClr val="dk1"/>
                </a:solidFill>
                <a:latin typeface="Quattrocento Sans"/>
                <a:ea typeface="Quattrocento Sans"/>
                <a:cs typeface="Quattrocento Sans"/>
                <a:sym typeface="Quattrocento Sans"/>
              </a:rPr>
              <a:t> minimum of a function</a:t>
            </a:r>
            <a:r>
              <a:rPr b="0" i="0" lang="en" sz="1300" u="none" cap="none" strike="noStrike">
                <a:solidFill>
                  <a:schemeClr val="dk1"/>
                </a:solidFill>
                <a:latin typeface="Quattrocento Sans"/>
                <a:ea typeface="Quattrocento Sans"/>
                <a:cs typeface="Quattrocento Sans"/>
                <a:sym typeface="Quattrocento Sans"/>
              </a:rPr>
              <a:t> (like our loss function).</a:t>
            </a:r>
            <a:endParaRPr b="0" i="0" sz="1300" u="none" cap="none" strike="noStrike">
              <a:solidFill>
                <a:schemeClr val="dk1"/>
              </a:solidFill>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0" i="0" lang="en" sz="1300" u="none" cap="none" strike="noStrike">
                <a:solidFill>
                  <a:schemeClr val="dk1"/>
                </a:solidFill>
                <a:latin typeface="Quattrocento Sans"/>
                <a:ea typeface="Quattrocento Sans"/>
                <a:cs typeface="Quattrocento Sans"/>
                <a:sym typeface="Quattrocento Sans"/>
              </a:rPr>
              <a:t>Helps the model </a:t>
            </a:r>
            <a:r>
              <a:rPr b="1" i="0" lang="en" sz="1300" u="none" cap="none" strike="noStrike">
                <a:solidFill>
                  <a:schemeClr val="dk1"/>
                </a:solidFill>
                <a:latin typeface="Quattrocento Sans"/>
                <a:ea typeface="Quattrocento Sans"/>
                <a:cs typeface="Quattrocento Sans"/>
                <a:sym typeface="Quattrocento Sans"/>
              </a:rPr>
              <a:t>learn the best weights</a:t>
            </a:r>
            <a:r>
              <a:rPr b="0" i="0" lang="en" sz="1300" u="none" cap="none" strike="noStrike">
                <a:solidFill>
                  <a:schemeClr val="dk1"/>
                </a:solidFill>
                <a:latin typeface="Quattrocento Sans"/>
                <a:ea typeface="Quattrocento Sans"/>
                <a:cs typeface="Quattrocento Sans"/>
                <a:sym typeface="Quattrocento Sans"/>
              </a:rPr>
              <a:t> to make accurate predictions.</a:t>
            </a:r>
            <a:endParaRPr b="0" i="0" sz="1300" u="none" cap="none" strike="noStrike">
              <a:solidFill>
                <a:schemeClr val="dk1"/>
              </a:solidFill>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0" i="0" lang="en" sz="1300" u="none" cap="none" strike="noStrike">
                <a:solidFill>
                  <a:schemeClr val="dk1"/>
                </a:solidFill>
                <a:latin typeface="Quattrocento Sans"/>
                <a:ea typeface="Quattrocento Sans"/>
                <a:cs typeface="Quattrocento Sans"/>
                <a:sym typeface="Quattrocento Sans"/>
              </a:rPr>
              <a:t>Think of it as going </a:t>
            </a:r>
            <a:r>
              <a:rPr b="1" i="0" lang="en" sz="1300" u="none" cap="none" strike="noStrike">
                <a:solidFill>
                  <a:schemeClr val="dk1"/>
                </a:solidFill>
                <a:latin typeface="Quattrocento Sans"/>
                <a:ea typeface="Quattrocento Sans"/>
                <a:cs typeface="Quattrocento Sans"/>
                <a:sym typeface="Quattrocento Sans"/>
              </a:rPr>
              <a:t>downhill</a:t>
            </a:r>
            <a:r>
              <a:rPr b="0" i="0" lang="en" sz="1300" u="none" cap="none" strike="noStrike">
                <a:solidFill>
                  <a:schemeClr val="dk1"/>
                </a:solidFill>
                <a:latin typeface="Quattrocento Sans"/>
                <a:ea typeface="Quattrocento Sans"/>
                <a:cs typeface="Quattrocento Sans"/>
                <a:sym typeface="Quattrocento Sans"/>
              </a:rPr>
              <a:t> to reach the lowest point.</a:t>
            </a:r>
            <a:endParaRPr b="0" i="0" sz="1200" u="none" cap="none" strike="noStrike">
              <a:solidFill>
                <a:schemeClr val="dk1"/>
              </a:solidFill>
              <a:latin typeface="Quattrocento Sans"/>
              <a:ea typeface="Quattrocento Sans"/>
              <a:cs typeface="Quattrocento Sans"/>
              <a:sym typeface="Quattrocento Sans"/>
            </a:endParaRPr>
          </a:p>
          <a:p>
            <a:pPr indent="-184150" lvl="0" marL="342900" marR="0" rtl="0" algn="l">
              <a:lnSpc>
                <a:spcPct val="115000"/>
              </a:lnSpc>
              <a:spcBef>
                <a:spcPts val="800"/>
              </a:spcBef>
              <a:spcAft>
                <a:spcPts val="0"/>
              </a:spcAft>
              <a:buClr>
                <a:srgbClr val="FFCD00"/>
              </a:buClr>
              <a:buSzPts val="1100"/>
              <a:buFont typeface="Quattrocento Sans"/>
              <a:buChar char="◉"/>
            </a:pPr>
            <a:r>
              <a:rPr b="1" i="0" lang="en" sz="1300" u="none" cap="none" strike="noStrike">
                <a:solidFill>
                  <a:srgbClr val="000000"/>
                </a:solidFill>
                <a:highlight>
                  <a:srgbClr val="FFFFFF"/>
                </a:highlight>
                <a:latin typeface="Quattrocento Sans"/>
                <a:ea typeface="Quattrocento Sans"/>
                <a:cs typeface="Quattrocento Sans"/>
                <a:sym typeface="Quattrocento Sans"/>
              </a:rPr>
              <a:t>Intuitive Analogy</a:t>
            </a:r>
            <a:endParaRPr b="1" i="0" sz="1300" u="none" cap="none" strike="noStrike">
              <a:solidFill>
                <a:srgbClr val="000000"/>
              </a:solidFill>
              <a:highlight>
                <a:srgbClr val="FFFFFF"/>
              </a:highlight>
              <a:latin typeface="Quattrocento Sans"/>
              <a:ea typeface="Quattrocento Sans"/>
              <a:cs typeface="Quattrocento Sans"/>
              <a:sym typeface="Quattrocento Sans"/>
            </a:endParaRPr>
          </a:p>
          <a:p>
            <a:pPr indent="-184150" lvl="1" marL="514350" marR="0" rtl="0" algn="l">
              <a:lnSpc>
                <a:spcPct val="115000"/>
              </a:lnSpc>
              <a:spcBef>
                <a:spcPts val="20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Imagine standing on a hilly landscape in the fog.</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Your goal: reach the bottom of the valley.</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You can’t see far, but you can feel the slope under your feet.</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Each step you take downhill = one weight update.</a:t>
            </a:r>
            <a:endParaRPr b="0" i="0" sz="1300" u="none" cap="none" strike="noStrike">
              <a:solidFill>
                <a:srgbClr val="000000"/>
              </a:solidFill>
              <a:latin typeface="Quattrocento Sans"/>
              <a:ea typeface="Quattrocento Sans"/>
              <a:cs typeface="Quattrocento Sans"/>
              <a:sym typeface="Quattrocento Sans"/>
            </a:endParaRPr>
          </a:p>
        </p:txBody>
      </p:sp>
      <p:pic>
        <p:nvPicPr>
          <p:cNvPr id="440" name="Google Shape;440;g3dd637020ec_0_175" title="Screen Shot 2025-10-03 at 12.06.43 PM.png"/>
          <p:cNvPicPr preferRelativeResize="0"/>
          <p:nvPr/>
        </p:nvPicPr>
        <p:blipFill rotWithShape="1">
          <a:blip r:embed="rId3">
            <a:alphaModFix/>
          </a:blip>
          <a:srcRect b="0" l="0" r="0" t="0"/>
          <a:stretch/>
        </p:blipFill>
        <p:spPr>
          <a:xfrm>
            <a:off x="5480325" y="2550896"/>
            <a:ext cx="3352600" cy="1676300"/>
          </a:xfrm>
          <a:prstGeom prst="rect">
            <a:avLst/>
          </a:prstGeom>
          <a:noFill/>
          <a:ln>
            <a:noFill/>
          </a:ln>
        </p:spPr>
      </p:pic>
      <p:sp>
        <p:nvSpPr>
          <p:cNvPr id="441" name="Google Shape;441;g3dd637020ec_0_175"/>
          <p:cNvSpPr txBox="1"/>
          <p:nvPr/>
        </p:nvSpPr>
        <p:spPr>
          <a:xfrm>
            <a:off x="681475" y="3617231"/>
            <a:ext cx="4798800" cy="1323300"/>
          </a:xfrm>
          <a:prstGeom prst="rect">
            <a:avLst/>
          </a:prstGeom>
          <a:noFill/>
          <a:ln>
            <a:noFill/>
          </a:ln>
        </p:spPr>
        <p:txBody>
          <a:bodyPr anchorCtr="0" anchor="t" bIns="91425" lIns="91425" spcFirstLastPara="1" rIns="91425" wrap="square" tIns="91425">
            <a:noAutofit/>
          </a:bodyPr>
          <a:lstStyle/>
          <a:p>
            <a:pPr indent="-184150" lvl="0" marL="342900" marR="0" rtl="0" algn="l">
              <a:lnSpc>
                <a:spcPct val="115000"/>
              </a:lnSpc>
              <a:spcBef>
                <a:spcPts val="0"/>
              </a:spcBef>
              <a:spcAft>
                <a:spcPts val="0"/>
              </a:spcAft>
              <a:buClr>
                <a:schemeClr val="accent1"/>
              </a:buClr>
              <a:buSzPts val="1100"/>
              <a:buFont typeface="Quattrocento Sans"/>
              <a:buChar char="◉"/>
            </a:pPr>
            <a:r>
              <a:rPr b="1" i="0" lang="en" sz="1300" u="none" cap="none" strike="noStrike">
                <a:solidFill>
                  <a:srgbClr val="000000"/>
                </a:solidFill>
                <a:highlight>
                  <a:srgbClr val="FFFFFF"/>
                </a:highlight>
                <a:latin typeface="Quattrocento Sans"/>
                <a:ea typeface="Quattrocento Sans"/>
                <a:cs typeface="Quattrocento Sans"/>
                <a:sym typeface="Quattrocento Sans"/>
              </a:rPr>
              <a:t>How It Works in ML</a:t>
            </a:r>
            <a:endParaRPr b="1" i="0" sz="1300" u="none" cap="none" strike="noStrike">
              <a:solidFill>
                <a:srgbClr val="000000"/>
              </a:solidFill>
              <a:highlight>
                <a:srgbClr val="FFFFFF"/>
              </a:highlight>
              <a:latin typeface="Quattrocento Sans"/>
              <a:ea typeface="Quattrocento Sans"/>
              <a:cs typeface="Quattrocento Sans"/>
              <a:sym typeface="Quattrocento Sans"/>
            </a:endParaRPr>
          </a:p>
          <a:p>
            <a:pPr indent="-190500" lvl="1" marL="514350" marR="0" rtl="0" algn="l">
              <a:lnSpc>
                <a:spcPct val="115000"/>
              </a:lnSpc>
              <a:spcBef>
                <a:spcPts val="500"/>
              </a:spcBef>
              <a:spcAft>
                <a:spcPts val="0"/>
              </a:spcAft>
              <a:buClr>
                <a:schemeClr val="accent1"/>
              </a:buClr>
              <a:buSzPts val="1200"/>
              <a:buFont typeface="Quattrocento Sans"/>
              <a:buChar char="○"/>
            </a:pPr>
            <a:r>
              <a:rPr b="0" i="0" lang="en" sz="1200" u="none" cap="none" strike="noStrike">
                <a:solidFill>
                  <a:schemeClr val="dk1"/>
                </a:solidFill>
                <a:highlight>
                  <a:schemeClr val="lt1"/>
                </a:highlight>
                <a:latin typeface="Quattrocento Sans"/>
                <a:ea typeface="Quattrocento Sans"/>
                <a:cs typeface="Quattrocento Sans"/>
                <a:sym typeface="Quattrocento Sans"/>
              </a:rPr>
              <a:t>Calculate loss (how wrong the model is)</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90500" lvl="1" marL="514350" marR="0" rtl="0" algn="l">
              <a:lnSpc>
                <a:spcPct val="115000"/>
              </a:lnSpc>
              <a:spcBef>
                <a:spcPts val="0"/>
              </a:spcBef>
              <a:spcAft>
                <a:spcPts val="0"/>
              </a:spcAft>
              <a:buClr>
                <a:schemeClr val="accent1"/>
              </a:buClr>
              <a:buSzPts val="1200"/>
              <a:buFont typeface="Quattrocento Sans"/>
              <a:buChar char="○"/>
            </a:pPr>
            <a:r>
              <a:rPr b="0" i="0" lang="en" sz="1200" u="none" cap="none" strike="noStrike">
                <a:solidFill>
                  <a:schemeClr val="dk1"/>
                </a:solidFill>
                <a:highlight>
                  <a:schemeClr val="lt1"/>
                </a:highlight>
                <a:latin typeface="Quattrocento Sans"/>
                <a:ea typeface="Quattrocento Sans"/>
                <a:cs typeface="Quattrocento Sans"/>
                <a:sym typeface="Quattrocento Sans"/>
              </a:rPr>
              <a:t>Compute gradient (the slope of the loss)</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90500" lvl="1" marL="514350" marR="0" rtl="0" algn="l">
              <a:lnSpc>
                <a:spcPct val="115000"/>
              </a:lnSpc>
              <a:spcBef>
                <a:spcPts val="0"/>
              </a:spcBef>
              <a:spcAft>
                <a:spcPts val="0"/>
              </a:spcAft>
              <a:buClr>
                <a:schemeClr val="accent1"/>
              </a:buClr>
              <a:buSzPts val="1200"/>
              <a:buFont typeface="Quattrocento Sans"/>
              <a:buChar char="○"/>
            </a:pPr>
            <a:r>
              <a:rPr b="0" i="0" lang="en" sz="1200" u="none" cap="none" strike="noStrike">
                <a:solidFill>
                  <a:schemeClr val="dk1"/>
                </a:solidFill>
                <a:highlight>
                  <a:schemeClr val="lt1"/>
                </a:highlight>
                <a:latin typeface="Quattrocento Sans"/>
                <a:ea typeface="Quattrocento Sans"/>
                <a:cs typeface="Quattrocento Sans"/>
                <a:sym typeface="Quattrocento Sans"/>
              </a:rPr>
              <a:t>Update weights a little in the opposite direction of the slope</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90500" lvl="1" marL="514350" marR="0" rtl="0" algn="l">
              <a:lnSpc>
                <a:spcPct val="115000"/>
              </a:lnSpc>
              <a:spcBef>
                <a:spcPts val="0"/>
              </a:spcBef>
              <a:spcAft>
                <a:spcPts val="0"/>
              </a:spcAft>
              <a:buClr>
                <a:schemeClr val="accent1"/>
              </a:buClr>
              <a:buSzPts val="1200"/>
              <a:buFont typeface="Quattrocento Sans"/>
              <a:buChar char="○"/>
            </a:pPr>
            <a:r>
              <a:rPr b="0" i="0" lang="en" sz="1200" u="none" cap="none" strike="noStrike">
                <a:solidFill>
                  <a:schemeClr val="dk1"/>
                </a:solidFill>
                <a:highlight>
                  <a:schemeClr val="lt1"/>
                </a:highlight>
                <a:latin typeface="Quattrocento Sans"/>
                <a:ea typeface="Quattrocento Sans"/>
                <a:cs typeface="Quattrocento Sans"/>
                <a:sym typeface="Quattrocento Sans"/>
              </a:rPr>
              <a:t>Repeat until loss is small</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3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g3dd637020ec_0_219"/>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Choosing Learning Rate</a:t>
            </a:r>
            <a:endParaRPr>
              <a:highlight>
                <a:schemeClr val="accent1"/>
              </a:highlight>
            </a:endParaRPr>
          </a:p>
        </p:txBody>
      </p:sp>
      <p:grpSp>
        <p:nvGrpSpPr>
          <p:cNvPr id="447" name="Google Shape;447;g3dd637020ec_0_219"/>
          <p:cNvGrpSpPr/>
          <p:nvPr/>
        </p:nvGrpSpPr>
        <p:grpSpPr>
          <a:xfrm>
            <a:off x="916458" y="1019750"/>
            <a:ext cx="214625" cy="214625"/>
            <a:chOff x="2594050" y="1631825"/>
            <a:chExt cx="439625" cy="439625"/>
          </a:xfrm>
        </p:grpSpPr>
        <p:sp>
          <p:nvSpPr>
            <p:cNvPr id="448" name="Google Shape;448;g3dd637020ec_0_219"/>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g3dd637020ec_0_219"/>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3dd637020ec_0_219"/>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g3dd637020ec_0_219"/>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2" name="Google Shape;452;g3dd637020ec_0_219"/>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453" name="Google Shape;453;g3dd637020ec_0_219"/>
          <p:cNvSpPr txBox="1"/>
          <p:nvPr/>
        </p:nvSpPr>
        <p:spPr>
          <a:xfrm>
            <a:off x="684275" y="1547800"/>
            <a:ext cx="3774900" cy="1383300"/>
          </a:xfrm>
          <a:prstGeom prst="rect">
            <a:avLst/>
          </a:prstGeom>
          <a:noFill/>
          <a:ln>
            <a:noFill/>
          </a:ln>
        </p:spPr>
        <p:txBody>
          <a:bodyPr anchorCtr="0" anchor="t" bIns="91425" lIns="91425" spcFirstLastPara="1" rIns="91425" wrap="square" tIns="91425">
            <a:noAutofit/>
          </a:bodyPr>
          <a:lstStyle/>
          <a:p>
            <a:pPr indent="-184150" lvl="0" marL="342900" marR="0" rtl="0" algn="l">
              <a:lnSpc>
                <a:spcPct val="115000"/>
              </a:lnSpc>
              <a:spcBef>
                <a:spcPts val="0"/>
              </a:spcBef>
              <a:spcAft>
                <a:spcPts val="0"/>
              </a:spcAft>
              <a:buClr>
                <a:schemeClr val="accent1"/>
              </a:buClr>
              <a:buSzPts val="1100"/>
              <a:buFont typeface="Arial"/>
              <a:buChar char="◉"/>
            </a:pPr>
            <a:r>
              <a:rPr b="1" i="0" lang="en" sz="1300" u="none" cap="none" strike="noStrike">
                <a:solidFill>
                  <a:schemeClr val="dk1"/>
                </a:solidFill>
                <a:latin typeface="Quattrocento Sans"/>
                <a:ea typeface="Quattrocento Sans"/>
                <a:cs typeface="Quattrocento Sans"/>
                <a:sym typeface="Quattrocento Sans"/>
              </a:rPr>
              <a:t>Learning Rate Controls Step Size</a:t>
            </a:r>
            <a:endParaRPr b="1" i="0" sz="1300" u="none" cap="none" strike="noStrike">
              <a:solidFill>
                <a:schemeClr val="dk1"/>
              </a:solidFill>
              <a:latin typeface="Quattrocento Sans"/>
              <a:ea typeface="Quattrocento Sans"/>
              <a:cs typeface="Quattrocento Sans"/>
              <a:sym typeface="Quattrocento Sans"/>
            </a:endParaRPr>
          </a:p>
          <a:p>
            <a:pPr indent="-184150" lvl="0" marL="342900" marR="0" rtl="0" algn="l">
              <a:lnSpc>
                <a:spcPct val="115000"/>
              </a:lnSpc>
              <a:spcBef>
                <a:spcPts val="800"/>
              </a:spcBef>
              <a:spcAft>
                <a:spcPts val="0"/>
              </a:spcAft>
              <a:buClr>
                <a:schemeClr val="accent1"/>
              </a:buClr>
              <a:buSzPts val="1100"/>
              <a:buFont typeface="Quattrocento Sans"/>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Too small:</a:t>
            </a:r>
            <a:endParaRPr b="1" i="0" sz="1300" u="none" cap="none" strike="noStrike">
              <a:solidFill>
                <a:schemeClr val="dk1"/>
              </a:solidFill>
              <a:highlight>
                <a:schemeClr val="lt1"/>
              </a:highlight>
              <a:latin typeface="Quattrocento Sans"/>
              <a:ea typeface="Quattrocento Sans"/>
              <a:cs typeface="Quattrocento Sans"/>
              <a:sym typeface="Quattrocento Sans"/>
            </a:endParaRPr>
          </a:p>
          <a:p>
            <a:pPr indent="-184150" lvl="1" marL="514350" marR="0" rtl="0" algn="l">
              <a:lnSpc>
                <a:spcPct val="115000"/>
              </a:lnSpc>
              <a:spcBef>
                <a:spcPts val="20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Updates are tiny → convergence is very slow</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Might take forever to reach minimum</a:t>
            </a:r>
            <a:endParaRPr b="0" i="0" sz="1300" u="none" cap="none" strike="noStrike">
              <a:solidFill>
                <a:srgbClr val="000000"/>
              </a:solidFill>
              <a:latin typeface="Quattrocento Sans"/>
              <a:ea typeface="Quattrocento Sans"/>
              <a:cs typeface="Quattrocento Sans"/>
              <a:sym typeface="Quattrocento Sans"/>
            </a:endParaRPr>
          </a:p>
        </p:txBody>
      </p:sp>
      <p:sp>
        <p:nvSpPr>
          <p:cNvPr id="454" name="Google Shape;454;g3dd637020ec_0_219"/>
          <p:cNvSpPr txBox="1"/>
          <p:nvPr/>
        </p:nvSpPr>
        <p:spPr>
          <a:xfrm>
            <a:off x="4874900" y="1552251"/>
            <a:ext cx="3774900" cy="118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Quattrocento Sans"/>
              <a:ea typeface="Quattrocento Sans"/>
              <a:cs typeface="Quattrocento Sans"/>
              <a:sym typeface="Quattrocento Sans"/>
            </a:endParaRPr>
          </a:p>
          <a:p>
            <a:pPr indent="-184150" lvl="0" marL="342900" marR="0" rtl="0" algn="l">
              <a:lnSpc>
                <a:spcPct val="115000"/>
              </a:lnSpc>
              <a:spcBef>
                <a:spcPts val="800"/>
              </a:spcBef>
              <a:spcAft>
                <a:spcPts val="0"/>
              </a:spcAft>
              <a:buClr>
                <a:schemeClr val="accent1"/>
              </a:buClr>
              <a:buSzPts val="1100"/>
              <a:buFont typeface="Quattrocento Sans"/>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Too large:</a:t>
            </a:r>
            <a:endParaRPr b="1" i="0" sz="1300" u="none" cap="none" strike="noStrike">
              <a:solidFill>
                <a:schemeClr val="dk1"/>
              </a:solidFill>
              <a:highlight>
                <a:schemeClr val="lt1"/>
              </a:highlight>
              <a:latin typeface="Quattrocento Sans"/>
              <a:ea typeface="Quattrocento Sans"/>
              <a:cs typeface="Quattrocento Sans"/>
              <a:sym typeface="Quattrocento Sans"/>
            </a:endParaRPr>
          </a:p>
          <a:p>
            <a:pPr indent="-184150" lvl="1" marL="514350" marR="0" rtl="0" algn="l">
              <a:lnSpc>
                <a:spcPct val="115000"/>
              </a:lnSpc>
              <a:spcBef>
                <a:spcPts val="20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Updates overshoot minimum → divergence</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Loss may oscillate or explode</a:t>
            </a:r>
            <a:endParaRPr b="0" i="0" sz="1300" u="none" cap="none" strike="noStrike">
              <a:solidFill>
                <a:srgbClr val="000000"/>
              </a:solidFill>
              <a:latin typeface="Quattrocento Sans"/>
              <a:ea typeface="Quattrocento Sans"/>
              <a:cs typeface="Quattrocento Sans"/>
              <a:sym typeface="Quattrocento Sans"/>
            </a:endParaRPr>
          </a:p>
        </p:txBody>
      </p:sp>
      <p:grpSp>
        <p:nvGrpSpPr>
          <p:cNvPr id="455" name="Google Shape;455;g3dd637020ec_0_219"/>
          <p:cNvGrpSpPr/>
          <p:nvPr/>
        </p:nvGrpSpPr>
        <p:grpSpPr>
          <a:xfrm>
            <a:off x="1785833" y="2786547"/>
            <a:ext cx="5162899" cy="2233982"/>
            <a:chOff x="1743500" y="2882175"/>
            <a:chExt cx="5162899" cy="2233982"/>
          </a:xfrm>
        </p:grpSpPr>
        <p:pic>
          <p:nvPicPr>
            <p:cNvPr id="456" name="Google Shape;456;g3dd637020ec_0_219" title="learning_rate_choice.png"/>
            <p:cNvPicPr preferRelativeResize="0"/>
            <p:nvPr/>
          </p:nvPicPr>
          <p:blipFill rotWithShape="1">
            <a:blip r:embed="rId3">
              <a:alphaModFix/>
            </a:blip>
            <a:srcRect b="10786" l="6306" r="0" t="0"/>
            <a:stretch/>
          </p:blipFill>
          <p:spPr>
            <a:xfrm>
              <a:off x="2292200" y="2882175"/>
              <a:ext cx="4614199" cy="1961025"/>
            </a:xfrm>
            <a:prstGeom prst="rect">
              <a:avLst/>
            </a:prstGeom>
            <a:noFill/>
            <a:ln>
              <a:noFill/>
            </a:ln>
          </p:spPr>
        </p:pic>
        <p:sp>
          <p:nvSpPr>
            <p:cNvPr id="457" name="Google Shape;457;g3dd637020ec_0_219"/>
            <p:cNvSpPr txBox="1"/>
            <p:nvPr/>
          </p:nvSpPr>
          <p:spPr>
            <a:xfrm>
              <a:off x="1743500" y="3693188"/>
              <a:ext cx="548700" cy="33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Times New Roman"/>
                  <a:ea typeface="Times New Roman"/>
                  <a:cs typeface="Times New Roman"/>
                  <a:sym typeface="Times New Roman"/>
                </a:rPr>
                <a:t>L(W)</a:t>
              </a:r>
              <a:endParaRPr b="1" i="0" sz="1200" u="none" cap="none" strike="noStrike">
                <a:solidFill>
                  <a:schemeClr val="dk1"/>
                </a:solidFill>
                <a:latin typeface="Times New Roman"/>
                <a:ea typeface="Times New Roman"/>
                <a:cs typeface="Times New Roman"/>
                <a:sym typeface="Times New Roman"/>
              </a:endParaRPr>
            </a:p>
          </p:txBody>
        </p:sp>
        <p:pic>
          <p:nvPicPr>
            <p:cNvPr id="458" name="Google Shape;458;g3dd637020ec_0_219" title="Screen Shot 2025-10-10 at 12.39.04 PM.png"/>
            <p:cNvPicPr preferRelativeResize="0"/>
            <p:nvPr/>
          </p:nvPicPr>
          <p:blipFill rotWithShape="1">
            <a:blip r:embed="rId4">
              <a:alphaModFix/>
            </a:blip>
            <a:srcRect b="0" l="0" r="0" t="0"/>
            <a:stretch/>
          </p:blipFill>
          <p:spPr>
            <a:xfrm>
              <a:off x="2696184" y="2888848"/>
              <a:ext cx="183066" cy="214625"/>
            </a:xfrm>
            <a:prstGeom prst="rect">
              <a:avLst/>
            </a:prstGeom>
            <a:noFill/>
            <a:ln>
              <a:noFill/>
            </a:ln>
          </p:spPr>
        </p:pic>
        <p:pic>
          <p:nvPicPr>
            <p:cNvPr id="459" name="Google Shape;459;g3dd637020ec_0_219" title="Screen Shot 2025-10-10 at 12.39.04 PM.png"/>
            <p:cNvPicPr preferRelativeResize="0"/>
            <p:nvPr/>
          </p:nvPicPr>
          <p:blipFill rotWithShape="1">
            <a:blip r:embed="rId4">
              <a:alphaModFix/>
            </a:blip>
            <a:srcRect b="0" l="0" r="0" t="0"/>
            <a:stretch/>
          </p:blipFill>
          <p:spPr>
            <a:xfrm>
              <a:off x="4195434" y="2888848"/>
              <a:ext cx="183066" cy="214625"/>
            </a:xfrm>
            <a:prstGeom prst="rect">
              <a:avLst/>
            </a:prstGeom>
            <a:noFill/>
            <a:ln>
              <a:noFill/>
            </a:ln>
          </p:spPr>
        </p:pic>
        <p:pic>
          <p:nvPicPr>
            <p:cNvPr id="460" name="Google Shape;460;g3dd637020ec_0_219" title="Screen Shot 2025-10-10 at 12.39.04 PM.png"/>
            <p:cNvPicPr preferRelativeResize="0"/>
            <p:nvPr/>
          </p:nvPicPr>
          <p:blipFill rotWithShape="1">
            <a:blip r:embed="rId4">
              <a:alphaModFix/>
            </a:blip>
            <a:srcRect b="0" l="0" r="0" t="0"/>
            <a:stretch/>
          </p:blipFill>
          <p:spPr>
            <a:xfrm>
              <a:off x="5743225" y="2888848"/>
              <a:ext cx="183066" cy="214625"/>
            </a:xfrm>
            <a:prstGeom prst="rect">
              <a:avLst/>
            </a:prstGeom>
            <a:noFill/>
            <a:ln>
              <a:noFill/>
            </a:ln>
          </p:spPr>
        </p:pic>
        <p:sp>
          <p:nvSpPr>
            <p:cNvPr id="461" name="Google Shape;461;g3dd637020ec_0_219"/>
            <p:cNvSpPr txBox="1"/>
            <p:nvPr/>
          </p:nvSpPr>
          <p:spPr>
            <a:xfrm>
              <a:off x="2879250" y="4743126"/>
              <a:ext cx="548700" cy="33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Times New Roman"/>
                  <a:ea typeface="Times New Roman"/>
                  <a:cs typeface="Times New Roman"/>
                  <a:sym typeface="Times New Roman"/>
                </a:rPr>
                <a:t>W</a:t>
              </a:r>
              <a:endParaRPr b="1" i="0" sz="1200" u="none" cap="none" strike="noStrike">
                <a:solidFill>
                  <a:schemeClr val="dk1"/>
                </a:solidFill>
                <a:latin typeface="Times New Roman"/>
                <a:ea typeface="Times New Roman"/>
                <a:cs typeface="Times New Roman"/>
                <a:sym typeface="Times New Roman"/>
              </a:endParaRPr>
            </a:p>
          </p:txBody>
        </p:sp>
        <p:sp>
          <p:nvSpPr>
            <p:cNvPr id="462" name="Google Shape;462;g3dd637020ec_0_219"/>
            <p:cNvSpPr txBox="1"/>
            <p:nvPr/>
          </p:nvSpPr>
          <p:spPr>
            <a:xfrm>
              <a:off x="5926297" y="4743132"/>
              <a:ext cx="548700" cy="33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Times New Roman"/>
                  <a:ea typeface="Times New Roman"/>
                  <a:cs typeface="Times New Roman"/>
                  <a:sym typeface="Times New Roman"/>
                </a:rPr>
                <a:t>W</a:t>
              </a:r>
              <a:endParaRPr b="1" i="0" sz="1200" u="none" cap="none" strike="noStrike">
                <a:solidFill>
                  <a:schemeClr val="dk1"/>
                </a:solidFill>
                <a:latin typeface="Times New Roman"/>
                <a:ea typeface="Times New Roman"/>
                <a:cs typeface="Times New Roman"/>
                <a:sym typeface="Times New Roman"/>
              </a:endParaRPr>
            </a:p>
          </p:txBody>
        </p:sp>
        <p:sp>
          <p:nvSpPr>
            <p:cNvPr id="463" name="Google Shape;463;g3dd637020ec_0_219"/>
            <p:cNvSpPr txBox="1"/>
            <p:nvPr/>
          </p:nvSpPr>
          <p:spPr>
            <a:xfrm>
              <a:off x="4412597" y="4777157"/>
              <a:ext cx="548700" cy="33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Times New Roman"/>
                  <a:ea typeface="Times New Roman"/>
                  <a:cs typeface="Times New Roman"/>
                  <a:sym typeface="Times New Roman"/>
                </a:rPr>
                <a:t>W</a:t>
              </a:r>
              <a:endParaRPr b="1" i="0" sz="1200" u="none" cap="none" strike="noStrike">
                <a:solidFill>
                  <a:schemeClr val="dk1"/>
                </a:solidFill>
                <a:latin typeface="Times New Roman"/>
                <a:ea typeface="Times New Roman"/>
                <a:cs typeface="Times New Roman"/>
                <a:sym typeface="Times New Roman"/>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3dd637020ec_0_240"/>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Feature Scaling</a:t>
            </a:r>
            <a:endParaRPr>
              <a:highlight>
                <a:schemeClr val="accent1"/>
              </a:highlight>
            </a:endParaRPr>
          </a:p>
        </p:txBody>
      </p:sp>
      <p:grpSp>
        <p:nvGrpSpPr>
          <p:cNvPr id="469" name="Google Shape;469;g3dd637020ec_0_240"/>
          <p:cNvGrpSpPr/>
          <p:nvPr/>
        </p:nvGrpSpPr>
        <p:grpSpPr>
          <a:xfrm>
            <a:off x="916458" y="1019750"/>
            <a:ext cx="214625" cy="214625"/>
            <a:chOff x="2594050" y="1631825"/>
            <a:chExt cx="439625" cy="439625"/>
          </a:xfrm>
        </p:grpSpPr>
        <p:sp>
          <p:nvSpPr>
            <p:cNvPr id="470" name="Google Shape;470;g3dd637020ec_0_240"/>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3dd637020ec_0_240"/>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g3dd637020ec_0_240"/>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g3dd637020ec_0_240"/>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4" name="Google Shape;474;g3dd637020ec_0_240"/>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475" name="Google Shape;475;g3dd637020ec_0_240"/>
          <p:cNvSpPr txBox="1"/>
          <p:nvPr/>
        </p:nvSpPr>
        <p:spPr>
          <a:xfrm>
            <a:off x="684275" y="1547800"/>
            <a:ext cx="8246700" cy="1383300"/>
          </a:xfrm>
          <a:prstGeom prst="rect">
            <a:avLst/>
          </a:prstGeom>
          <a:noFill/>
          <a:ln>
            <a:noFill/>
          </a:ln>
        </p:spPr>
        <p:txBody>
          <a:bodyPr anchorCtr="0" anchor="t" bIns="91425" lIns="91425" spcFirstLastPara="1" rIns="91425" wrap="square" tIns="91425">
            <a:noAutofit/>
          </a:bodyPr>
          <a:lstStyle/>
          <a:p>
            <a:pPr indent="-184150" lvl="0" marL="342900" marR="0" rtl="0" algn="l">
              <a:lnSpc>
                <a:spcPct val="115000"/>
              </a:lnSpc>
              <a:spcBef>
                <a:spcPts val="0"/>
              </a:spcBef>
              <a:spcAft>
                <a:spcPts val="0"/>
              </a:spcAft>
              <a:buClr>
                <a:schemeClr val="accent1"/>
              </a:buClr>
              <a:buSzPts val="1100"/>
              <a:buFont typeface="Arial"/>
              <a:buChar char="◉"/>
            </a:pPr>
            <a:r>
              <a:rPr b="1" i="0" lang="en" sz="1300" u="none" cap="none" strike="noStrike">
                <a:solidFill>
                  <a:schemeClr val="dk1"/>
                </a:solidFill>
                <a:latin typeface="Quattrocento Sans"/>
                <a:ea typeface="Quattrocento Sans"/>
                <a:cs typeface="Quattrocento Sans"/>
                <a:sym typeface="Quattrocento Sans"/>
              </a:rPr>
              <a:t>Why Feature Scaling?</a:t>
            </a:r>
            <a:endParaRPr b="1" i="0" sz="1300" u="none" cap="none" strike="noStrike">
              <a:solidFill>
                <a:schemeClr val="dk1"/>
              </a:solidFill>
              <a:highlight>
                <a:schemeClr val="lt1"/>
              </a:highlight>
              <a:latin typeface="Quattrocento Sans"/>
              <a:ea typeface="Quattrocento Sans"/>
              <a:cs typeface="Quattrocento Sans"/>
              <a:sym typeface="Quattrocento Sans"/>
            </a:endParaRPr>
          </a:p>
          <a:p>
            <a:pPr indent="-184150" lvl="1" marL="514350" marR="0" rtl="0" algn="l">
              <a:lnSpc>
                <a:spcPct val="115000"/>
              </a:lnSpc>
              <a:spcBef>
                <a:spcPts val="30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Gradient descent works better when all features are on similar scale.</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Otherwise, large scale differences make gradient point in “wrong” directions → zig-zag path, slower convergence</a:t>
            </a:r>
            <a:endParaRPr b="0" i="0" sz="1200" u="none" cap="none" strike="noStrike">
              <a:solidFill>
                <a:schemeClr val="dk1"/>
              </a:solidFill>
              <a:latin typeface="Quattrocento Sans"/>
              <a:ea typeface="Quattrocento Sans"/>
              <a:cs typeface="Quattrocento Sans"/>
              <a:sym typeface="Quattrocento Sans"/>
            </a:endParaRPr>
          </a:p>
        </p:txBody>
      </p:sp>
      <p:pic>
        <p:nvPicPr>
          <p:cNvPr id="476" name="Google Shape;476;g3dd637020ec_0_240" title="51cacc4abd0b5719748f22c17dc60e219f9091a2.png"/>
          <p:cNvPicPr preferRelativeResize="0"/>
          <p:nvPr/>
        </p:nvPicPr>
        <p:blipFill rotWithShape="1">
          <a:blip r:embed="rId3">
            <a:alphaModFix/>
          </a:blip>
          <a:srcRect b="12103" l="0" r="0" t="0"/>
          <a:stretch/>
        </p:blipFill>
        <p:spPr>
          <a:xfrm>
            <a:off x="1931452" y="2496050"/>
            <a:ext cx="4834299" cy="240345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dd637020ec_0_124"/>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Perceptron vs Adaline </a:t>
            </a:r>
            <a:endParaRPr>
              <a:highlight>
                <a:schemeClr val="accent1"/>
              </a:highlight>
            </a:endParaRPr>
          </a:p>
        </p:txBody>
      </p:sp>
      <p:grpSp>
        <p:nvGrpSpPr>
          <p:cNvPr id="482" name="Google Shape;482;g3dd637020ec_0_124"/>
          <p:cNvGrpSpPr/>
          <p:nvPr/>
        </p:nvGrpSpPr>
        <p:grpSpPr>
          <a:xfrm>
            <a:off x="916458" y="1019750"/>
            <a:ext cx="214625" cy="214625"/>
            <a:chOff x="2594050" y="1631825"/>
            <a:chExt cx="439625" cy="439625"/>
          </a:xfrm>
        </p:grpSpPr>
        <p:sp>
          <p:nvSpPr>
            <p:cNvPr id="483" name="Google Shape;483;g3dd637020ec_0_124"/>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dd637020ec_0_124"/>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3dd637020ec_0_124"/>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g3dd637020ec_0_124"/>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7" name="Google Shape;487;g3dd637020ec_0_124"/>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pic>
        <p:nvPicPr>
          <p:cNvPr id="488" name="Google Shape;488;g3dd637020ec_0_124" title="Screen Shot 2025-09-25 at 7.46.56 PM.png"/>
          <p:cNvPicPr preferRelativeResize="0"/>
          <p:nvPr/>
        </p:nvPicPr>
        <p:blipFill rotWithShape="1">
          <a:blip r:embed="rId3">
            <a:alphaModFix/>
          </a:blip>
          <a:srcRect b="0" l="0" r="0" t="0"/>
          <a:stretch/>
        </p:blipFill>
        <p:spPr>
          <a:xfrm>
            <a:off x="2554325" y="1387650"/>
            <a:ext cx="4535125" cy="36131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3dd637020ec_0_447"/>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Adaline Convergence &amp; Limitations</a:t>
            </a:r>
            <a:endParaRPr>
              <a:highlight>
                <a:schemeClr val="accent1"/>
              </a:highlight>
            </a:endParaRPr>
          </a:p>
        </p:txBody>
      </p:sp>
      <p:grpSp>
        <p:nvGrpSpPr>
          <p:cNvPr id="494" name="Google Shape;494;g3dd637020ec_0_447"/>
          <p:cNvGrpSpPr/>
          <p:nvPr/>
        </p:nvGrpSpPr>
        <p:grpSpPr>
          <a:xfrm>
            <a:off x="916458" y="1019750"/>
            <a:ext cx="214625" cy="214625"/>
            <a:chOff x="2594050" y="1631825"/>
            <a:chExt cx="439625" cy="439625"/>
          </a:xfrm>
        </p:grpSpPr>
        <p:sp>
          <p:nvSpPr>
            <p:cNvPr id="495" name="Google Shape;495;g3dd637020ec_0_447"/>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g3dd637020ec_0_447"/>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g3dd637020ec_0_447"/>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g3dd637020ec_0_447"/>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9" name="Google Shape;499;g3dd637020ec_0_447"/>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500" name="Google Shape;500;g3dd637020ec_0_447"/>
          <p:cNvSpPr txBox="1"/>
          <p:nvPr/>
        </p:nvSpPr>
        <p:spPr>
          <a:xfrm>
            <a:off x="684275" y="1547800"/>
            <a:ext cx="7859100" cy="2200500"/>
          </a:xfrm>
          <a:prstGeom prst="rect">
            <a:avLst/>
          </a:prstGeom>
          <a:noFill/>
          <a:ln>
            <a:noFill/>
          </a:ln>
        </p:spPr>
        <p:txBody>
          <a:bodyPr anchorCtr="0" anchor="t" bIns="91425" lIns="91425" spcFirstLastPara="1" rIns="91425" wrap="square" tIns="91425">
            <a:noAutofit/>
          </a:bodyPr>
          <a:lstStyle/>
          <a:p>
            <a:pPr indent="-203200" lvl="0" marL="342900" marR="0" rtl="0" algn="l">
              <a:lnSpc>
                <a:spcPct val="115000"/>
              </a:lnSpc>
              <a:spcBef>
                <a:spcPts val="0"/>
              </a:spcBef>
              <a:spcAft>
                <a:spcPts val="0"/>
              </a:spcAft>
              <a:buClr>
                <a:schemeClr val="accent1"/>
              </a:buClr>
              <a:buSzPts val="1400"/>
              <a:buFont typeface="Quattrocento Sans"/>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The Adaline can NOT successfully classify non-linearly separable data (same as perceptron)</a:t>
            </a:r>
            <a:endParaRPr b="0" i="0" sz="1400" u="none" cap="none" strike="noStrike">
              <a:solidFill>
                <a:schemeClr val="dk1"/>
              </a:solidFill>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500"/>
              <a:buFont typeface="Arial"/>
              <a:buNone/>
            </a:pPr>
            <a:r>
              <a:t/>
            </a:r>
            <a:endParaRPr b="0" i="0" sz="5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3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pic>
        <p:nvPicPr>
          <p:cNvPr id="501" name="Google Shape;501;g3dd637020ec_0_447" title="Screen Shot 2025-09-25 at 11.50.45 AM.png"/>
          <p:cNvPicPr preferRelativeResize="0"/>
          <p:nvPr/>
        </p:nvPicPr>
        <p:blipFill rotWithShape="1">
          <a:blip r:embed="rId3">
            <a:alphaModFix/>
          </a:blip>
          <a:srcRect b="11567" l="0" r="0" t="0"/>
          <a:stretch/>
        </p:blipFill>
        <p:spPr>
          <a:xfrm>
            <a:off x="2265275" y="2056450"/>
            <a:ext cx="4519127" cy="1621601"/>
          </a:xfrm>
          <a:prstGeom prst="rect">
            <a:avLst/>
          </a:prstGeom>
          <a:noFill/>
          <a:ln>
            <a:noFill/>
          </a:ln>
        </p:spPr>
      </p:pic>
      <p:sp>
        <p:nvSpPr>
          <p:cNvPr id="502" name="Google Shape;502;g3dd637020ec_0_447"/>
          <p:cNvSpPr txBox="1"/>
          <p:nvPr/>
        </p:nvSpPr>
        <p:spPr>
          <a:xfrm>
            <a:off x="684275" y="4293725"/>
            <a:ext cx="7253400" cy="435600"/>
          </a:xfrm>
          <a:prstGeom prst="rect">
            <a:avLst/>
          </a:prstGeom>
          <a:noFill/>
          <a:ln>
            <a:noFill/>
          </a:ln>
        </p:spPr>
        <p:txBody>
          <a:bodyPr anchorCtr="0" anchor="t" bIns="91425" lIns="91425" spcFirstLastPara="1" rIns="91425" wrap="square" tIns="91425">
            <a:noAutofit/>
          </a:bodyPr>
          <a:lstStyle/>
          <a:p>
            <a:pPr indent="-190500" lvl="1" marL="514350" marR="0" rtl="0" algn="l">
              <a:lnSpc>
                <a:spcPct val="115000"/>
              </a:lnSpc>
              <a:spcBef>
                <a:spcPts val="0"/>
              </a:spcBef>
              <a:spcAft>
                <a:spcPts val="0"/>
              </a:spcAft>
              <a:buClr>
                <a:schemeClr val="accent1"/>
              </a:buClr>
              <a:buSzPts val="1200"/>
              <a:buFont typeface="Quattrocento Sans"/>
              <a:buChar char="○"/>
            </a:pPr>
            <a:r>
              <a:rPr b="0" i="0" lang="en" sz="1200" u="none" cap="none" strike="noStrike">
                <a:solidFill>
                  <a:schemeClr val="dk1"/>
                </a:solidFill>
                <a:highlight>
                  <a:schemeClr val="lt1"/>
                </a:highlight>
                <a:latin typeface="Quattrocento Sans"/>
                <a:ea typeface="Quattrocento Sans"/>
                <a:cs typeface="Quattrocento Sans"/>
                <a:sym typeface="Quattrocento Sans"/>
              </a:rPr>
              <a:t>It will systematically slide down the error gradient until it reaches the mathematical minimum.</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300"/>
              </a:spcBef>
              <a:spcAft>
                <a:spcPts val="3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sp>
        <p:nvSpPr>
          <p:cNvPr id="503" name="Google Shape;503;g3dd637020ec_0_447"/>
          <p:cNvSpPr txBox="1"/>
          <p:nvPr/>
        </p:nvSpPr>
        <p:spPr>
          <a:xfrm>
            <a:off x="5156950" y="3934050"/>
            <a:ext cx="35262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400" u="none" cap="none" strike="noStrike">
                <a:solidFill>
                  <a:schemeClr val="accent2"/>
                </a:solidFill>
                <a:latin typeface="Quattrocento Sans"/>
                <a:ea typeface="Quattrocento Sans"/>
                <a:cs typeface="Quattrocento Sans"/>
                <a:sym typeface="Quattrocento Sans"/>
              </a:rPr>
              <a:t>It will converge &amp; Settling for the "Best Fit"</a:t>
            </a:r>
            <a:endParaRPr b="1" i="0" sz="1400" u="none" cap="none" strike="noStrike">
              <a:solidFill>
                <a:schemeClr val="accent2"/>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accent2"/>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Quattrocento Sans"/>
              <a:ea typeface="Quattrocento Sans"/>
              <a:cs typeface="Quattrocento Sans"/>
              <a:sym typeface="Quattrocento Sans"/>
            </a:endParaRPr>
          </a:p>
        </p:txBody>
      </p:sp>
      <p:sp>
        <p:nvSpPr>
          <p:cNvPr id="504" name="Google Shape;504;g3dd637020ec_0_447"/>
          <p:cNvSpPr txBox="1"/>
          <p:nvPr/>
        </p:nvSpPr>
        <p:spPr>
          <a:xfrm>
            <a:off x="722951" y="3942650"/>
            <a:ext cx="4434000" cy="384900"/>
          </a:xfrm>
          <a:prstGeom prst="rect">
            <a:avLst/>
          </a:prstGeom>
          <a:noFill/>
          <a:ln>
            <a:noFill/>
          </a:ln>
        </p:spPr>
        <p:txBody>
          <a:bodyPr anchorCtr="0" anchor="t" bIns="91425" lIns="91425" spcFirstLastPara="1" rIns="91425" wrap="square" tIns="91425">
            <a:spAutoFit/>
          </a:bodyPr>
          <a:lstStyle/>
          <a:p>
            <a:pPr indent="-196850" lvl="0" marL="342900" marR="0" rtl="0" algn="l">
              <a:lnSpc>
                <a:spcPct val="115000"/>
              </a:lnSpc>
              <a:spcBef>
                <a:spcPts val="1500"/>
              </a:spcBef>
              <a:spcAft>
                <a:spcPts val="500"/>
              </a:spcAft>
              <a:buClr>
                <a:schemeClr val="accent1"/>
              </a:buClr>
              <a:buSzPts val="1300"/>
              <a:buFont typeface="Quattrocento Sans"/>
              <a:buChar char="◉"/>
            </a:pPr>
            <a:r>
              <a:rPr b="0" i="0" lang="en" sz="1300" u="none" cap="none" strike="noStrike">
                <a:solidFill>
                  <a:schemeClr val="dk1"/>
                </a:solidFill>
                <a:highlight>
                  <a:schemeClr val="lt1"/>
                </a:highlight>
                <a:latin typeface="Quattrocento Sans"/>
                <a:ea typeface="Quattrocento Sans"/>
                <a:cs typeface="Quattrocento Sans"/>
                <a:sym typeface="Quattrocento Sans"/>
              </a:rPr>
              <a:t>What will happen if the data is not linearly separable?</a:t>
            </a:r>
            <a:endParaRPr b="0" i="0" sz="1300" u="none" cap="none" strike="noStrike">
              <a:solidFill>
                <a:schemeClr val="dk1"/>
              </a:solidFill>
              <a:latin typeface="Quattrocento Sans"/>
              <a:ea typeface="Quattrocento Sans"/>
              <a:cs typeface="Quattrocento Sans"/>
              <a:sym typeface="Quattrocento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cxnSp>
        <p:nvCxnSpPr>
          <p:cNvPr id="509" name="Google Shape;509;g3dd637020ec_0_205"/>
          <p:cNvCxnSpPr/>
          <p:nvPr/>
        </p:nvCxnSpPr>
        <p:spPr>
          <a:xfrm>
            <a:off x="6450" y="1428750"/>
            <a:ext cx="2397300" cy="0"/>
          </a:xfrm>
          <a:prstGeom prst="straightConnector1">
            <a:avLst/>
          </a:prstGeom>
          <a:noFill/>
          <a:ln cap="flat" cmpd="sng" w="9525">
            <a:solidFill>
              <a:srgbClr val="CCCCCC"/>
            </a:solidFill>
            <a:prstDash val="solid"/>
            <a:round/>
            <a:headEnd len="sm" w="sm" type="none"/>
            <a:tailEnd len="sm" w="sm" type="none"/>
          </a:ln>
        </p:spPr>
      </p:cxnSp>
      <p:sp>
        <p:nvSpPr>
          <p:cNvPr id="510" name="Google Shape;510;g3dd637020ec_0_205"/>
          <p:cNvSpPr txBox="1"/>
          <p:nvPr>
            <p:ph idx="4294967295" type="ctrTitle"/>
          </p:nvPr>
        </p:nvSpPr>
        <p:spPr>
          <a:xfrm>
            <a:off x="1578200" y="2283925"/>
            <a:ext cx="5666400" cy="11598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600"/>
              </a:spcBef>
              <a:spcAft>
                <a:spcPts val="0"/>
              </a:spcAft>
              <a:buClr>
                <a:schemeClr val="dk1"/>
              </a:buClr>
              <a:buSzPts val="1100"/>
              <a:buFont typeface="Arial"/>
              <a:buNone/>
            </a:pPr>
            <a:r>
              <a:rPr b="1" i="1" lang="en" sz="2600" u="none" cap="none" strike="noStrike">
                <a:solidFill>
                  <a:schemeClr val="dk1"/>
                </a:solidFill>
                <a:latin typeface="Lora"/>
                <a:ea typeface="Lora"/>
                <a:cs typeface="Lora"/>
                <a:sym typeface="Lora"/>
              </a:rPr>
              <a:t>Implementing Adaline in Python</a:t>
            </a:r>
            <a:endParaRPr b="1" i="0" sz="5000" u="none" cap="none" strike="noStrike">
              <a:solidFill>
                <a:schemeClr val="dk1"/>
              </a:solidFill>
              <a:latin typeface="Lora"/>
              <a:ea typeface="Lora"/>
              <a:cs typeface="Lora"/>
              <a:sym typeface="Lora"/>
            </a:endParaRPr>
          </a:p>
        </p:txBody>
      </p:sp>
      <p:cxnSp>
        <p:nvCxnSpPr>
          <p:cNvPr id="511" name="Google Shape;511;g3dd637020ec_0_205"/>
          <p:cNvCxnSpPr/>
          <p:nvPr/>
        </p:nvCxnSpPr>
        <p:spPr>
          <a:xfrm>
            <a:off x="6319150" y="1424350"/>
            <a:ext cx="2824500" cy="4500"/>
          </a:xfrm>
          <a:prstGeom prst="straightConnector1">
            <a:avLst/>
          </a:prstGeom>
          <a:noFill/>
          <a:ln cap="flat" cmpd="sng" w="9525">
            <a:solidFill>
              <a:srgbClr val="CCCCCC"/>
            </a:solidFill>
            <a:prstDash val="solid"/>
            <a:round/>
            <a:headEnd len="sm" w="sm" type="none"/>
            <a:tailEnd len="sm" w="sm" type="none"/>
          </a:ln>
        </p:spPr>
      </p:cxnSp>
      <p:sp>
        <p:nvSpPr>
          <p:cNvPr id="512" name="Google Shape;512;g3dd637020ec_0_205"/>
          <p:cNvSpPr/>
          <p:nvPr/>
        </p:nvSpPr>
        <p:spPr>
          <a:xfrm>
            <a:off x="831925" y="859175"/>
            <a:ext cx="1139100" cy="1139100"/>
          </a:xfrm>
          <a:prstGeom prst="ellipse">
            <a:avLst/>
          </a:prstGeom>
          <a:solidFill>
            <a:srgbClr val="FFC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g3dd637020ec_0_205"/>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grpSp>
        <p:nvGrpSpPr>
          <p:cNvPr id="514" name="Google Shape;514;g3dd637020ec_0_205"/>
          <p:cNvGrpSpPr/>
          <p:nvPr/>
        </p:nvGrpSpPr>
        <p:grpSpPr>
          <a:xfrm>
            <a:off x="1070856" y="1019631"/>
            <a:ext cx="647216" cy="680979"/>
            <a:chOff x="2594050" y="1631825"/>
            <a:chExt cx="439625" cy="439625"/>
          </a:xfrm>
        </p:grpSpPr>
        <p:sp>
          <p:nvSpPr>
            <p:cNvPr id="515" name="Google Shape;515;g3dd637020ec_0_205"/>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sp>
          <p:nvSpPr>
            <p:cNvPr id="516" name="Google Shape;516;g3dd637020ec_0_205"/>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sp>
          <p:nvSpPr>
            <p:cNvPr id="517" name="Google Shape;517;g3dd637020ec_0_205"/>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sp>
          <p:nvSpPr>
            <p:cNvPr id="518" name="Google Shape;518;g3dd637020ec_0_205"/>
            <p:cNvSpPr/>
            <p:nvPr/>
          </p:nvSpPr>
          <p:spPr>
            <a:xfrm>
              <a:off x="2814912" y="1754062"/>
              <a:ext cx="49950" cy="49950"/>
            </a:xfrm>
            <a:custGeom>
              <a:rect b="b" l="l" r="r" t="t"/>
              <a:pathLst>
                <a:path extrusionOk="0" fill="none" h="1998" w="1998">
                  <a:moveTo>
                    <a:pt x="1" y="1997"/>
                  </a:moveTo>
                  <a:lnTo>
                    <a:pt x="1998" y="0"/>
                  </a:lnTo>
                </a:path>
              </a:pathLst>
            </a:custGeom>
            <a:noFill/>
            <a:ln cap="rnd" cmpd="sng" w="28725">
              <a:solidFill>
                <a:srgbClr val="000000"/>
              </a:solidFill>
              <a:prstDash val="solid"/>
              <a:round/>
              <a:headEnd len="sm" w="sm" type="none"/>
              <a:tailEnd len="sm" w="sm" type="none"/>
            </a:ln>
          </p:spPr>
          <p:txBody>
            <a:bodyPr anchorCtr="0" anchor="ctr" bIns="275700" lIns="275700" spcFirstLastPara="1" rIns="275700" wrap="square" tIns="275700">
              <a:noAutofit/>
            </a:bodyPr>
            <a:lstStyle/>
            <a:p>
              <a:pPr indent="0" lvl="0" marL="0" marR="0" rtl="0" algn="l">
                <a:lnSpc>
                  <a:spcPct val="100000"/>
                </a:lnSpc>
                <a:spcBef>
                  <a:spcPts val="0"/>
                </a:spcBef>
                <a:spcAft>
                  <a:spcPts val="0"/>
                </a:spcAft>
                <a:buClr>
                  <a:srgbClr val="000000"/>
                </a:buClr>
                <a:buSzPts val="4222"/>
                <a:buFont typeface="Arial"/>
                <a:buNone/>
              </a:pPr>
              <a:r>
                <a:t/>
              </a:r>
              <a:endParaRPr b="0" i="0" sz="4222" u="none" cap="none" strike="noStrike">
                <a:solidFill>
                  <a:srgbClr val="000000"/>
                </a:solidFill>
                <a:latin typeface="Arial"/>
                <a:ea typeface="Arial"/>
                <a:cs typeface="Arial"/>
                <a:sym typeface="Arial"/>
              </a:endParaRPr>
            </a:p>
          </p:txBody>
        </p:sp>
      </p:grpSp>
      <p:sp>
        <p:nvSpPr>
          <p:cNvPr id="519" name="Google Shape;519;g3dd637020ec_0_205"/>
          <p:cNvSpPr/>
          <p:nvPr/>
        </p:nvSpPr>
        <p:spPr>
          <a:xfrm>
            <a:off x="0" y="4539250"/>
            <a:ext cx="9149700" cy="604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1" lang="en" sz="1600" u="none" cap="none" strike="noStrike">
                <a:solidFill>
                  <a:srgbClr val="000000"/>
                </a:solidFill>
                <a:latin typeface="Lora"/>
                <a:ea typeface="Lora"/>
                <a:cs typeface="Lora"/>
                <a:sym typeface="Lora"/>
              </a:rPr>
              <a:t>Chapter 2</a:t>
            </a:r>
            <a:endParaRPr b="1" i="1" sz="1600" u="none" cap="none" strike="noStrike">
              <a:solidFill>
                <a:srgbClr val="000000"/>
              </a:solidFill>
              <a:latin typeface="Lora"/>
              <a:ea typeface="Lora"/>
              <a:cs typeface="Lora"/>
              <a:sym typeface="Lor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g3dd637020ec_0_357"/>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From Biological to Artificial Neurons</a:t>
            </a:r>
            <a:endParaRPr>
              <a:highlight>
                <a:schemeClr val="accent1"/>
              </a:highlight>
            </a:endParaRPr>
          </a:p>
        </p:txBody>
      </p:sp>
      <p:grpSp>
        <p:nvGrpSpPr>
          <p:cNvPr id="525" name="Google Shape;525;g3dd637020ec_0_357"/>
          <p:cNvGrpSpPr/>
          <p:nvPr/>
        </p:nvGrpSpPr>
        <p:grpSpPr>
          <a:xfrm>
            <a:off x="916458" y="1019750"/>
            <a:ext cx="214625" cy="214625"/>
            <a:chOff x="2594050" y="1631825"/>
            <a:chExt cx="439625" cy="439625"/>
          </a:xfrm>
        </p:grpSpPr>
        <p:sp>
          <p:nvSpPr>
            <p:cNvPr id="526" name="Google Shape;526;g3dd637020ec_0_357"/>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3dd637020ec_0_357"/>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g3dd637020ec_0_357"/>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g3dd637020ec_0_357"/>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0" name="Google Shape;530;g3dd637020ec_0_357"/>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531" name="Google Shape;531;g3dd637020ec_0_357" title="1_KG6rGqf0h2iOpdvF7VoB4w.jpg"/>
          <p:cNvPicPr preferRelativeResize="0"/>
          <p:nvPr/>
        </p:nvPicPr>
        <p:blipFill rotWithShape="1">
          <a:blip r:embed="rId3">
            <a:alphaModFix/>
          </a:blip>
          <a:srcRect b="0" l="0" r="0" t="0"/>
          <a:stretch/>
        </p:blipFill>
        <p:spPr>
          <a:xfrm>
            <a:off x="1381250" y="1538050"/>
            <a:ext cx="5604875" cy="33629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g3ddfe5db4a3_0_0"/>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Network Architecture: The Multi-Layer Perceptron</a:t>
            </a:r>
            <a:endParaRPr>
              <a:highlight>
                <a:schemeClr val="accent1"/>
              </a:highlight>
            </a:endParaRPr>
          </a:p>
        </p:txBody>
      </p:sp>
      <p:grpSp>
        <p:nvGrpSpPr>
          <p:cNvPr id="537" name="Google Shape;537;g3ddfe5db4a3_0_0"/>
          <p:cNvGrpSpPr/>
          <p:nvPr/>
        </p:nvGrpSpPr>
        <p:grpSpPr>
          <a:xfrm>
            <a:off x="916458" y="1019750"/>
            <a:ext cx="214625" cy="214625"/>
            <a:chOff x="2594050" y="1631825"/>
            <a:chExt cx="439625" cy="439625"/>
          </a:xfrm>
        </p:grpSpPr>
        <p:sp>
          <p:nvSpPr>
            <p:cNvPr id="538" name="Google Shape;538;g3ddfe5db4a3_0_0"/>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3ddfe5db4a3_0_0"/>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g3ddfe5db4a3_0_0"/>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g3ddfe5db4a3_0_0"/>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2" name="Google Shape;542;g3ddfe5db4a3_0_0"/>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543" name="Google Shape;543;g3ddfe5db4a3_0_0"/>
          <p:cNvSpPr txBox="1"/>
          <p:nvPr/>
        </p:nvSpPr>
        <p:spPr>
          <a:xfrm>
            <a:off x="514942" y="1547800"/>
            <a:ext cx="8246700" cy="3400800"/>
          </a:xfrm>
          <a:prstGeom prst="rect">
            <a:avLst/>
          </a:prstGeom>
          <a:noFill/>
          <a:ln>
            <a:noFill/>
          </a:ln>
        </p:spPr>
        <p:txBody>
          <a:bodyPr anchorCtr="0" anchor="t" bIns="91425" lIns="91425" spcFirstLastPara="1" rIns="91425" wrap="square" tIns="91425">
            <a:noAutofit/>
          </a:bodyPr>
          <a:lstStyle/>
          <a:p>
            <a:pPr indent="-184150" lvl="0" marL="342900" marR="0" rtl="0" algn="l">
              <a:lnSpc>
                <a:spcPct val="115000"/>
              </a:lnSpc>
              <a:spcBef>
                <a:spcPts val="0"/>
              </a:spcBef>
              <a:spcAft>
                <a:spcPts val="0"/>
              </a:spcAft>
              <a:buClr>
                <a:schemeClr val="accent1"/>
              </a:buClr>
              <a:buSzPts val="1100"/>
              <a:buFont typeface="Arial"/>
              <a:buChar char="◉"/>
            </a:pPr>
            <a:r>
              <a:rPr b="0" i="0" lang="en" sz="1300" u="none" cap="none" strike="noStrike">
                <a:solidFill>
                  <a:schemeClr val="dk1"/>
                </a:solidFill>
                <a:latin typeface="Quattrocento Sans"/>
                <a:ea typeface="Quattrocento Sans"/>
                <a:cs typeface="Quattrocento Sans"/>
                <a:sym typeface="Quattrocento Sans"/>
              </a:rPr>
              <a:t>A single perceptron is insufficient for modeling complex, non-linear systems. </a:t>
            </a:r>
            <a:endParaRPr b="0" i="0" sz="1300" u="none" cap="none" strike="noStrike">
              <a:solidFill>
                <a:schemeClr val="dk1"/>
              </a:solidFill>
              <a:latin typeface="Quattrocento Sans"/>
              <a:ea typeface="Quattrocento Sans"/>
              <a:cs typeface="Quattrocento Sans"/>
              <a:sym typeface="Quattrocento Sans"/>
            </a:endParaRPr>
          </a:p>
          <a:p>
            <a:pPr indent="-190500" lvl="0" marL="342900" marR="0" rtl="0" algn="l">
              <a:lnSpc>
                <a:spcPct val="115000"/>
              </a:lnSpc>
              <a:spcBef>
                <a:spcPts val="300"/>
              </a:spcBef>
              <a:spcAft>
                <a:spcPts val="0"/>
              </a:spcAft>
              <a:buClr>
                <a:schemeClr val="accent1"/>
              </a:buClr>
              <a:buSzPts val="1200"/>
              <a:buFont typeface="Arial"/>
              <a:buChar char="◉"/>
            </a:pPr>
            <a:r>
              <a:rPr b="0" i="0" lang="en" sz="1200" u="none" cap="none" strike="noStrike">
                <a:solidFill>
                  <a:schemeClr val="dk1"/>
                </a:solidFill>
                <a:latin typeface="Quattrocento Sans"/>
                <a:ea typeface="Quattrocento Sans"/>
                <a:cs typeface="Quattrocento Sans"/>
                <a:sym typeface="Quattrocento Sans"/>
              </a:rPr>
              <a:t> </a:t>
            </a:r>
            <a:r>
              <a:rPr b="1" i="0" lang="en" sz="1300" u="none" cap="none" strike="noStrike">
                <a:solidFill>
                  <a:schemeClr val="dk1"/>
                </a:solidFill>
                <a:latin typeface="Quattrocento Sans"/>
                <a:ea typeface="Quattrocento Sans"/>
                <a:cs typeface="Quattrocento Sans"/>
                <a:sym typeface="Quattrocento Sans"/>
              </a:rPr>
              <a:t>MLP or Artificial Neural Network: </a:t>
            </a:r>
            <a:r>
              <a:rPr b="0" i="0" lang="en" sz="1300" u="none" cap="none" strike="noStrike">
                <a:solidFill>
                  <a:schemeClr val="dk1"/>
                </a:solidFill>
                <a:latin typeface="Quattrocento Sans"/>
                <a:ea typeface="Quattrocento Sans"/>
                <a:cs typeface="Quattrocento Sans"/>
                <a:sym typeface="Quattrocento Sans"/>
              </a:rPr>
              <a:t>A collection of interconnected perceptrons organized into layers </a:t>
            </a:r>
            <a:endParaRPr b="0" i="0" sz="1300" u="none" cap="none" strike="noStrike">
              <a:solidFill>
                <a:schemeClr val="dk1"/>
              </a:solidFill>
              <a:latin typeface="Quattrocento Sans"/>
              <a:ea typeface="Quattrocento Sans"/>
              <a:cs typeface="Quattrocento Sans"/>
              <a:sym typeface="Quattrocento Sans"/>
            </a:endParaRPr>
          </a:p>
          <a:p>
            <a:pPr indent="0" lvl="0" marL="342900" marR="0" rtl="0" algn="l">
              <a:lnSpc>
                <a:spcPct val="115000"/>
              </a:lnSpc>
              <a:spcBef>
                <a:spcPts val="300"/>
              </a:spcBef>
              <a:spcAft>
                <a:spcPts val="0"/>
              </a:spcAft>
              <a:buClr>
                <a:srgbClr val="000000"/>
              </a:buClr>
              <a:buSzPts val="1000"/>
              <a:buFont typeface="Arial"/>
              <a:buNone/>
            </a:pPr>
            <a:r>
              <a:t/>
            </a:r>
            <a:endParaRPr b="0" i="0" sz="1000" u="none" cap="none" strike="noStrike">
              <a:solidFill>
                <a:schemeClr val="dk1"/>
              </a:solidFill>
              <a:latin typeface="Quattrocento Sans"/>
              <a:ea typeface="Quattrocento Sans"/>
              <a:cs typeface="Quattrocento Sans"/>
              <a:sym typeface="Quattrocento Sans"/>
            </a:endParaRPr>
          </a:p>
          <a:p>
            <a:pPr indent="-184150" lvl="0" marL="342900" marR="0" rtl="0" algn="l">
              <a:lnSpc>
                <a:spcPct val="115000"/>
              </a:lnSpc>
              <a:spcBef>
                <a:spcPts val="500"/>
              </a:spcBef>
              <a:spcAft>
                <a:spcPts val="0"/>
              </a:spcAft>
              <a:buClr>
                <a:schemeClr val="accent1"/>
              </a:buClr>
              <a:buSzPts val="1100"/>
              <a:buFont typeface="Arial"/>
              <a:buChar char="◉"/>
            </a:pPr>
            <a:r>
              <a:rPr b="1" i="0" lang="en" sz="1300" u="none" cap="none" strike="noStrike">
                <a:solidFill>
                  <a:schemeClr val="dk1"/>
                </a:solidFill>
                <a:latin typeface="Quattrocento Sans"/>
                <a:ea typeface="Quattrocento Sans"/>
                <a:cs typeface="Quattrocento Sans"/>
                <a:sym typeface="Quattrocento Sans"/>
              </a:rPr>
              <a:t>Structural Components</a:t>
            </a:r>
            <a:endParaRPr b="1" i="0" sz="13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300"/>
              </a:spcBef>
              <a:spcAft>
                <a:spcPts val="0"/>
              </a:spcAft>
              <a:buClr>
                <a:schemeClr val="accent1"/>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Input Layer:</a:t>
            </a:r>
            <a:r>
              <a:rPr b="0" i="0" lang="en" sz="1200" u="none" cap="none" strike="noStrike">
                <a:solidFill>
                  <a:schemeClr val="dk1"/>
                </a:solidFill>
                <a:latin typeface="Quattrocento Sans"/>
                <a:ea typeface="Quattrocento Sans"/>
                <a:cs typeface="Quattrocento Sans"/>
                <a:sym typeface="Quattrocento Sans"/>
              </a:rPr>
              <a:t> </a:t>
            </a:r>
            <a:r>
              <a:rPr b="0" i="0" lang="en" sz="1100" u="none" cap="none" strike="noStrike">
                <a:solidFill>
                  <a:schemeClr val="dk1"/>
                </a:solidFill>
                <a:latin typeface="Quattrocento Sans"/>
                <a:ea typeface="Quattrocento Sans"/>
                <a:cs typeface="Quattrocento Sans"/>
                <a:sym typeface="Quattrocento Sans"/>
              </a:rPr>
              <a:t>Receives raw data or features.</a:t>
            </a:r>
            <a:endParaRPr b="0" i="0" sz="11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Hidden Layers:</a:t>
            </a:r>
            <a:r>
              <a:rPr b="0" i="0" lang="en" sz="1200" u="none" cap="none" strike="noStrike">
                <a:solidFill>
                  <a:schemeClr val="dk1"/>
                </a:solidFill>
                <a:latin typeface="Quattrocento Sans"/>
                <a:ea typeface="Quattrocento Sans"/>
                <a:cs typeface="Quattrocento Sans"/>
                <a:sym typeface="Quattrocento Sans"/>
              </a:rPr>
              <a:t> </a:t>
            </a:r>
            <a:r>
              <a:rPr b="0" i="0" lang="en" sz="1100" u="none" cap="none" strike="noStrike">
                <a:solidFill>
                  <a:schemeClr val="dk1"/>
                </a:solidFill>
                <a:latin typeface="Quattrocento Sans"/>
                <a:ea typeface="Quattrocento Sans"/>
                <a:cs typeface="Quattrocento Sans"/>
                <a:sym typeface="Quattrocento Sans"/>
              </a:rPr>
              <a:t>Layers between input &amp; output. </a:t>
            </a:r>
            <a:endParaRPr b="0" i="0" sz="1100" u="none" cap="none" strike="noStrike">
              <a:solidFill>
                <a:schemeClr val="dk1"/>
              </a:solidFill>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100"/>
              <a:buFont typeface="Arial"/>
              <a:buNone/>
            </a:pPr>
            <a:r>
              <a:rPr b="0" i="0" lang="en" sz="1100" u="none" cap="none" strike="noStrike">
                <a:solidFill>
                  <a:schemeClr val="dk1"/>
                </a:solidFill>
                <a:latin typeface="Quattrocento Sans"/>
                <a:ea typeface="Quattrocento Sans"/>
                <a:cs typeface="Quattrocento Sans"/>
                <a:sym typeface="Quattrocento Sans"/>
              </a:rPr>
              <a:t>A network with two or more hidden layers is a </a:t>
            </a:r>
            <a:r>
              <a:rPr b="1" i="0" lang="en" sz="1100" u="none" cap="none" strike="noStrike">
                <a:solidFill>
                  <a:schemeClr val="dk1"/>
                </a:solidFill>
                <a:latin typeface="Quattrocento Sans"/>
                <a:ea typeface="Quattrocento Sans"/>
                <a:cs typeface="Quattrocento Sans"/>
                <a:sym typeface="Quattrocento Sans"/>
              </a:rPr>
              <a:t>Deep Neural Network</a:t>
            </a:r>
            <a:r>
              <a:rPr b="0" i="0" lang="en" sz="1100" u="none" cap="none" strike="noStrike">
                <a:solidFill>
                  <a:schemeClr val="dk1"/>
                </a:solidFill>
                <a:latin typeface="Quattrocento Sans"/>
                <a:ea typeface="Quattrocento Sans"/>
                <a:cs typeface="Quattrocento Sans"/>
                <a:sym typeface="Quattrocento Sans"/>
              </a:rPr>
              <a:t>.</a:t>
            </a:r>
            <a:endParaRPr b="0" i="0" sz="11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Output Layer: </a:t>
            </a:r>
            <a:r>
              <a:rPr b="0" i="0" lang="en" sz="1100" u="none" cap="none" strike="noStrike">
                <a:solidFill>
                  <a:schemeClr val="dk1"/>
                </a:solidFill>
                <a:latin typeface="Quattrocento Sans"/>
                <a:ea typeface="Quattrocento Sans"/>
                <a:cs typeface="Quattrocento Sans"/>
                <a:sym typeface="Quattrocento Sans"/>
              </a:rPr>
              <a:t>Delivers the final prediction.</a:t>
            </a:r>
            <a:endParaRPr b="0" i="0" sz="1100" u="none" cap="none" strike="noStrike">
              <a:solidFill>
                <a:schemeClr val="dk1"/>
              </a:solidFill>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Quattrocento Sans"/>
              <a:ea typeface="Quattrocento Sans"/>
              <a:cs typeface="Quattrocento Sans"/>
              <a:sym typeface="Quattrocento Sans"/>
            </a:endParaRPr>
          </a:p>
          <a:p>
            <a:pPr indent="-184150" lvl="0" marL="342900" marR="0" rtl="0" algn="l">
              <a:lnSpc>
                <a:spcPct val="115000"/>
              </a:lnSpc>
              <a:spcBef>
                <a:spcPts val="500"/>
              </a:spcBef>
              <a:spcAft>
                <a:spcPts val="0"/>
              </a:spcAft>
              <a:buClr>
                <a:schemeClr val="accent1"/>
              </a:buClr>
              <a:buSzPts val="1100"/>
              <a:buFont typeface="Arial"/>
              <a:buChar char="◉"/>
            </a:pPr>
            <a:r>
              <a:rPr b="1" i="0" lang="en" sz="1300" u="none" cap="none" strike="noStrike">
                <a:solidFill>
                  <a:schemeClr val="dk1"/>
                </a:solidFill>
                <a:latin typeface="Quattrocento Sans"/>
                <a:ea typeface="Quattrocento Sans"/>
                <a:cs typeface="Quattrocento Sans"/>
                <a:sym typeface="Quattrocento Sans"/>
              </a:rPr>
              <a:t>Key Characteristics</a:t>
            </a:r>
            <a:endParaRPr b="1" i="0" sz="13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300"/>
              </a:spcBef>
              <a:spcAft>
                <a:spcPts val="0"/>
              </a:spcAft>
              <a:buClr>
                <a:schemeClr val="accent1"/>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Feed-Forward: </a:t>
            </a:r>
            <a:r>
              <a:rPr b="0" i="0" lang="en" sz="1200" u="none" cap="none" strike="noStrike">
                <a:solidFill>
                  <a:schemeClr val="dk1"/>
                </a:solidFill>
                <a:latin typeface="Quattrocento Sans"/>
                <a:ea typeface="Quattrocento Sans"/>
                <a:cs typeface="Quattrocento Sans"/>
                <a:sym typeface="Quattrocento Sans"/>
              </a:rPr>
              <a:t>I</a:t>
            </a:r>
            <a:r>
              <a:rPr b="0" i="0" lang="en" sz="1100" u="none" cap="none" strike="noStrike">
                <a:solidFill>
                  <a:schemeClr val="dk1"/>
                </a:solidFill>
                <a:latin typeface="Quattrocento Sans"/>
                <a:ea typeface="Quattrocento Sans"/>
                <a:cs typeface="Quattrocento Sans"/>
                <a:sym typeface="Quattrocento Sans"/>
              </a:rPr>
              <a:t>nformation travels strictly in one direction—from input to output.</a:t>
            </a:r>
            <a:endParaRPr b="0" i="0" sz="11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Fully Connected: </a:t>
            </a:r>
            <a:r>
              <a:rPr b="0" i="0" lang="en" sz="1100" u="none" cap="none" strike="noStrike">
                <a:solidFill>
                  <a:schemeClr val="dk1"/>
                </a:solidFill>
                <a:latin typeface="Quattrocento Sans"/>
                <a:ea typeface="Quattrocento Sans"/>
                <a:cs typeface="Quattrocento Sans"/>
                <a:sym typeface="Quattrocento Sans"/>
              </a:rPr>
              <a:t>Every neuron in one layer links to every neuron in the next.</a:t>
            </a:r>
            <a:endParaRPr b="0" i="0" sz="11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Universal Approximation Theorem: </a:t>
            </a:r>
            <a:r>
              <a:rPr b="0" i="0" lang="en" sz="1100" u="none" cap="none" strike="noStrike">
                <a:solidFill>
                  <a:schemeClr val="dk1"/>
                </a:solidFill>
                <a:latin typeface="Quattrocento Sans"/>
                <a:ea typeface="Quattrocento Sans"/>
                <a:cs typeface="Quattrocento Sans"/>
                <a:sym typeface="Quattrocento Sans"/>
              </a:rPr>
              <a:t>A network with at least one hidden layer can approximate any continuous, convex function, provided it has enough neurons.</a:t>
            </a:r>
            <a:endParaRPr b="0" i="0" sz="1100" u="none" cap="none" strike="noStrike">
              <a:solidFill>
                <a:schemeClr val="dk1"/>
              </a:solidFill>
              <a:latin typeface="Quattrocento Sans"/>
              <a:ea typeface="Quattrocento Sans"/>
              <a:cs typeface="Quattrocento Sans"/>
              <a:sym typeface="Quattrocento Sans"/>
            </a:endParaRPr>
          </a:p>
        </p:txBody>
      </p:sp>
      <p:pic>
        <p:nvPicPr>
          <p:cNvPr id="544" name="Google Shape;544;g3ddfe5db4a3_0_0" title="0_eaw1POHESc--l5yR.png"/>
          <p:cNvPicPr preferRelativeResize="0"/>
          <p:nvPr/>
        </p:nvPicPr>
        <p:blipFill rotWithShape="1">
          <a:blip r:embed="rId3">
            <a:alphaModFix/>
          </a:blip>
          <a:srcRect b="0" l="0" r="0" t="0"/>
          <a:stretch/>
        </p:blipFill>
        <p:spPr>
          <a:xfrm>
            <a:off x="5439376" y="2360600"/>
            <a:ext cx="3103850" cy="1388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g3ddfe5db4a3_0_32"/>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Output Layer Architecture by Task Type</a:t>
            </a:r>
            <a:endParaRPr>
              <a:highlight>
                <a:schemeClr val="accent1"/>
              </a:highlight>
            </a:endParaRPr>
          </a:p>
        </p:txBody>
      </p:sp>
      <p:grpSp>
        <p:nvGrpSpPr>
          <p:cNvPr id="550" name="Google Shape;550;g3ddfe5db4a3_0_32"/>
          <p:cNvGrpSpPr/>
          <p:nvPr/>
        </p:nvGrpSpPr>
        <p:grpSpPr>
          <a:xfrm>
            <a:off x="916458" y="1019750"/>
            <a:ext cx="214625" cy="214625"/>
            <a:chOff x="2594050" y="1631825"/>
            <a:chExt cx="439625" cy="439625"/>
          </a:xfrm>
        </p:grpSpPr>
        <p:sp>
          <p:nvSpPr>
            <p:cNvPr id="551" name="Google Shape;551;g3ddfe5db4a3_0_32"/>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g3ddfe5db4a3_0_32"/>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g3ddfe5db4a3_0_32"/>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g3ddfe5db4a3_0_32"/>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55" name="Google Shape;555;g3ddfe5db4a3_0_32"/>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pic>
        <p:nvPicPr>
          <p:cNvPr id="556" name="Google Shape;556;g3ddfe5db4a3_0_32" title="Gemini_Generated_Image_b64qjqb64qjqb64q.png"/>
          <p:cNvPicPr preferRelativeResize="0"/>
          <p:nvPr/>
        </p:nvPicPr>
        <p:blipFill rotWithShape="1">
          <a:blip r:embed="rId3">
            <a:alphaModFix/>
          </a:blip>
          <a:srcRect b="3875" l="0" r="0" t="9055"/>
          <a:stretch/>
        </p:blipFill>
        <p:spPr>
          <a:xfrm>
            <a:off x="1131075" y="1710574"/>
            <a:ext cx="6611400" cy="31396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3ddfe5db4a3_0_49"/>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Handling Multi-Class Problems</a:t>
            </a:r>
            <a:endParaRPr>
              <a:highlight>
                <a:schemeClr val="accent1"/>
              </a:highlight>
            </a:endParaRPr>
          </a:p>
        </p:txBody>
      </p:sp>
      <p:grpSp>
        <p:nvGrpSpPr>
          <p:cNvPr id="562" name="Google Shape;562;g3ddfe5db4a3_0_49"/>
          <p:cNvGrpSpPr/>
          <p:nvPr/>
        </p:nvGrpSpPr>
        <p:grpSpPr>
          <a:xfrm>
            <a:off x="916458" y="1019750"/>
            <a:ext cx="214625" cy="214625"/>
            <a:chOff x="2594050" y="1631825"/>
            <a:chExt cx="439625" cy="439625"/>
          </a:xfrm>
        </p:grpSpPr>
        <p:sp>
          <p:nvSpPr>
            <p:cNvPr id="563" name="Google Shape;563;g3ddfe5db4a3_0_49"/>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g3ddfe5db4a3_0_49"/>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g3ddfe5db4a3_0_49"/>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g3ddfe5db4a3_0_49"/>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7" name="Google Shape;567;g3ddfe5db4a3_0_49"/>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568" name="Google Shape;568;g3ddfe5db4a3_0_49"/>
          <p:cNvSpPr txBox="1"/>
          <p:nvPr/>
        </p:nvSpPr>
        <p:spPr>
          <a:xfrm>
            <a:off x="514950" y="1547800"/>
            <a:ext cx="7335000" cy="3595500"/>
          </a:xfrm>
          <a:prstGeom prst="rect">
            <a:avLst/>
          </a:prstGeom>
          <a:noFill/>
          <a:ln>
            <a:noFill/>
          </a:ln>
        </p:spPr>
        <p:txBody>
          <a:bodyPr anchorCtr="0" anchor="t" bIns="91425" lIns="91425" spcFirstLastPara="1" rIns="91425" wrap="square" tIns="91425">
            <a:noAutofit/>
          </a:bodyPr>
          <a:lstStyle/>
          <a:p>
            <a:pPr indent="-190500" lvl="0" marL="342900" marR="0" rtl="0" algn="l">
              <a:lnSpc>
                <a:spcPct val="115000"/>
              </a:lnSpc>
              <a:spcBef>
                <a:spcPts val="0"/>
              </a:spcBef>
              <a:spcAft>
                <a:spcPts val="0"/>
              </a:spcAft>
              <a:buClr>
                <a:schemeClr val="accent1"/>
              </a:buClr>
              <a:buSzPts val="1200"/>
              <a:buFont typeface="Arial"/>
              <a:buChar char="◉"/>
            </a:pPr>
            <a:r>
              <a:rPr b="1" i="0" lang="en" sz="1300" u="none" cap="none" strike="noStrike">
                <a:solidFill>
                  <a:schemeClr val="dk1"/>
                </a:solidFill>
                <a:latin typeface="Quattrocento Sans"/>
                <a:ea typeface="Quattrocento Sans"/>
                <a:cs typeface="Quattrocento Sans"/>
                <a:sym typeface="Quattrocento Sans"/>
              </a:rPr>
              <a:t>Data Preparation:</a:t>
            </a:r>
            <a:r>
              <a:rPr b="0" i="0" lang="en" sz="1300" u="none" cap="none" strike="noStrike">
                <a:solidFill>
                  <a:schemeClr val="dk1"/>
                </a:solidFill>
                <a:latin typeface="Quattrocento Sans"/>
                <a:ea typeface="Quattrocento Sans"/>
                <a:cs typeface="Quattrocento Sans"/>
                <a:sym typeface="Quattrocento Sans"/>
              </a:rPr>
              <a:t> </a:t>
            </a:r>
            <a:r>
              <a:rPr b="1" i="0" lang="en" sz="1300" u="none" cap="none" strike="noStrike">
                <a:solidFill>
                  <a:schemeClr val="dk1"/>
                </a:solidFill>
                <a:latin typeface="Quattrocento Sans"/>
                <a:ea typeface="Quattrocento Sans"/>
                <a:cs typeface="Quattrocento Sans"/>
                <a:sym typeface="Quattrocento Sans"/>
              </a:rPr>
              <a:t>One-Hot Encoding</a:t>
            </a:r>
            <a:endParaRPr b="1" i="0" sz="13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300"/>
              </a:spcBef>
              <a:spcAft>
                <a:spcPts val="0"/>
              </a:spcAft>
              <a:buClr>
                <a:schemeClr val="accent2"/>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Neural networks require numerical inputs. Categories are converted into binary vectors.</a:t>
            </a:r>
            <a:endParaRPr b="0" i="0" sz="1200" u="none" cap="none" strike="noStrike">
              <a:solidFill>
                <a:schemeClr val="dk1"/>
              </a:solidFill>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800"/>
              <a:buFont typeface="Arial"/>
              <a:buNone/>
            </a:pPr>
            <a:r>
              <a:t/>
            </a:r>
            <a:endParaRPr b="0" i="0" sz="800" u="none" cap="none" strike="noStrike">
              <a:solidFill>
                <a:schemeClr val="dk1"/>
              </a:solidFill>
              <a:latin typeface="Quattrocento Sans"/>
              <a:ea typeface="Quattrocento Sans"/>
              <a:cs typeface="Quattrocento Sans"/>
              <a:sym typeface="Quattrocento Sans"/>
            </a:endParaRPr>
          </a:p>
          <a:p>
            <a:pPr indent="-190500" lvl="0" marL="342900" marR="0" rtl="0" algn="l">
              <a:lnSpc>
                <a:spcPct val="115000"/>
              </a:lnSpc>
              <a:spcBef>
                <a:spcPts val="500"/>
              </a:spcBef>
              <a:spcAft>
                <a:spcPts val="0"/>
              </a:spcAft>
              <a:buClr>
                <a:schemeClr val="accent1"/>
              </a:buClr>
              <a:buSzPts val="1200"/>
              <a:buFont typeface="Arial"/>
              <a:buChar char="◉"/>
            </a:pPr>
            <a:r>
              <a:rPr b="1" i="0" lang="en" sz="1300" u="none" cap="none" strike="noStrike">
                <a:solidFill>
                  <a:schemeClr val="dk1"/>
                </a:solidFill>
                <a:latin typeface="Quattrocento Sans"/>
                <a:ea typeface="Quattrocento Sans"/>
                <a:cs typeface="Quattrocento Sans"/>
                <a:sym typeface="Quattrocento Sans"/>
              </a:rPr>
              <a:t>Non-Exclusive (Multi-Label) Classification</a:t>
            </a:r>
            <a:endParaRPr b="1" i="0" sz="13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300"/>
              </a:spcBef>
              <a:spcAft>
                <a:spcPts val="0"/>
              </a:spcAft>
              <a:buClr>
                <a:schemeClr val="accent2"/>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Scenario: </a:t>
            </a:r>
            <a:r>
              <a:rPr b="0" i="0" lang="en" sz="1200" u="none" cap="none" strike="noStrike">
                <a:solidFill>
                  <a:schemeClr val="dk1"/>
                </a:solidFill>
                <a:latin typeface="Quattrocento Sans"/>
                <a:ea typeface="Quattrocento Sans"/>
                <a:cs typeface="Quattrocento Sans"/>
                <a:sym typeface="Quattrocento Sans"/>
              </a:rPr>
              <a:t>A data point can belong to multiple classes at once.</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2"/>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Output Setup: </a:t>
            </a:r>
            <a:r>
              <a:rPr b="0" i="0" lang="en" sz="1200" u="none" cap="none" strike="noStrike">
                <a:solidFill>
                  <a:schemeClr val="dk1"/>
                </a:solidFill>
                <a:latin typeface="Quattrocento Sans"/>
                <a:ea typeface="Quattrocento Sans"/>
                <a:cs typeface="Quattrocento Sans"/>
                <a:sym typeface="Quattrocento Sans"/>
              </a:rPr>
              <a:t>One neuron per class.</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2"/>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Activation Function: Sigmoid </a:t>
            </a:r>
            <a:r>
              <a:rPr b="0" i="0" lang="en" sz="1200" u="none" cap="none" strike="noStrike">
                <a:solidFill>
                  <a:schemeClr val="dk1"/>
                </a:solidFill>
                <a:latin typeface="Quattrocento Sans"/>
                <a:ea typeface="Quattrocento Sans"/>
                <a:cs typeface="Quattrocento Sans"/>
                <a:sym typeface="Quattrocento Sans"/>
              </a:rPr>
              <a:t>applied to each neuron individually.</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2"/>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Result: </a:t>
            </a:r>
            <a:r>
              <a:rPr b="0" i="0" lang="en" sz="1200" u="none" cap="none" strike="noStrike">
                <a:solidFill>
                  <a:schemeClr val="dk1"/>
                </a:solidFill>
                <a:latin typeface="Quattrocento Sans"/>
                <a:ea typeface="Quattrocento Sans"/>
                <a:cs typeface="Quattrocento Sans"/>
                <a:sym typeface="Quattrocento Sans"/>
              </a:rPr>
              <a:t>Each class gets its own probability (0 to 1), independent of the others.</a:t>
            </a:r>
            <a:endParaRPr b="0" i="0" sz="1200" u="none" cap="none" strike="noStrike">
              <a:solidFill>
                <a:schemeClr val="dk1"/>
              </a:solidFill>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600"/>
              <a:buFont typeface="Arial"/>
              <a:buNone/>
            </a:pPr>
            <a:r>
              <a:t/>
            </a:r>
            <a:endParaRPr b="0" i="0" sz="600" u="none" cap="none" strike="noStrike">
              <a:solidFill>
                <a:schemeClr val="dk1"/>
              </a:solidFill>
              <a:latin typeface="Quattrocento Sans"/>
              <a:ea typeface="Quattrocento Sans"/>
              <a:cs typeface="Quattrocento Sans"/>
              <a:sym typeface="Quattrocento Sans"/>
            </a:endParaRPr>
          </a:p>
          <a:p>
            <a:pPr indent="-190500" lvl="0" marL="342900" marR="0" rtl="0" algn="l">
              <a:lnSpc>
                <a:spcPct val="115000"/>
              </a:lnSpc>
              <a:spcBef>
                <a:spcPts val="500"/>
              </a:spcBef>
              <a:spcAft>
                <a:spcPts val="0"/>
              </a:spcAft>
              <a:buClr>
                <a:schemeClr val="accent1"/>
              </a:buClr>
              <a:buSzPts val="1200"/>
              <a:buFont typeface="Arial"/>
              <a:buChar char="◉"/>
            </a:pPr>
            <a:r>
              <a:rPr b="1" i="0" lang="en" sz="1300" u="none" cap="none" strike="noStrike">
                <a:solidFill>
                  <a:schemeClr val="dk1"/>
                </a:solidFill>
                <a:latin typeface="Quattrocento Sans"/>
                <a:ea typeface="Quattrocento Sans"/>
                <a:cs typeface="Quattrocento Sans"/>
                <a:sym typeface="Quattrocento Sans"/>
              </a:rPr>
              <a:t>Mutually Exclusive (Multi-Class) Classification</a:t>
            </a:r>
            <a:endParaRPr b="1" i="0" sz="13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300"/>
              </a:spcBef>
              <a:spcAft>
                <a:spcPts val="0"/>
              </a:spcAft>
              <a:buClr>
                <a:schemeClr val="accent2"/>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Scenario: </a:t>
            </a:r>
            <a:r>
              <a:rPr b="0" i="0" lang="en" sz="1200" u="none" cap="none" strike="noStrike">
                <a:solidFill>
                  <a:schemeClr val="dk1"/>
                </a:solidFill>
                <a:latin typeface="Quattrocento Sans"/>
                <a:ea typeface="Quattrocento Sans"/>
                <a:cs typeface="Quattrocento Sans"/>
                <a:sym typeface="Quattrocento Sans"/>
              </a:rPr>
              <a:t>A data point belongs to exactly one class.</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2"/>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Output Setup: </a:t>
            </a:r>
            <a:r>
              <a:rPr b="0" i="0" lang="en" sz="1200" u="none" cap="none" strike="noStrike">
                <a:solidFill>
                  <a:schemeClr val="dk1"/>
                </a:solidFill>
                <a:latin typeface="Quattrocento Sans"/>
                <a:ea typeface="Quattrocento Sans"/>
                <a:cs typeface="Quattrocento Sans"/>
                <a:sym typeface="Quattrocento Sans"/>
              </a:rPr>
              <a:t>One neuron per class.</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2"/>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Activation Function: Softmax.</a:t>
            </a:r>
            <a:endParaRPr b="1"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2"/>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The Logic:</a:t>
            </a:r>
            <a:r>
              <a:rPr b="0" i="0" lang="en" sz="1200" u="none" cap="none" strike="noStrike">
                <a:solidFill>
                  <a:schemeClr val="dk1"/>
                </a:solidFill>
                <a:latin typeface="Quattrocento Sans"/>
                <a:ea typeface="Quattrocento Sans"/>
                <a:cs typeface="Quattrocento Sans"/>
                <a:sym typeface="Quattrocento Sans"/>
              </a:rPr>
              <a:t> It squashes all outputs so they sum to 1.0 (100%), </a:t>
            </a:r>
            <a:endParaRPr b="0" i="0" sz="1200" u="none" cap="none" strike="noStrike">
              <a:solidFill>
                <a:schemeClr val="dk1"/>
              </a:solidFill>
              <a:latin typeface="Quattrocento Sans"/>
              <a:ea typeface="Quattrocento Sans"/>
              <a:cs typeface="Quattrocento Sans"/>
              <a:sym typeface="Quattrocento Sans"/>
            </a:endParaRPr>
          </a:p>
          <a:p>
            <a:pPr indent="-190500" lvl="1" marL="514350" marR="0" rtl="0" algn="l">
              <a:lnSpc>
                <a:spcPct val="115000"/>
              </a:lnSpc>
              <a:spcBef>
                <a:spcPts val="0"/>
              </a:spcBef>
              <a:spcAft>
                <a:spcPts val="0"/>
              </a:spcAft>
              <a:buClr>
                <a:schemeClr val="accent2"/>
              </a:buClr>
              <a:buSzPts val="1200"/>
              <a:buFont typeface="Quattrocento Sans"/>
              <a:buChar char="○"/>
            </a:pPr>
            <a:r>
              <a:rPr b="0" i="0" lang="en" sz="1100" u="none" cap="none" strike="noStrike">
                <a:solidFill>
                  <a:schemeClr val="dk1"/>
                </a:solidFill>
                <a:latin typeface="Arial"/>
                <a:ea typeface="Arial"/>
                <a:cs typeface="Arial"/>
                <a:sym typeface="Arial"/>
              </a:rPr>
              <a:t>Softmax creates a </a:t>
            </a:r>
            <a:r>
              <a:rPr b="1" i="0" lang="en" sz="1100" u="none" cap="none" strike="noStrike">
                <a:solidFill>
                  <a:schemeClr val="dk1"/>
                </a:solidFill>
                <a:latin typeface="Arial"/>
                <a:ea typeface="Arial"/>
                <a:cs typeface="Arial"/>
                <a:sym typeface="Arial"/>
              </a:rPr>
              <a:t>competition</a:t>
            </a:r>
            <a:r>
              <a:rPr b="0" i="0" lang="en" sz="1100" u="none" cap="none" strike="noStrike">
                <a:solidFill>
                  <a:schemeClr val="dk1"/>
                </a:solidFill>
                <a:latin typeface="Arial"/>
                <a:ea typeface="Arial"/>
                <a:cs typeface="Arial"/>
                <a:sym typeface="Arial"/>
              </a:rPr>
              <a:t> between classes. Increasing one probability decreases others</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Quattrocento Sans"/>
              <a:ea typeface="Quattrocento Sans"/>
              <a:cs typeface="Quattrocento Sans"/>
              <a:sym typeface="Quattrocento Sans"/>
            </a:endParaRPr>
          </a:p>
        </p:txBody>
      </p:sp>
      <p:pic>
        <p:nvPicPr>
          <p:cNvPr id="569" name="Google Shape;569;g3ddfe5db4a3_0_49" title="1_bol3L-WNVacCscvG-rlypQ.png"/>
          <p:cNvPicPr preferRelativeResize="0"/>
          <p:nvPr/>
        </p:nvPicPr>
        <p:blipFill rotWithShape="1">
          <a:blip r:embed="rId3">
            <a:alphaModFix/>
          </a:blip>
          <a:srcRect b="0" l="0" r="0" t="0"/>
          <a:stretch/>
        </p:blipFill>
        <p:spPr>
          <a:xfrm>
            <a:off x="7232950" y="3818025"/>
            <a:ext cx="1310275" cy="793775"/>
          </a:xfrm>
          <a:prstGeom prst="rect">
            <a:avLst/>
          </a:prstGeom>
          <a:noFill/>
          <a:ln>
            <a:noFill/>
          </a:ln>
        </p:spPr>
      </p:pic>
      <p:pic>
        <p:nvPicPr>
          <p:cNvPr id="570" name="Google Shape;570;g3ddfe5db4a3_0_49" title="images.png"/>
          <p:cNvPicPr preferRelativeResize="0"/>
          <p:nvPr/>
        </p:nvPicPr>
        <p:blipFill rotWithShape="1">
          <a:blip r:embed="rId4">
            <a:alphaModFix/>
          </a:blip>
          <a:srcRect b="0" l="0" r="0" t="0"/>
          <a:stretch/>
        </p:blipFill>
        <p:spPr>
          <a:xfrm>
            <a:off x="7229312" y="2621849"/>
            <a:ext cx="1313912" cy="5866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3ddfe5db4a3_0_156"/>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Neural Network Learning Process / Training Loop</a:t>
            </a:r>
            <a:endParaRPr>
              <a:highlight>
                <a:schemeClr val="accent1"/>
              </a:highlight>
            </a:endParaRPr>
          </a:p>
        </p:txBody>
      </p:sp>
      <p:grpSp>
        <p:nvGrpSpPr>
          <p:cNvPr id="576" name="Google Shape;576;g3ddfe5db4a3_0_156"/>
          <p:cNvGrpSpPr/>
          <p:nvPr/>
        </p:nvGrpSpPr>
        <p:grpSpPr>
          <a:xfrm>
            <a:off x="916458" y="1019750"/>
            <a:ext cx="214625" cy="214625"/>
            <a:chOff x="2594050" y="1631825"/>
            <a:chExt cx="439625" cy="439625"/>
          </a:xfrm>
        </p:grpSpPr>
        <p:sp>
          <p:nvSpPr>
            <p:cNvPr id="577" name="Google Shape;577;g3ddfe5db4a3_0_156"/>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g3ddfe5db4a3_0_156"/>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g3ddfe5db4a3_0_156"/>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g3ddfe5db4a3_0_156"/>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1" name="Google Shape;581;g3ddfe5db4a3_0_156"/>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pic>
        <p:nvPicPr>
          <p:cNvPr id="582" name="Google Shape;582;g3ddfe5db4a3_0_156" title="1_SCz0aTETjTYC864Bqjt6Og.png"/>
          <p:cNvPicPr preferRelativeResize="0"/>
          <p:nvPr/>
        </p:nvPicPr>
        <p:blipFill rotWithShape="1">
          <a:blip r:embed="rId3">
            <a:alphaModFix/>
          </a:blip>
          <a:srcRect b="0" l="0" r="0" t="0"/>
          <a:stretch/>
        </p:blipFill>
        <p:spPr>
          <a:xfrm>
            <a:off x="1563562" y="1533534"/>
            <a:ext cx="5772575" cy="33934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ddfe5db4a3_0_77"/>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Cost Functions: Quantifying Network Performance</a:t>
            </a:r>
            <a:endParaRPr>
              <a:highlight>
                <a:schemeClr val="accent1"/>
              </a:highlight>
            </a:endParaRPr>
          </a:p>
        </p:txBody>
      </p:sp>
      <p:grpSp>
        <p:nvGrpSpPr>
          <p:cNvPr id="588" name="Google Shape;588;g3ddfe5db4a3_0_77"/>
          <p:cNvGrpSpPr/>
          <p:nvPr/>
        </p:nvGrpSpPr>
        <p:grpSpPr>
          <a:xfrm>
            <a:off x="916458" y="1019750"/>
            <a:ext cx="214625" cy="214625"/>
            <a:chOff x="2594050" y="1631825"/>
            <a:chExt cx="439625" cy="439625"/>
          </a:xfrm>
        </p:grpSpPr>
        <p:sp>
          <p:nvSpPr>
            <p:cNvPr id="589" name="Google Shape;589;g3ddfe5db4a3_0_77"/>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g3ddfe5db4a3_0_77"/>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g3ddfe5db4a3_0_77"/>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g3ddfe5db4a3_0_77"/>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3" name="Google Shape;593;g3ddfe5db4a3_0_77"/>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594" name="Google Shape;594;g3ddfe5db4a3_0_77"/>
          <p:cNvSpPr txBox="1"/>
          <p:nvPr/>
        </p:nvSpPr>
        <p:spPr>
          <a:xfrm>
            <a:off x="514950" y="1547800"/>
            <a:ext cx="8028300" cy="333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Quattrocento Sans"/>
                <a:ea typeface="Quattrocento Sans"/>
                <a:cs typeface="Quattrocento Sans"/>
                <a:sym typeface="Quattrocento Sans"/>
              </a:rPr>
              <a:t>A loss function measures how far the model’s predictions are from the true values during training, </a:t>
            </a:r>
            <a:endParaRPr b="0" i="0" sz="1100" u="none" cap="none" strike="noStrike">
              <a:solidFill>
                <a:schemeClr val="dk1"/>
              </a:solidFill>
              <a:latin typeface="Quattrocento Sans"/>
              <a:ea typeface="Quattrocento Sans"/>
              <a:cs typeface="Quattrocento Sans"/>
              <a:sym typeface="Quattrocento Sans"/>
            </a:endParaRPr>
          </a:p>
          <a:p>
            <a:pPr indent="-177800" lvl="1" marL="514350" marR="0" rtl="0" algn="l">
              <a:lnSpc>
                <a:spcPct val="115000"/>
              </a:lnSpc>
              <a:spcBef>
                <a:spcPts val="300"/>
              </a:spcBef>
              <a:spcAft>
                <a:spcPts val="0"/>
              </a:spcAft>
              <a:buClr>
                <a:schemeClr val="accent2"/>
              </a:buClr>
              <a:buSzPts val="1000"/>
              <a:buFont typeface="Quattrocento Sans"/>
              <a:buChar char="○"/>
            </a:pPr>
            <a:r>
              <a:rPr b="0" i="0" lang="en" sz="1100" u="none" cap="none" strike="noStrike">
                <a:solidFill>
                  <a:schemeClr val="dk1"/>
                </a:solidFill>
                <a:latin typeface="Quattrocento Sans"/>
                <a:ea typeface="Quattrocento Sans"/>
                <a:cs typeface="Quattrocento Sans"/>
                <a:sym typeface="Quattrocento Sans"/>
              </a:rPr>
              <a:t>It quantifies “how wrong” the model is &amp; usd by optimization algorithms to guides the learning process </a:t>
            </a:r>
            <a:endParaRPr b="0" i="0" sz="11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2"/>
              </a:buClr>
              <a:buSzPts val="1100"/>
              <a:buFont typeface="Quattrocento Sans"/>
              <a:buChar char="○"/>
            </a:pPr>
            <a:r>
              <a:rPr b="0" i="0" lang="en" sz="1100" u="none" cap="none" strike="noStrike">
                <a:solidFill>
                  <a:schemeClr val="dk1"/>
                </a:solidFill>
                <a:latin typeface="Quattrocento Sans"/>
                <a:ea typeface="Quattrocento Sans"/>
                <a:cs typeface="Quattrocento Sans"/>
                <a:sym typeface="Quattrocento Sans"/>
              </a:rPr>
              <a:t>Lower loss ⇒ better model performance</a:t>
            </a:r>
            <a:endParaRPr b="0" i="0" sz="1100" u="none" cap="none" strike="noStrike">
              <a:solidFill>
                <a:schemeClr val="dk1"/>
              </a:solidFill>
              <a:latin typeface="Quattrocento Sans"/>
              <a:ea typeface="Quattrocento Sans"/>
              <a:cs typeface="Quattrocento Sans"/>
              <a:sym typeface="Quattrocento Sans"/>
            </a:endParaRPr>
          </a:p>
          <a:p>
            <a:pPr indent="-177800" lvl="1" marL="514350" marR="0" rtl="0" algn="l">
              <a:lnSpc>
                <a:spcPct val="115000"/>
              </a:lnSpc>
              <a:spcBef>
                <a:spcPts val="0"/>
              </a:spcBef>
              <a:spcAft>
                <a:spcPts val="0"/>
              </a:spcAft>
              <a:buClr>
                <a:schemeClr val="accent2"/>
              </a:buClr>
              <a:buSzPts val="1000"/>
              <a:buFont typeface="Quattrocento Sans"/>
              <a:buChar char="○"/>
            </a:pPr>
            <a:r>
              <a:rPr b="1" i="0" lang="en" sz="1100" u="none" cap="none" strike="noStrike">
                <a:solidFill>
                  <a:schemeClr val="dk1"/>
                </a:solidFill>
                <a:latin typeface="Quattrocento Sans"/>
                <a:ea typeface="Quattrocento Sans"/>
                <a:cs typeface="Quattrocento Sans"/>
                <a:sym typeface="Quattrocento Sans"/>
              </a:rPr>
              <a:t>Goal: </a:t>
            </a:r>
            <a:r>
              <a:rPr b="0" i="0" lang="en" sz="1100" u="none" cap="none" strike="noStrike">
                <a:solidFill>
                  <a:schemeClr val="dk1"/>
                </a:solidFill>
                <a:latin typeface="Quattrocento Sans"/>
                <a:ea typeface="Quattrocento Sans"/>
                <a:cs typeface="Quattrocento Sans"/>
                <a:sym typeface="Quattrocento Sans"/>
              </a:rPr>
              <a:t>To minimize this cost</a:t>
            </a:r>
            <a:endParaRPr b="0" i="0" sz="1100" u="none" cap="none" strike="noStrike">
              <a:solidFill>
                <a:schemeClr val="dk1"/>
              </a:solidFill>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500"/>
              <a:buFont typeface="Arial"/>
              <a:buNone/>
            </a:pPr>
            <a:r>
              <a:t/>
            </a:r>
            <a:endParaRPr b="0" i="0" sz="5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50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Common Types of Loss/Cost Functions:</a:t>
            </a:r>
            <a:endParaRPr b="1" i="0" sz="1200" u="none" cap="none" strike="noStrike">
              <a:solidFill>
                <a:schemeClr val="dk1"/>
              </a:solidFill>
              <a:latin typeface="Quattrocento Sans"/>
              <a:ea typeface="Quattrocento Sans"/>
              <a:cs typeface="Quattrocento Sans"/>
              <a:sym typeface="Quattrocento Sans"/>
            </a:endParaRPr>
          </a:p>
          <a:p>
            <a:pPr indent="-177800" lvl="0" marL="342900" marR="0" rtl="0" algn="l">
              <a:lnSpc>
                <a:spcPct val="115000"/>
              </a:lnSpc>
              <a:spcBef>
                <a:spcPts val="500"/>
              </a:spcBef>
              <a:spcAft>
                <a:spcPts val="0"/>
              </a:spcAft>
              <a:buClr>
                <a:schemeClr val="accent1"/>
              </a:buClr>
              <a:buSzPts val="1000"/>
              <a:buFont typeface="Arial"/>
              <a:buChar char="◉"/>
            </a:pPr>
            <a:r>
              <a:rPr b="1" i="0" lang="en" sz="1100" u="none" cap="none" strike="noStrike">
                <a:solidFill>
                  <a:schemeClr val="dk1"/>
                </a:solidFill>
                <a:latin typeface="Quattrocento Sans"/>
                <a:ea typeface="Quattrocento Sans"/>
                <a:cs typeface="Quattrocento Sans"/>
                <a:sym typeface="Quattrocento Sans"/>
              </a:rPr>
              <a:t>Regression</a:t>
            </a:r>
            <a:endParaRPr b="1" i="0" sz="1100" u="none" cap="none" strike="noStrike">
              <a:solidFill>
                <a:schemeClr val="dk1"/>
              </a:solidFill>
              <a:latin typeface="Quattrocento Sans"/>
              <a:ea typeface="Quattrocento Sans"/>
              <a:cs typeface="Quattrocento Sans"/>
              <a:sym typeface="Quattrocento Sans"/>
            </a:endParaRPr>
          </a:p>
          <a:p>
            <a:pPr indent="-171450" lvl="1" marL="514350" marR="0" rtl="0" algn="l">
              <a:lnSpc>
                <a:spcPct val="150000"/>
              </a:lnSpc>
              <a:spcBef>
                <a:spcPts val="300"/>
              </a:spcBef>
              <a:spcAft>
                <a:spcPts val="0"/>
              </a:spcAft>
              <a:buClr>
                <a:schemeClr val="accent2"/>
              </a:buClr>
              <a:buSzPts val="900"/>
              <a:buFont typeface="Quattrocento Sans"/>
              <a:buChar char="○"/>
            </a:pPr>
            <a:r>
              <a:rPr b="1" i="0" lang="en" sz="1000" u="none" cap="none" strike="noStrike">
                <a:solidFill>
                  <a:schemeClr val="dk1"/>
                </a:solidFill>
                <a:latin typeface="Quattrocento Sans"/>
                <a:ea typeface="Quattrocento Sans"/>
                <a:cs typeface="Quattrocento Sans"/>
                <a:sym typeface="Quattrocento Sans"/>
              </a:rPr>
              <a:t>Mean Squared Error (MSE)</a:t>
            </a:r>
            <a:endParaRPr b="0" i="0" sz="1000" u="none" cap="none" strike="noStrike">
              <a:solidFill>
                <a:schemeClr val="dk1"/>
              </a:solidFill>
              <a:latin typeface="Quattrocento Sans"/>
              <a:ea typeface="Quattrocento Sans"/>
              <a:cs typeface="Quattrocento Sans"/>
              <a:sym typeface="Quattrocento Sans"/>
            </a:endParaRPr>
          </a:p>
          <a:p>
            <a:pPr indent="-171450" lvl="1" marL="514350" marR="0" rtl="0" algn="l">
              <a:lnSpc>
                <a:spcPct val="150000"/>
              </a:lnSpc>
              <a:spcBef>
                <a:spcPts val="0"/>
              </a:spcBef>
              <a:spcAft>
                <a:spcPts val="0"/>
              </a:spcAft>
              <a:buClr>
                <a:schemeClr val="accent2"/>
              </a:buClr>
              <a:buSzPts val="900"/>
              <a:buFont typeface="Quattrocento Sans"/>
              <a:buChar char="○"/>
            </a:pPr>
            <a:r>
              <a:rPr b="1" i="0" lang="en" sz="1000" u="none" cap="none" strike="noStrike">
                <a:solidFill>
                  <a:schemeClr val="dk1"/>
                </a:solidFill>
                <a:latin typeface="Quattrocento Sans"/>
                <a:ea typeface="Quattrocento Sans"/>
                <a:cs typeface="Quattrocento Sans"/>
                <a:sym typeface="Quattrocento Sans"/>
              </a:rPr>
              <a:t>Mean Absolute Error (MAE)</a:t>
            </a:r>
            <a:endParaRPr b="0" i="0" sz="1000" u="none" cap="none" strike="noStrike">
              <a:solidFill>
                <a:schemeClr val="dk1"/>
              </a:solidFill>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500"/>
              <a:buFont typeface="Arial"/>
              <a:buNone/>
            </a:pPr>
            <a:r>
              <a:t/>
            </a:r>
            <a:endParaRPr b="0" i="0" sz="500" u="none" cap="none" strike="noStrike">
              <a:solidFill>
                <a:schemeClr val="dk1"/>
              </a:solidFill>
              <a:latin typeface="Quattrocento Sans"/>
              <a:ea typeface="Quattrocento Sans"/>
              <a:cs typeface="Quattrocento Sans"/>
              <a:sym typeface="Quattrocento Sans"/>
            </a:endParaRPr>
          </a:p>
          <a:p>
            <a:pPr indent="-177800" lvl="0" marL="342900" marR="0" rtl="0" algn="l">
              <a:lnSpc>
                <a:spcPct val="115000"/>
              </a:lnSpc>
              <a:spcBef>
                <a:spcPts val="500"/>
              </a:spcBef>
              <a:spcAft>
                <a:spcPts val="0"/>
              </a:spcAft>
              <a:buClr>
                <a:schemeClr val="accent1"/>
              </a:buClr>
              <a:buSzPts val="1000"/>
              <a:buFont typeface="Arial"/>
              <a:buChar char="◉"/>
            </a:pPr>
            <a:r>
              <a:rPr b="1" i="0" lang="en" sz="1100" u="none" cap="none" strike="noStrike">
                <a:solidFill>
                  <a:schemeClr val="dk1"/>
                </a:solidFill>
                <a:latin typeface="Quattrocento Sans"/>
                <a:ea typeface="Quattrocento Sans"/>
                <a:cs typeface="Quattrocento Sans"/>
                <a:sym typeface="Quattrocento Sans"/>
              </a:rPr>
              <a:t>Classification</a:t>
            </a:r>
            <a:endParaRPr b="1" i="0" sz="1100" u="none" cap="none" strike="noStrike">
              <a:solidFill>
                <a:schemeClr val="dk1"/>
              </a:solidFill>
              <a:latin typeface="Quattrocento Sans"/>
              <a:ea typeface="Quattrocento Sans"/>
              <a:cs typeface="Quattrocento Sans"/>
              <a:sym typeface="Quattrocento Sans"/>
            </a:endParaRPr>
          </a:p>
          <a:p>
            <a:pPr indent="-171450" lvl="1" marL="514350" marR="0" rtl="0" algn="l">
              <a:lnSpc>
                <a:spcPct val="115000"/>
              </a:lnSpc>
              <a:spcBef>
                <a:spcPts val="300"/>
              </a:spcBef>
              <a:spcAft>
                <a:spcPts val="0"/>
              </a:spcAft>
              <a:buClr>
                <a:schemeClr val="accent2"/>
              </a:buClr>
              <a:buSzPts val="900"/>
              <a:buFont typeface="Quattrocento Sans"/>
              <a:buChar char="○"/>
            </a:pPr>
            <a:r>
              <a:rPr b="1" i="0" lang="en" sz="1000" u="none" cap="none" strike="noStrike">
                <a:solidFill>
                  <a:schemeClr val="dk1"/>
                </a:solidFill>
                <a:latin typeface="Quattrocento Sans"/>
                <a:ea typeface="Quattrocento Sans"/>
                <a:cs typeface="Quattrocento Sans"/>
                <a:sym typeface="Quattrocento Sans"/>
              </a:rPr>
              <a:t>Binary Cross-Entropy (BCE)</a:t>
            </a:r>
            <a:endParaRPr b="1" i="0" sz="1000" u="none" cap="none" strike="noStrike">
              <a:solidFill>
                <a:schemeClr val="dk1"/>
              </a:solidFill>
              <a:latin typeface="Quattrocento Sans"/>
              <a:ea typeface="Quattrocento Sans"/>
              <a:cs typeface="Quattrocento Sans"/>
              <a:sym typeface="Quattrocento Sans"/>
            </a:endParaRPr>
          </a:p>
          <a:p>
            <a:pPr indent="-120650" lvl="2" marL="914400" marR="0" rtl="0" algn="l">
              <a:lnSpc>
                <a:spcPct val="115000"/>
              </a:lnSpc>
              <a:spcBef>
                <a:spcPts val="0"/>
              </a:spcBef>
              <a:spcAft>
                <a:spcPts val="0"/>
              </a:spcAft>
              <a:buClr>
                <a:schemeClr val="accent3"/>
              </a:buClr>
              <a:buSzPts val="1000"/>
              <a:buFont typeface="Quattrocento Sans"/>
              <a:buChar char="■"/>
            </a:pPr>
            <a:r>
              <a:rPr b="0" i="0" lang="en" sz="1000" u="none" cap="none" strike="noStrike">
                <a:solidFill>
                  <a:schemeClr val="dk1"/>
                </a:solidFill>
                <a:latin typeface="Quattrocento Sans"/>
                <a:ea typeface="Quattrocento Sans"/>
                <a:cs typeface="Quattrocento Sans"/>
                <a:sym typeface="Quattrocento Sans"/>
              </a:rPr>
              <a:t>Used for: Binary classification &amp; Multi-label classification</a:t>
            </a:r>
            <a:endParaRPr b="0" i="0" sz="10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0"/>
              </a:spcBef>
              <a:spcAft>
                <a:spcPts val="0"/>
              </a:spcAft>
              <a:buClr>
                <a:srgbClr val="000000"/>
              </a:buClr>
              <a:buSzPts val="400"/>
              <a:buFont typeface="Arial"/>
              <a:buNone/>
            </a:pPr>
            <a:r>
              <a:t/>
            </a:r>
            <a:endParaRPr b="0" i="0" sz="400" u="none" cap="none" strike="noStrike">
              <a:solidFill>
                <a:schemeClr val="dk1"/>
              </a:solidFill>
              <a:latin typeface="Quattrocento Sans"/>
              <a:ea typeface="Quattrocento Sans"/>
              <a:cs typeface="Quattrocento Sans"/>
              <a:sym typeface="Quattrocento Sans"/>
            </a:endParaRPr>
          </a:p>
          <a:p>
            <a:pPr indent="-171450" lvl="1" marL="514350" marR="0" rtl="0" algn="l">
              <a:lnSpc>
                <a:spcPct val="115000"/>
              </a:lnSpc>
              <a:spcBef>
                <a:spcPts val="0"/>
              </a:spcBef>
              <a:spcAft>
                <a:spcPts val="0"/>
              </a:spcAft>
              <a:buClr>
                <a:schemeClr val="accent2"/>
              </a:buClr>
              <a:buSzPts val="900"/>
              <a:buFont typeface="Quattrocento Sans"/>
              <a:buChar char="○"/>
            </a:pPr>
            <a:r>
              <a:rPr b="1" i="0" lang="en" sz="1000" u="none" cap="none" strike="noStrike">
                <a:solidFill>
                  <a:schemeClr val="dk1"/>
                </a:solidFill>
                <a:latin typeface="Quattrocento Sans"/>
                <a:ea typeface="Quattrocento Sans"/>
                <a:cs typeface="Quattrocento Sans"/>
                <a:sym typeface="Quattrocento Sans"/>
              </a:rPr>
              <a:t>Categorical Cross-Entropy (CCE)</a:t>
            </a:r>
            <a:endParaRPr b="1" i="0" sz="1000" u="none" cap="none" strike="noStrike">
              <a:solidFill>
                <a:schemeClr val="dk1"/>
              </a:solidFill>
              <a:latin typeface="Quattrocento Sans"/>
              <a:ea typeface="Quattrocento Sans"/>
              <a:cs typeface="Quattrocento Sans"/>
              <a:sym typeface="Quattrocento Sans"/>
            </a:endParaRPr>
          </a:p>
          <a:p>
            <a:pPr indent="-120650" lvl="2" marL="914400" marR="0" rtl="0" algn="l">
              <a:lnSpc>
                <a:spcPct val="115000"/>
              </a:lnSpc>
              <a:spcBef>
                <a:spcPts val="0"/>
              </a:spcBef>
              <a:spcAft>
                <a:spcPts val="0"/>
              </a:spcAft>
              <a:buClr>
                <a:schemeClr val="accent3"/>
              </a:buClr>
              <a:buSzPts val="1000"/>
              <a:buFont typeface="Quattrocento Sans"/>
              <a:buChar char="■"/>
            </a:pPr>
            <a:r>
              <a:rPr b="0" i="0" lang="en" sz="1000" u="none" cap="none" strike="noStrike">
                <a:solidFill>
                  <a:schemeClr val="dk1"/>
                </a:solidFill>
                <a:latin typeface="Quattrocento Sans"/>
                <a:ea typeface="Quattrocento Sans"/>
                <a:cs typeface="Quattrocento Sans"/>
                <a:sym typeface="Quattrocento Sans"/>
              </a:rPr>
              <a:t>Used for: Multi-class classification (mutually exclusive)</a:t>
            </a:r>
            <a:endParaRPr b="0" i="0" sz="10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Quattrocento Sans"/>
              <a:ea typeface="Quattrocento Sans"/>
              <a:cs typeface="Quattrocento Sans"/>
              <a:sym typeface="Quattrocento Sans"/>
            </a:endParaRPr>
          </a:p>
        </p:txBody>
      </p:sp>
      <p:pic>
        <p:nvPicPr>
          <p:cNvPr id="595" name="Google Shape;595;g3ddfe5db4a3_0_77" title="Screen Shot 2026-04-08 at 11.46.00 AM.png"/>
          <p:cNvPicPr preferRelativeResize="0"/>
          <p:nvPr/>
        </p:nvPicPr>
        <p:blipFill rotWithShape="1">
          <a:blip r:embed="rId3">
            <a:alphaModFix/>
          </a:blip>
          <a:srcRect b="0" l="0" r="0" t="0"/>
          <a:stretch/>
        </p:blipFill>
        <p:spPr>
          <a:xfrm>
            <a:off x="5050119" y="2880431"/>
            <a:ext cx="1207585" cy="298775"/>
          </a:xfrm>
          <a:prstGeom prst="rect">
            <a:avLst/>
          </a:prstGeom>
          <a:noFill/>
          <a:ln>
            <a:noFill/>
          </a:ln>
        </p:spPr>
      </p:pic>
      <p:pic>
        <p:nvPicPr>
          <p:cNvPr id="596" name="Google Shape;596;g3ddfe5db4a3_0_77" title="Screen Shot 2026-04-08 at 11.46.07 AM.png"/>
          <p:cNvPicPr preferRelativeResize="0"/>
          <p:nvPr/>
        </p:nvPicPr>
        <p:blipFill rotWithShape="1">
          <a:blip r:embed="rId4">
            <a:alphaModFix/>
          </a:blip>
          <a:srcRect b="0" l="0" r="0" t="0"/>
          <a:stretch/>
        </p:blipFill>
        <p:spPr>
          <a:xfrm>
            <a:off x="5076125" y="3191594"/>
            <a:ext cx="1205500" cy="298775"/>
          </a:xfrm>
          <a:prstGeom prst="rect">
            <a:avLst/>
          </a:prstGeom>
          <a:noFill/>
          <a:ln>
            <a:noFill/>
          </a:ln>
        </p:spPr>
      </p:pic>
      <p:pic>
        <p:nvPicPr>
          <p:cNvPr id="597" name="Google Shape;597;g3ddfe5db4a3_0_77" title="Screen Shot 2026-04-08 at 11.19.17 PM.png"/>
          <p:cNvPicPr preferRelativeResize="0"/>
          <p:nvPr/>
        </p:nvPicPr>
        <p:blipFill rotWithShape="1">
          <a:blip r:embed="rId5">
            <a:alphaModFix/>
          </a:blip>
          <a:srcRect b="0" l="0" r="0" t="0"/>
          <a:stretch/>
        </p:blipFill>
        <p:spPr>
          <a:xfrm>
            <a:off x="5055951" y="4316593"/>
            <a:ext cx="1912726" cy="727625"/>
          </a:xfrm>
          <a:prstGeom prst="rect">
            <a:avLst/>
          </a:prstGeom>
          <a:noFill/>
          <a:ln>
            <a:noFill/>
          </a:ln>
        </p:spPr>
      </p:pic>
      <p:pic>
        <p:nvPicPr>
          <p:cNvPr id="598" name="Google Shape;598;g3ddfe5db4a3_0_77" title="Screen Shot 2026-04-08 at 11.18.22 PM.png"/>
          <p:cNvPicPr preferRelativeResize="0"/>
          <p:nvPr/>
        </p:nvPicPr>
        <p:blipFill rotWithShape="1">
          <a:blip r:embed="rId6">
            <a:alphaModFix/>
          </a:blip>
          <a:srcRect b="0" l="0" r="0" t="0"/>
          <a:stretch/>
        </p:blipFill>
        <p:spPr>
          <a:xfrm>
            <a:off x="5040475" y="3647900"/>
            <a:ext cx="2140242" cy="544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3ddfe5db4a3_0_105"/>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Gradient Descent and Optimization</a:t>
            </a:r>
            <a:endParaRPr>
              <a:highlight>
                <a:schemeClr val="accent1"/>
              </a:highlight>
            </a:endParaRPr>
          </a:p>
        </p:txBody>
      </p:sp>
      <p:grpSp>
        <p:nvGrpSpPr>
          <p:cNvPr id="604" name="Google Shape;604;g3ddfe5db4a3_0_105"/>
          <p:cNvGrpSpPr/>
          <p:nvPr/>
        </p:nvGrpSpPr>
        <p:grpSpPr>
          <a:xfrm>
            <a:off x="916458" y="1019750"/>
            <a:ext cx="214625" cy="214625"/>
            <a:chOff x="2594050" y="1631825"/>
            <a:chExt cx="439625" cy="439625"/>
          </a:xfrm>
        </p:grpSpPr>
        <p:sp>
          <p:nvSpPr>
            <p:cNvPr id="605" name="Google Shape;605;g3ddfe5db4a3_0_105"/>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g3ddfe5db4a3_0_105"/>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g3ddfe5db4a3_0_105"/>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g3ddfe5db4a3_0_105"/>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9" name="Google Shape;609;g3ddfe5db4a3_0_105"/>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610" name="Google Shape;610;g3ddfe5db4a3_0_105"/>
          <p:cNvSpPr txBox="1"/>
          <p:nvPr/>
        </p:nvSpPr>
        <p:spPr>
          <a:xfrm>
            <a:off x="514950" y="1547800"/>
            <a:ext cx="8218200" cy="3281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b="0" i="0" lang="en" sz="1300" u="none" cap="none" strike="noStrike">
                <a:solidFill>
                  <a:schemeClr val="dk1"/>
                </a:solidFill>
                <a:latin typeface="Quattrocento Sans"/>
                <a:ea typeface="Quattrocento Sans"/>
                <a:cs typeface="Quattrocento Sans"/>
                <a:sym typeface="Quattrocento Sans"/>
              </a:rPr>
              <a:t>NN contain thousands parameters </a:t>
            </a:r>
            <a:r>
              <a:rPr b="0" i="0" lang="en" sz="1400" u="none" cap="none" strike="noStrike">
                <a:solidFill>
                  <a:schemeClr val="dk1"/>
                </a:solidFill>
                <a:highlight>
                  <a:schemeClr val="lt1"/>
                </a:highlight>
                <a:latin typeface="Quattrocento Sans"/>
                <a:ea typeface="Quattrocento Sans"/>
                <a:cs typeface="Quattrocento Sans"/>
                <a:sym typeface="Quattrocento Sans"/>
              </a:rPr>
              <a:t>→</a:t>
            </a:r>
            <a:r>
              <a:rPr b="0" i="0" lang="en" sz="1300" u="none" cap="none" strike="noStrike">
                <a:solidFill>
                  <a:schemeClr val="dk1"/>
                </a:solidFill>
                <a:latin typeface="Quattrocento Sans"/>
                <a:ea typeface="Quattrocento Sans"/>
                <a:cs typeface="Quattrocento Sans"/>
                <a:sym typeface="Quattrocento Sans"/>
              </a:rPr>
              <a:t> cost function is a highly complex, multi-dimensional surface. </a:t>
            </a:r>
            <a:endParaRPr b="0" i="0" sz="13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300"/>
              <a:buFont typeface="Arial"/>
              <a:buNone/>
            </a:pPr>
            <a:r>
              <a:rPr b="0" i="0" lang="en" sz="1300" u="none" cap="none" strike="noStrike">
                <a:solidFill>
                  <a:schemeClr val="dk1"/>
                </a:solidFill>
                <a:latin typeface="Quattrocento Sans"/>
                <a:ea typeface="Quattrocento Sans"/>
                <a:cs typeface="Quattrocento Sans"/>
                <a:sym typeface="Quattrocento Sans"/>
              </a:rPr>
              <a:t>Finding the minimum of this function analytically is computationally impossible. Instead, an iterative optimization algorithm called </a:t>
            </a:r>
            <a:r>
              <a:rPr b="1" i="0" lang="en" sz="1300" u="none" cap="none" strike="noStrike">
                <a:solidFill>
                  <a:schemeClr val="dk1"/>
                </a:solidFill>
                <a:latin typeface="Quattrocento Sans"/>
                <a:ea typeface="Quattrocento Sans"/>
                <a:cs typeface="Quattrocento Sans"/>
                <a:sym typeface="Quattrocento Sans"/>
              </a:rPr>
              <a:t>Gradient Descent</a:t>
            </a:r>
            <a:r>
              <a:rPr b="0" i="0" lang="en" sz="1300" u="none" cap="none" strike="noStrike">
                <a:solidFill>
                  <a:schemeClr val="dk1"/>
                </a:solidFill>
                <a:latin typeface="Quattrocento Sans"/>
                <a:ea typeface="Quattrocento Sans"/>
                <a:cs typeface="Quattrocento Sans"/>
                <a:sym typeface="Quattrocento Sans"/>
              </a:rPr>
              <a:t> is used.</a:t>
            </a:r>
            <a:endParaRPr b="0"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400"/>
              <a:buFont typeface="Arial"/>
              <a:buNone/>
            </a:pPr>
            <a:r>
              <a:t/>
            </a:r>
            <a:endParaRPr b="0" i="0" sz="4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500"/>
              </a:spcBef>
              <a:spcAft>
                <a:spcPts val="0"/>
              </a:spcAft>
              <a:buClr>
                <a:srgbClr val="000000"/>
              </a:buClr>
              <a:buSzPts val="1300"/>
              <a:buFont typeface="Arial"/>
              <a:buNone/>
            </a:pPr>
            <a:r>
              <a:rPr b="1" i="0" lang="en" sz="1300" u="none" cap="none" strike="noStrike">
                <a:solidFill>
                  <a:schemeClr val="dk1"/>
                </a:solidFill>
                <a:latin typeface="Quattrocento Sans"/>
                <a:ea typeface="Quattrocento Sans"/>
                <a:cs typeface="Quattrocento Sans"/>
                <a:sym typeface="Quattrocento Sans"/>
              </a:rPr>
              <a:t>The Mechanism of Gradient Descent</a:t>
            </a:r>
            <a:endParaRPr b="0" i="0" sz="1300" u="none" cap="none" strike="noStrike">
              <a:solidFill>
                <a:schemeClr val="dk1"/>
              </a:solidFill>
              <a:latin typeface="Quattrocento Sans"/>
              <a:ea typeface="Quattrocento Sans"/>
              <a:cs typeface="Quattrocento Sans"/>
              <a:sym typeface="Quattrocento Sans"/>
            </a:endParaRPr>
          </a:p>
          <a:p>
            <a:pPr indent="-190500" lvl="0" marL="342900" marR="0" rtl="0" algn="l">
              <a:lnSpc>
                <a:spcPct val="115000"/>
              </a:lnSpc>
              <a:spcBef>
                <a:spcPts val="500"/>
              </a:spcBef>
              <a:spcAft>
                <a:spcPts val="0"/>
              </a:spcAft>
              <a:buClr>
                <a:schemeClr val="accent1"/>
              </a:buClr>
              <a:buSzPts val="1200"/>
              <a:buFont typeface="Arial"/>
              <a:buChar char="◉"/>
            </a:pPr>
            <a:r>
              <a:rPr b="0" i="0" lang="en" sz="1300" u="none" cap="none" strike="noStrike">
                <a:solidFill>
                  <a:schemeClr val="dk1"/>
                </a:solidFill>
                <a:latin typeface="Quattrocento Sans"/>
                <a:ea typeface="Quattrocento Sans"/>
                <a:cs typeface="Quattrocento Sans"/>
                <a:sym typeface="Quattrocento Sans"/>
              </a:rPr>
              <a:t>GD calculates the gradient of the cost function                                                                                                         with respect to the network's weights and biases. </a:t>
            </a:r>
            <a:endParaRPr b="0" i="0" sz="1300" u="none" cap="none" strike="noStrike">
              <a:solidFill>
                <a:schemeClr val="dk1"/>
              </a:solidFill>
              <a:latin typeface="Quattrocento Sans"/>
              <a:ea typeface="Quattrocento Sans"/>
              <a:cs typeface="Quattrocento Sans"/>
              <a:sym typeface="Quattrocento Sans"/>
            </a:endParaRPr>
          </a:p>
          <a:p>
            <a:pPr indent="-190500" lvl="0" marL="342900" marR="0" rtl="0" algn="l">
              <a:lnSpc>
                <a:spcPct val="115000"/>
              </a:lnSpc>
              <a:spcBef>
                <a:spcPts val="300"/>
              </a:spcBef>
              <a:spcAft>
                <a:spcPts val="0"/>
              </a:spcAft>
              <a:buClr>
                <a:schemeClr val="accent1"/>
              </a:buClr>
              <a:buSzPts val="1200"/>
              <a:buFont typeface="Arial"/>
              <a:buChar char="◉"/>
            </a:pPr>
            <a:r>
              <a:rPr b="0" i="0" lang="en" sz="1300" u="none" cap="none" strike="noStrike">
                <a:solidFill>
                  <a:schemeClr val="dk1"/>
                </a:solidFill>
                <a:latin typeface="Quattrocento Sans"/>
                <a:ea typeface="Quattrocento Sans"/>
                <a:cs typeface="Quattrocento Sans"/>
                <a:sym typeface="Quattrocento Sans"/>
              </a:rPr>
              <a:t>The network then takes a "step" in the opposite                                                                                                             direction of the gradient to reach the minimum cost.</a:t>
            </a:r>
            <a:endParaRPr b="0" i="0" sz="1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300"/>
              </a:spcBef>
              <a:spcAft>
                <a:spcPts val="0"/>
              </a:spcAft>
              <a:buClr>
                <a:schemeClr val="accent3"/>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Learning Rate: </a:t>
            </a:r>
            <a:r>
              <a:rPr b="0" i="0" lang="en" sz="1200" u="none" cap="none" strike="noStrike">
                <a:solidFill>
                  <a:schemeClr val="dk1"/>
                </a:solidFill>
                <a:latin typeface="Quattrocento Sans"/>
                <a:ea typeface="Quattrocento Sans"/>
                <a:cs typeface="Quattrocento Sans"/>
                <a:sym typeface="Quattrocento Sans"/>
              </a:rPr>
              <a:t>Determines the size of the step taken. </a:t>
            </a:r>
            <a:endParaRPr b="0" i="0" sz="1200" u="none" cap="none" strike="noStrike">
              <a:solidFill>
                <a:schemeClr val="dk1"/>
              </a:solidFill>
              <a:latin typeface="Quattrocento Sans"/>
              <a:ea typeface="Quattrocento Sans"/>
              <a:cs typeface="Quattrocento Sans"/>
              <a:sym typeface="Quattrocento Sans"/>
            </a:endParaRPr>
          </a:p>
          <a:p>
            <a:pPr indent="-190500" lvl="1" marL="514350" marR="0" rtl="0" algn="l">
              <a:lnSpc>
                <a:spcPct val="115000"/>
              </a:lnSpc>
              <a:spcBef>
                <a:spcPts val="0"/>
              </a:spcBef>
              <a:spcAft>
                <a:spcPts val="0"/>
              </a:spcAft>
              <a:buClr>
                <a:schemeClr val="accent3"/>
              </a:buClr>
              <a:buSzPts val="12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LR dose not need to be constant and can be adjucted                                                                                                              during training using adaptive optimization method.</a:t>
            </a:r>
            <a:endParaRPr b="0" i="0" sz="1200" u="none" cap="none" strike="noStrike">
              <a:solidFill>
                <a:schemeClr val="dk1"/>
              </a:solidFill>
              <a:latin typeface="Quattrocento Sans"/>
              <a:ea typeface="Quattrocento Sans"/>
              <a:cs typeface="Quattrocento Sans"/>
              <a:sym typeface="Quattrocento Sans"/>
            </a:endParaRPr>
          </a:p>
        </p:txBody>
      </p:sp>
      <p:pic>
        <p:nvPicPr>
          <p:cNvPr id="611" name="Google Shape;611;g3ddfe5db4a3_0_105" title="Screen Shot 2025-10-03 at 12.06.43 PM.png"/>
          <p:cNvPicPr preferRelativeResize="0"/>
          <p:nvPr/>
        </p:nvPicPr>
        <p:blipFill rotWithShape="1">
          <a:blip r:embed="rId3">
            <a:alphaModFix/>
          </a:blip>
          <a:srcRect b="0" l="0" r="0" t="0"/>
          <a:stretch/>
        </p:blipFill>
        <p:spPr>
          <a:xfrm>
            <a:off x="5657850" y="2345850"/>
            <a:ext cx="2286951" cy="1143500"/>
          </a:xfrm>
          <a:prstGeom prst="rect">
            <a:avLst/>
          </a:prstGeom>
          <a:noFill/>
          <a:ln>
            <a:noFill/>
          </a:ln>
        </p:spPr>
      </p:pic>
      <p:grpSp>
        <p:nvGrpSpPr>
          <p:cNvPr id="612" name="Google Shape;612;g3ddfe5db4a3_0_105"/>
          <p:cNvGrpSpPr/>
          <p:nvPr/>
        </p:nvGrpSpPr>
        <p:grpSpPr>
          <a:xfrm>
            <a:off x="5143505" y="3756411"/>
            <a:ext cx="2870572" cy="1242094"/>
            <a:chOff x="1743500" y="2882175"/>
            <a:chExt cx="5162899" cy="2233982"/>
          </a:xfrm>
        </p:grpSpPr>
        <p:pic>
          <p:nvPicPr>
            <p:cNvPr id="613" name="Google Shape;613;g3ddfe5db4a3_0_105" title="learning_rate_choice.png"/>
            <p:cNvPicPr preferRelativeResize="0"/>
            <p:nvPr/>
          </p:nvPicPr>
          <p:blipFill rotWithShape="1">
            <a:blip r:embed="rId4">
              <a:alphaModFix/>
            </a:blip>
            <a:srcRect b="10786" l="6306" r="0" t="0"/>
            <a:stretch/>
          </p:blipFill>
          <p:spPr>
            <a:xfrm>
              <a:off x="2292200" y="2882175"/>
              <a:ext cx="4614199" cy="1961025"/>
            </a:xfrm>
            <a:prstGeom prst="rect">
              <a:avLst/>
            </a:prstGeom>
            <a:noFill/>
            <a:ln>
              <a:noFill/>
            </a:ln>
          </p:spPr>
        </p:pic>
        <p:sp>
          <p:nvSpPr>
            <p:cNvPr id="614" name="Google Shape;614;g3ddfe5db4a3_0_105"/>
            <p:cNvSpPr txBox="1"/>
            <p:nvPr/>
          </p:nvSpPr>
          <p:spPr>
            <a:xfrm>
              <a:off x="1743500" y="3693188"/>
              <a:ext cx="548700" cy="339000"/>
            </a:xfrm>
            <a:prstGeom prst="rect">
              <a:avLst/>
            </a:prstGeom>
            <a:noFill/>
            <a:ln>
              <a:noFill/>
            </a:ln>
          </p:spPr>
          <p:txBody>
            <a:bodyPr anchorCtr="0" anchor="t" bIns="50825" lIns="50825" spcFirstLastPara="1" rIns="50825" wrap="square" tIns="50825">
              <a:noAutofit/>
            </a:bodyPr>
            <a:lstStyle/>
            <a:p>
              <a:pPr indent="0" lvl="0" marL="0" marR="0" rtl="0" algn="l">
                <a:lnSpc>
                  <a:spcPct val="100000"/>
                </a:lnSpc>
                <a:spcBef>
                  <a:spcPts val="0"/>
                </a:spcBef>
                <a:spcAft>
                  <a:spcPts val="0"/>
                </a:spcAft>
                <a:buClr>
                  <a:srgbClr val="000000"/>
                </a:buClr>
                <a:buSzPts val="667"/>
                <a:buFont typeface="Arial"/>
                <a:buNone/>
              </a:pPr>
              <a:r>
                <a:rPr b="1" i="0" lang="en" sz="667" u="none" cap="none" strike="noStrike">
                  <a:solidFill>
                    <a:schemeClr val="dk1"/>
                  </a:solidFill>
                  <a:latin typeface="Times New Roman"/>
                  <a:ea typeface="Times New Roman"/>
                  <a:cs typeface="Times New Roman"/>
                  <a:sym typeface="Times New Roman"/>
                </a:rPr>
                <a:t>L(W)</a:t>
              </a:r>
              <a:endParaRPr b="1" i="0" sz="667" u="none" cap="none" strike="noStrike">
                <a:solidFill>
                  <a:schemeClr val="dk1"/>
                </a:solidFill>
                <a:latin typeface="Times New Roman"/>
                <a:ea typeface="Times New Roman"/>
                <a:cs typeface="Times New Roman"/>
                <a:sym typeface="Times New Roman"/>
              </a:endParaRPr>
            </a:p>
          </p:txBody>
        </p:sp>
        <p:pic>
          <p:nvPicPr>
            <p:cNvPr id="615" name="Google Shape;615;g3ddfe5db4a3_0_105" title="Screen Shot 2025-10-10 at 12.39.04 PM.png"/>
            <p:cNvPicPr preferRelativeResize="0"/>
            <p:nvPr/>
          </p:nvPicPr>
          <p:blipFill rotWithShape="1">
            <a:blip r:embed="rId5">
              <a:alphaModFix/>
            </a:blip>
            <a:srcRect b="0" l="0" r="0" t="0"/>
            <a:stretch/>
          </p:blipFill>
          <p:spPr>
            <a:xfrm>
              <a:off x="2696184" y="2888848"/>
              <a:ext cx="183066" cy="214625"/>
            </a:xfrm>
            <a:prstGeom prst="rect">
              <a:avLst/>
            </a:prstGeom>
            <a:noFill/>
            <a:ln>
              <a:noFill/>
            </a:ln>
          </p:spPr>
        </p:pic>
        <p:pic>
          <p:nvPicPr>
            <p:cNvPr id="616" name="Google Shape;616;g3ddfe5db4a3_0_105" title="Screen Shot 2025-10-10 at 12.39.04 PM.png"/>
            <p:cNvPicPr preferRelativeResize="0"/>
            <p:nvPr/>
          </p:nvPicPr>
          <p:blipFill rotWithShape="1">
            <a:blip r:embed="rId5">
              <a:alphaModFix/>
            </a:blip>
            <a:srcRect b="0" l="0" r="0" t="0"/>
            <a:stretch/>
          </p:blipFill>
          <p:spPr>
            <a:xfrm>
              <a:off x="4195434" y="2888848"/>
              <a:ext cx="183066" cy="214625"/>
            </a:xfrm>
            <a:prstGeom prst="rect">
              <a:avLst/>
            </a:prstGeom>
            <a:noFill/>
            <a:ln>
              <a:noFill/>
            </a:ln>
          </p:spPr>
        </p:pic>
        <p:pic>
          <p:nvPicPr>
            <p:cNvPr id="617" name="Google Shape;617;g3ddfe5db4a3_0_105" title="Screen Shot 2025-10-10 at 12.39.04 PM.png"/>
            <p:cNvPicPr preferRelativeResize="0"/>
            <p:nvPr/>
          </p:nvPicPr>
          <p:blipFill rotWithShape="1">
            <a:blip r:embed="rId5">
              <a:alphaModFix/>
            </a:blip>
            <a:srcRect b="0" l="0" r="0" t="0"/>
            <a:stretch/>
          </p:blipFill>
          <p:spPr>
            <a:xfrm>
              <a:off x="5743225" y="2888848"/>
              <a:ext cx="183066" cy="214625"/>
            </a:xfrm>
            <a:prstGeom prst="rect">
              <a:avLst/>
            </a:prstGeom>
            <a:noFill/>
            <a:ln>
              <a:noFill/>
            </a:ln>
          </p:spPr>
        </p:pic>
        <p:sp>
          <p:nvSpPr>
            <p:cNvPr id="618" name="Google Shape;618;g3ddfe5db4a3_0_105"/>
            <p:cNvSpPr txBox="1"/>
            <p:nvPr/>
          </p:nvSpPr>
          <p:spPr>
            <a:xfrm>
              <a:off x="2879250" y="4743126"/>
              <a:ext cx="548700" cy="339000"/>
            </a:xfrm>
            <a:prstGeom prst="rect">
              <a:avLst/>
            </a:prstGeom>
            <a:noFill/>
            <a:ln>
              <a:noFill/>
            </a:ln>
          </p:spPr>
          <p:txBody>
            <a:bodyPr anchorCtr="0" anchor="t" bIns="50825" lIns="50825" spcFirstLastPara="1" rIns="50825" wrap="square" tIns="50825">
              <a:noAutofit/>
            </a:bodyPr>
            <a:lstStyle/>
            <a:p>
              <a:pPr indent="0" lvl="0" marL="0" marR="0" rtl="0" algn="l">
                <a:lnSpc>
                  <a:spcPct val="100000"/>
                </a:lnSpc>
                <a:spcBef>
                  <a:spcPts val="0"/>
                </a:spcBef>
                <a:spcAft>
                  <a:spcPts val="0"/>
                </a:spcAft>
                <a:buClr>
                  <a:srgbClr val="000000"/>
                </a:buClr>
                <a:buSzPts val="667"/>
                <a:buFont typeface="Arial"/>
                <a:buNone/>
              </a:pPr>
              <a:r>
                <a:rPr b="1" i="0" lang="en" sz="667" u="none" cap="none" strike="noStrike">
                  <a:solidFill>
                    <a:schemeClr val="dk1"/>
                  </a:solidFill>
                  <a:latin typeface="Times New Roman"/>
                  <a:ea typeface="Times New Roman"/>
                  <a:cs typeface="Times New Roman"/>
                  <a:sym typeface="Times New Roman"/>
                </a:rPr>
                <a:t>W</a:t>
              </a:r>
              <a:endParaRPr b="1" i="0" sz="667" u="none" cap="none" strike="noStrike">
                <a:solidFill>
                  <a:schemeClr val="dk1"/>
                </a:solidFill>
                <a:latin typeface="Times New Roman"/>
                <a:ea typeface="Times New Roman"/>
                <a:cs typeface="Times New Roman"/>
                <a:sym typeface="Times New Roman"/>
              </a:endParaRPr>
            </a:p>
          </p:txBody>
        </p:sp>
        <p:sp>
          <p:nvSpPr>
            <p:cNvPr id="619" name="Google Shape;619;g3ddfe5db4a3_0_105"/>
            <p:cNvSpPr txBox="1"/>
            <p:nvPr/>
          </p:nvSpPr>
          <p:spPr>
            <a:xfrm>
              <a:off x="5926297" y="4743132"/>
              <a:ext cx="548700" cy="339000"/>
            </a:xfrm>
            <a:prstGeom prst="rect">
              <a:avLst/>
            </a:prstGeom>
            <a:noFill/>
            <a:ln>
              <a:noFill/>
            </a:ln>
          </p:spPr>
          <p:txBody>
            <a:bodyPr anchorCtr="0" anchor="t" bIns="50825" lIns="50825" spcFirstLastPara="1" rIns="50825" wrap="square" tIns="50825">
              <a:noAutofit/>
            </a:bodyPr>
            <a:lstStyle/>
            <a:p>
              <a:pPr indent="0" lvl="0" marL="0" marR="0" rtl="0" algn="l">
                <a:lnSpc>
                  <a:spcPct val="100000"/>
                </a:lnSpc>
                <a:spcBef>
                  <a:spcPts val="0"/>
                </a:spcBef>
                <a:spcAft>
                  <a:spcPts val="0"/>
                </a:spcAft>
                <a:buClr>
                  <a:srgbClr val="000000"/>
                </a:buClr>
                <a:buSzPts val="667"/>
                <a:buFont typeface="Arial"/>
                <a:buNone/>
              </a:pPr>
              <a:r>
                <a:rPr b="1" i="0" lang="en" sz="667" u="none" cap="none" strike="noStrike">
                  <a:solidFill>
                    <a:schemeClr val="dk1"/>
                  </a:solidFill>
                  <a:latin typeface="Times New Roman"/>
                  <a:ea typeface="Times New Roman"/>
                  <a:cs typeface="Times New Roman"/>
                  <a:sym typeface="Times New Roman"/>
                </a:rPr>
                <a:t>W</a:t>
              </a:r>
              <a:endParaRPr b="1" i="0" sz="667" u="none" cap="none" strike="noStrike">
                <a:solidFill>
                  <a:schemeClr val="dk1"/>
                </a:solidFill>
                <a:latin typeface="Times New Roman"/>
                <a:ea typeface="Times New Roman"/>
                <a:cs typeface="Times New Roman"/>
                <a:sym typeface="Times New Roman"/>
              </a:endParaRPr>
            </a:p>
          </p:txBody>
        </p:sp>
        <p:sp>
          <p:nvSpPr>
            <p:cNvPr id="620" name="Google Shape;620;g3ddfe5db4a3_0_105"/>
            <p:cNvSpPr txBox="1"/>
            <p:nvPr/>
          </p:nvSpPr>
          <p:spPr>
            <a:xfrm>
              <a:off x="4412597" y="4777157"/>
              <a:ext cx="548700" cy="339000"/>
            </a:xfrm>
            <a:prstGeom prst="rect">
              <a:avLst/>
            </a:prstGeom>
            <a:noFill/>
            <a:ln>
              <a:noFill/>
            </a:ln>
          </p:spPr>
          <p:txBody>
            <a:bodyPr anchorCtr="0" anchor="t" bIns="50825" lIns="50825" spcFirstLastPara="1" rIns="50825" wrap="square" tIns="50825">
              <a:noAutofit/>
            </a:bodyPr>
            <a:lstStyle/>
            <a:p>
              <a:pPr indent="0" lvl="0" marL="0" marR="0" rtl="0" algn="l">
                <a:lnSpc>
                  <a:spcPct val="100000"/>
                </a:lnSpc>
                <a:spcBef>
                  <a:spcPts val="0"/>
                </a:spcBef>
                <a:spcAft>
                  <a:spcPts val="0"/>
                </a:spcAft>
                <a:buClr>
                  <a:srgbClr val="000000"/>
                </a:buClr>
                <a:buSzPts val="667"/>
                <a:buFont typeface="Arial"/>
                <a:buNone/>
              </a:pPr>
              <a:r>
                <a:rPr b="1" i="0" lang="en" sz="667" u="none" cap="none" strike="noStrike">
                  <a:solidFill>
                    <a:schemeClr val="dk1"/>
                  </a:solidFill>
                  <a:latin typeface="Times New Roman"/>
                  <a:ea typeface="Times New Roman"/>
                  <a:cs typeface="Times New Roman"/>
                  <a:sym typeface="Times New Roman"/>
                </a:rPr>
                <a:t>W</a:t>
              </a:r>
              <a:endParaRPr b="1" i="0" sz="667" u="none" cap="none" strike="noStrike">
                <a:solidFill>
                  <a:schemeClr val="dk1"/>
                </a:solidFill>
                <a:latin typeface="Times New Roman"/>
                <a:ea typeface="Times New Roman"/>
                <a:cs typeface="Times New Roman"/>
                <a:sym typeface="Times New Roman"/>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ddfe5db4a3_0_197"/>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Gradient Descent Variants</a:t>
            </a:r>
            <a:endParaRPr>
              <a:highlight>
                <a:schemeClr val="accent1"/>
              </a:highlight>
            </a:endParaRPr>
          </a:p>
        </p:txBody>
      </p:sp>
      <p:grpSp>
        <p:nvGrpSpPr>
          <p:cNvPr id="626" name="Google Shape;626;g3ddfe5db4a3_0_197"/>
          <p:cNvGrpSpPr/>
          <p:nvPr/>
        </p:nvGrpSpPr>
        <p:grpSpPr>
          <a:xfrm>
            <a:off x="916458" y="1019750"/>
            <a:ext cx="214625" cy="214625"/>
            <a:chOff x="2594050" y="1631825"/>
            <a:chExt cx="439625" cy="439625"/>
          </a:xfrm>
        </p:grpSpPr>
        <p:sp>
          <p:nvSpPr>
            <p:cNvPr id="627" name="Google Shape;627;g3ddfe5db4a3_0_197"/>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g3ddfe5db4a3_0_197"/>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g3ddfe5db4a3_0_197"/>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g3ddfe5db4a3_0_197"/>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1" name="Google Shape;631;g3ddfe5db4a3_0_197"/>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pic>
        <p:nvPicPr>
          <p:cNvPr id="632" name="Google Shape;632;g3ddfe5db4a3_0_197" title="Screen Shot 2026-04-09 at 12.29.32 AM.png"/>
          <p:cNvPicPr preferRelativeResize="0"/>
          <p:nvPr/>
        </p:nvPicPr>
        <p:blipFill rotWithShape="1">
          <a:blip r:embed="rId3">
            <a:alphaModFix/>
          </a:blip>
          <a:srcRect b="0" l="0" r="0" t="0"/>
          <a:stretch/>
        </p:blipFill>
        <p:spPr>
          <a:xfrm>
            <a:off x="1016943" y="1567243"/>
            <a:ext cx="7030426" cy="334878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ddfe5db4a3_0_222"/>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Gradient Descent and Optimization</a:t>
            </a:r>
            <a:endParaRPr>
              <a:highlight>
                <a:schemeClr val="accent1"/>
              </a:highlight>
            </a:endParaRPr>
          </a:p>
        </p:txBody>
      </p:sp>
      <p:grpSp>
        <p:nvGrpSpPr>
          <p:cNvPr id="638" name="Google Shape;638;g3ddfe5db4a3_0_222"/>
          <p:cNvGrpSpPr/>
          <p:nvPr/>
        </p:nvGrpSpPr>
        <p:grpSpPr>
          <a:xfrm>
            <a:off x="916458" y="1019750"/>
            <a:ext cx="214625" cy="214625"/>
            <a:chOff x="2594050" y="1631825"/>
            <a:chExt cx="439625" cy="439625"/>
          </a:xfrm>
        </p:grpSpPr>
        <p:sp>
          <p:nvSpPr>
            <p:cNvPr id="639" name="Google Shape;639;g3ddfe5db4a3_0_222"/>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g3ddfe5db4a3_0_222"/>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g3ddfe5db4a3_0_222"/>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g3ddfe5db4a3_0_222"/>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3" name="Google Shape;643;g3ddfe5db4a3_0_222"/>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pic>
        <p:nvPicPr>
          <p:cNvPr id="644" name="Google Shape;644;g3ddfe5db4a3_0_222" title="hq720.jpg"/>
          <p:cNvPicPr preferRelativeResize="0"/>
          <p:nvPr/>
        </p:nvPicPr>
        <p:blipFill rotWithShape="1">
          <a:blip r:embed="rId3">
            <a:alphaModFix/>
          </a:blip>
          <a:srcRect b="0" l="0" r="0" t="0"/>
          <a:stretch/>
        </p:blipFill>
        <p:spPr>
          <a:xfrm>
            <a:off x="1303775" y="1681075"/>
            <a:ext cx="5533053" cy="311335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g3ddfe5db4a3_0_244"/>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Neural Network Learning Process / Training Loop</a:t>
            </a:r>
            <a:endParaRPr>
              <a:highlight>
                <a:schemeClr val="accent1"/>
              </a:highlight>
            </a:endParaRPr>
          </a:p>
        </p:txBody>
      </p:sp>
      <p:grpSp>
        <p:nvGrpSpPr>
          <p:cNvPr id="650" name="Google Shape;650;g3ddfe5db4a3_0_244"/>
          <p:cNvGrpSpPr/>
          <p:nvPr/>
        </p:nvGrpSpPr>
        <p:grpSpPr>
          <a:xfrm>
            <a:off x="916458" y="1019750"/>
            <a:ext cx="214625" cy="214625"/>
            <a:chOff x="2594050" y="1631825"/>
            <a:chExt cx="439625" cy="439625"/>
          </a:xfrm>
        </p:grpSpPr>
        <p:sp>
          <p:nvSpPr>
            <p:cNvPr id="651" name="Google Shape;651;g3ddfe5db4a3_0_244"/>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g3ddfe5db4a3_0_244"/>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g3ddfe5db4a3_0_244"/>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g3ddfe5db4a3_0_244"/>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55" name="Google Shape;655;g3ddfe5db4a3_0_244"/>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pic>
        <p:nvPicPr>
          <p:cNvPr id="656" name="Google Shape;656;g3ddfe5db4a3_0_244" title="1_SCz0aTETjTYC864Bqjt6Og.png"/>
          <p:cNvPicPr preferRelativeResize="0"/>
          <p:nvPr/>
        </p:nvPicPr>
        <p:blipFill rotWithShape="1">
          <a:blip r:embed="rId3">
            <a:alphaModFix/>
          </a:blip>
          <a:srcRect b="0" l="0" r="0" t="0"/>
          <a:stretch/>
        </p:blipFill>
        <p:spPr>
          <a:xfrm>
            <a:off x="1563562" y="1533534"/>
            <a:ext cx="5772575" cy="339344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3ddfe5db4a3_0_122"/>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BackPropagation</a:t>
            </a:r>
            <a:endParaRPr>
              <a:highlight>
                <a:schemeClr val="accent1"/>
              </a:highlight>
            </a:endParaRPr>
          </a:p>
        </p:txBody>
      </p:sp>
      <p:grpSp>
        <p:nvGrpSpPr>
          <p:cNvPr id="662" name="Google Shape;662;g3ddfe5db4a3_0_122"/>
          <p:cNvGrpSpPr/>
          <p:nvPr/>
        </p:nvGrpSpPr>
        <p:grpSpPr>
          <a:xfrm>
            <a:off x="916458" y="1019750"/>
            <a:ext cx="214625" cy="214625"/>
            <a:chOff x="2594050" y="1631825"/>
            <a:chExt cx="439625" cy="439625"/>
          </a:xfrm>
        </p:grpSpPr>
        <p:sp>
          <p:nvSpPr>
            <p:cNvPr id="663" name="Google Shape;663;g3ddfe5db4a3_0_122"/>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g3ddfe5db4a3_0_122"/>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g3ddfe5db4a3_0_122"/>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g3ddfe5db4a3_0_122"/>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7" name="Google Shape;667;g3ddfe5db4a3_0_122"/>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pic>
        <p:nvPicPr>
          <p:cNvPr id="668" name="Google Shape;668;g3ddfe5db4a3_0_122" title="18870backprop2.png"/>
          <p:cNvPicPr preferRelativeResize="0"/>
          <p:nvPr/>
        </p:nvPicPr>
        <p:blipFill rotWithShape="1">
          <a:blip r:embed="rId3">
            <a:alphaModFix/>
          </a:blip>
          <a:srcRect b="0" l="0" r="0" t="16528"/>
          <a:stretch/>
        </p:blipFill>
        <p:spPr>
          <a:xfrm>
            <a:off x="844250" y="1794750"/>
            <a:ext cx="7148400" cy="29551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ddfe5db4a3_0_267"/>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BackPropagation</a:t>
            </a:r>
            <a:endParaRPr>
              <a:highlight>
                <a:schemeClr val="accent1"/>
              </a:highlight>
            </a:endParaRPr>
          </a:p>
        </p:txBody>
      </p:sp>
      <p:grpSp>
        <p:nvGrpSpPr>
          <p:cNvPr id="674" name="Google Shape;674;g3ddfe5db4a3_0_267"/>
          <p:cNvGrpSpPr/>
          <p:nvPr/>
        </p:nvGrpSpPr>
        <p:grpSpPr>
          <a:xfrm>
            <a:off x="916458" y="1019750"/>
            <a:ext cx="214625" cy="214625"/>
            <a:chOff x="2594050" y="1631825"/>
            <a:chExt cx="439625" cy="439625"/>
          </a:xfrm>
        </p:grpSpPr>
        <p:sp>
          <p:nvSpPr>
            <p:cNvPr id="675" name="Google Shape;675;g3ddfe5db4a3_0_267"/>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g3ddfe5db4a3_0_267"/>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g3ddfe5db4a3_0_267"/>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g3ddfe5db4a3_0_267"/>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79" name="Google Shape;679;g3ddfe5db4a3_0_267"/>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pic>
        <p:nvPicPr>
          <p:cNvPr id="680" name="Google Shape;680;g3ddfe5db4a3_0_267" title="nn-calculation.png"/>
          <p:cNvPicPr preferRelativeResize="0"/>
          <p:nvPr/>
        </p:nvPicPr>
        <p:blipFill rotWithShape="1">
          <a:blip r:embed="rId3">
            <a:alphaModFix/>
          </a:blip>
          <a:srcRect b="0" l="0" r="0" t="0"/>
          <a:stretch/>
        </p:blipFill>
        <p:spPr>
          <a:xfrm>
            <a:off x="3448701" y="1484100"/>
            <a:ext cx="4344704" cy="3507000"/>
          </a:xfrm>
          <a:prstGeom prst="rect">
            <a:avLst/>
          </a:prstGeom>
          <a:noFill/>
          <a:ln>
            <a:noFill/>
          </a:ln>
        </p:spPr>
      </p:pic>
      <p:sp>
        <p:nvSpPr>
          <p:cNvPr id="681" name="Google Shape;681;g3ddfe5db4a3_0_267"/>
          <p:cNvSpPr txBox="1"/>
          <p:nvPr/>
        </p:nvSpPr>
        <p:spPr>
          <a:xfrm>
            <a:off x="755100" y="2221550"/>
            <a:ext cx="1980900" cy="122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sng" cap="none" strike="noStrike">
                <a:solidFill>
                  <a:schemeClr val="hlink"/>
                </a:solidFill>
                <a:latin typeface="Quattrocento Sans"/>
                <a:ea typeface="Quattrocento Sans"/>
                <a:cs typeface="Quattrocento Sans"/>
                <a:sym typeface="Quattrocento Sans"/>
                <a:hlinkClick r:id="rId4"/>
              </a:rPr>
              <a:t>https://www.geeksforgeeks.org/machine-learning/backpropagation-in-neural-network/</a:t>
            </a:r>
            <a:endParaRPr b="0" i="0" sz="11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cxnSp>
        <p:nvCxnSpPr>
          <p:cNvPr id="686" name="Google Shape;686;g3bbe246bff7_0_357"/>
          <p:cNvCxnSpPr/>
          <p:nvPr/>
        </p:nvCxnSpPr>
        <p:spPr>
          <a:xfrm>
            <a:off x="6450" y="1428750"/>
            <a:ext cx="2397300" cy="0"/>
          </a:xfrm>
          <a:prstGeom prst="straightConnector1">
            <a:avLst/>
          </a:prstGeom>
          <a:noFill/>
          <a:ln cap="flat" cmpd="sng" w="9525">
            <a:solidFill>
              <a:srgbClr val="CCCCCC"/>
            </a:solidFill>
            <a:prstDash val="solid"/>
            <a:round/>
            <a:headEnd len="sm" w="sm" type="none"/>
            <a:tailEnd len="sm" w="sm" type="none"/>
          </a:ln>
        </p:spPr>
      </p:cxnSp>
      <p:sp>
        <p:nvSpPr>
          <p:cNvPr id="687" name="Google Shape;687;g3bbe246bff7_0_357"/>
          <p:cNvSpPr txBox="1"/>
          <p:nvPr>
            <p:ph idx="4294967295" type="ctrTitle"/>
          </p:nvPr>
        </p:nvSpPr>
        <p:spPr>
          <a:xfrm>
            <a:off x="2371625" y="816550"/>
            <a:ext cx="6105600" cy="1159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600"/>
              </a:spcBef>
              <a:spcAft>
                <a:spcPts val="0"/>
              </a:spcAft>
              <a:buClr>
                <a:schemeClr val="dk1"/>
              </a:buClr>
              <a:buSzPts val="1100"/>
              <a:buFont typeface="Arial"/>
              <a:buNone/>
            </a:pPr>
            <a:r>
              <a:rPr b="1" i="1" lang="en" sz="2000" u="none" cap="none" strike="noStrike">
                <a:solidFill>
                  <a:schemeClr val="dk1"/>
                </a:solidFill>
                <a:latin typeface="Lora"/>
                <a:ea typeface="Lora"/>
                <a:cs typeface="Lora"/>
                <a:sym typeface="Lora"/>
              </a:rPr>
              <a:t>Question?</a:t>
            </a:r>
            <a:endParaRPr b="1" i="0" sz="4400" u="none" cap="none" strike="noStrike">
              <a:solidFill>
                <a:schemeClr val="dk1"/>
              </a:solidFill>
              <a:latin typeface="Lora"/>
              <a:ea typeface="Lora"/>
              <a:cs typeface="Lora"/>
              <a:sym typeface="Lora"/>
            </a:endParaRPr>
          </a:p>
        </p:txBody>
      </p:sp>
      <p:cxnSp>
        <p:nvCxnSpPr>
          <p:cNvPr id="688" name="Google Shape;688;g3bbe246bff7_0_357"/>
          <p:cNvCxnSpPr/>
          <p:nvPr/>
        </p:nvCxnSpPr>
        <p:spPr>
          <a:xfrm>
            <a:off x="7972425" y="1428750"/>
            <a:ext cx="1171500" cy="0"/>
          </a:xfrm>
          <a:prstGeom prst="straightConnector1">
            <a:avLst/>
          </a:prstGeom>
          <a:noFill/>
          <a:ln cap="flat" cmpd="sng" w="9525">
            <a:solidFill>
              <a:srgbClr val="CCCCCC"/>
            </a:solidFill>
            <a:prstDash val="solid"/>
            <a:round/>
            <a:headEnd len="sm" w="sm" type="none"/>
            <a:tailEnd len="sm" w="sm" type="none"/>
          </a:ln>
        </p:spPr>
      </p:cxnSp>
      <p:sp>
        <p:nvSpPr>
          <p:cNvPr id="689" name="Google Shape;689;g3bbe246bff7_0_357"/>
          <p:cNvSpPr/>
          <p:nvPr/>
        </p:nvSpPr>
        <p:spPr>
          <a:xfrm>
            <a:off x="831925" y="859175"/>
            <a:ext cx="1139100" cy="1139100"/>
          </a:xfrm>
          <a:prstGeom prst="ellipse">
            <a:avLst/>
          </a:prstGeom>
          <a:solidFill>
            <a:srgbClr val="FFC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g3bbe246bff7_0_357"/>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pSp>
        <p:nvGrpSpPr>
          <p:cNvPr id="691" name="Google Shape;691;g3bbe246bff7_0_357"/>
          <p:cNvGrpSpPr/>
          <p:nvPr/>
        </p:nvGrpSpPr>
        <p:grpSpPr>
          <a:xfrm>
            <a:off x="1209514" y="1124425"/>
            <a:ext cx="383935" cy="608659"/>
            <a:chOff x="6718575" y="2318625"/>
            <a:chExt cx="256950" cy="407375"/>
          </a:xfrm>
        </p:grpSpPr>
        <p:sp>
          <p:nvSpPr>
            <p:cNvPr id="692" name="Google Shape;692;g3bbe246bff7_0_357"/>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693" name="Google Shape;693;g3bbe246bff7_0_357"/>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694" name="Google Shape;694;g3bbe246bff7_0_357"/>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695" name="Google Shape;695;g3bbe246bff7_0_357"/>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696" name="Google Shape;696;g3bbe246bff7_0_357"/>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697" name="Google Shape;697;g3bbe246bff7_0_357"/>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698" name="Google Shape;698;g3bbe246bff7_0_357"/>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sp>
          <p:nvSpPr>
            <p:cNvPr id="699" name="Google Shape;699;g3bbe246bff7_0_357"/>
            <p:cNvSpPr/>
            <p:nvPr/>
          </p:nvSpPr>
          <p:spPr>
            <a:xfrm>
              <a:off x="6795900" y="2628550"/>
              <a:ext cx="102300" cy="25"/>
            </a:xfrm>
            <a:custGeom>
              <a:rect b="b" l="l" r="r" t="t"/>
              <a:pathLst>
                <a:path extrusionOk="0" fill="none" h="1" w="4092">
                  <a:moveTo>
                    <a:pt x="0" y="1"/>
                  </a:moveTo>
                  <a:lnTo>
                    <a:pt x="4092" y="1"/>
                  </a:lnTo>
                </a:path>
              </a:pathLst>
            </a:custGeom>
            <a:noFill/>
            <a:ln cap="rnd" cmpd="sng" w="16925">
              <a:solidFill>
                <a:srgbClr val="000000"/>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2489"/>
                <a:buFont typeface="Arial"/>
                <a:buNone/>
              </a:pPr>
              <a:r>
                <a:t/>
              </a:r>
              <a:endParaRPr b="0" i="0" sz="2488" u="none" cap="none" strike="noStrike">
                <a:solidFill>
                  <a:srgbClr val="000000"/>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g3bbe246bff7_0_74"/>
          <p:cNvSpPr txBox="1"/>
          <p:nvPr>
            <p:ph type="title"/>
          </p:nvPr>
        </p:nvSpPr>
        <p:spPr>
          <a:xfrm>
            <a:off x="1305050" y="896100"/>
            <a:ext cx="41601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How it all fits together!</a:t>
            </a:r>
            <a:endParaRPr>
              <a:highlight>
                <a:schemeClr val="accent1"/>
              </a:highlight>
            </a:endParaRPr>
          </a:p>
        </p:txBody>
      </p:sp>
      <p:sp>
        <p:nvSpPr>
          <p:cNvPr id="705" name="Google Shape;705;g3bbe246bff7_0_74"/>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grpSp>
        <p:nvGrpSpPr>
          <p:cNvPr id="706" name="Google Shape;706;g3bbe246bff7_0_74"/>
          <p:cNvGrpSpPr/>
          <p:nvPr/>
        </p:nvGrpSpPr>
        <p:grpSpPr>
          <a:xfrm>
            <a:off x="916458" y="1019750"/>
            <a:ext cx="214625" cy="214625"/>
            <a:chOff x="2594050" y="1631825"/>
            <a:chExt cx="439625" cy="439625"/>
          </a:xfrm>
        </p:grpSpPr>
        <p:sp>
          <p:nvSpPr>
            <p:cNvPr id="707" name="Google Shape;707;g3bbe246bff7_0_74"/>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g3bbe246bff7_0_74"/>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g3bbe246bff7_0_74"/>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g3bbe246bff7_0_74"/>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711" name="Google Shape;711;g3bbe246bff7_0_74" title="Screen Shot 2025-05-04 at 4.17.07 PM.png"/>
          <p:cNvPicPr preferRelativeResize="0"/>
          <p:nvPr/>
        </p:nvPicPr>
        <p:blipFill rotWithShape="1">
          <a:blip r:embed="rId3">
            <a:alphaModFix/>
          </a:blip>
          <a:srcRect b="1933" l="0" r="0" t="14349"/>
          <a:stretch/>
        </p:blipFill>
        <p:spPr>
          <a:xfrm>
            <a:off x="1482800" y="1602225"/>
            <a:ext cx="5861775" cy="2743200"/>
          </a:xfrm>
          <a:prstGeom prst="rect">
            <a:avLst/>
          </a:prstGeom>
          <a:noFill/>
          <a:ln cap="flat" cmpd="sng" w="9525">
            <a:solidFill>
              <a:schemeClr val="lt1"/>
            </a:solidFill>
            <a:prstDash val="solid"/>
            <a:round/>
            <a:headEnd len="sm" w="sm" type="none"/>
            <a:tailEnd len="sm" w="sm" type="none"/>
          </a:ln>
        </p:spPr>
      </p:pic>
      <p:sp>
        <p:nvSpPr>
          <p:cNvPr id="712" name="Google Shape;712;g3bbe246bff7_0_74"/>
          <p:cNvSpPr txBox="1"/>
          <p:nvPr/>
        </p:nvSpPr>
        <p:spPr>
          <a:xfrm>
            <a:off x="449250" y="2058150"/>
            <a:ext cx="2520000" cy="861900"/>
          </a:xfrm>
          <a:prstGeom prst="rect">
            <a:avLst/>
          </a:prstGeom>
          <a:noFill/>
          <a:ln cap="flat" cmpd="sng" w="28575">
            <a:solidFill>
              <a:srgbClr val="204E79"/>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100"/>
              <a:buFont typeface="Arial"/>
              <a:buNone/>
            </a:pPr>
            <a:r>
              <a:rPr b="0" i="0" lang="en" sz="1100" u="none" cap="none" strike="noStrike">
                <a:solidFill>
                  <a:srgbClr val="204E79"/>
                </a:solidFill>
                <a:highlight>
                  <a:srgbClr val="FFFFFF"/>
                </a:highlight>
                <a:latin typeface="Quattrocento Sans"/>
                <a:ea typeface="Quattrocento Sans"/>
                <a:cs typeface="Quattrocento Sans"/>
                <a:sym typeface="Quattrocento Sans"/>
              </a:rPr>
              <a:t>The process of examining, cleaning, transforming, and interpreting data to discover useful insights and support decision-making.</a:t>
            </a:r>
            <a:endParaRPr b="0" i="0" sz="1300" u="none" cap="none" strike="noStrike">
              <a:solidFill>
                <a:srgbClr val="204E79"/>
              </a:solidFill>
              <a:latin typeface="Quattrocento Sans"/>
              <a:ea typeface="Quattrocento Sans"/>
              <a:cs typeface="Quattrocento Sans"/>
              <a:sym typeface="Quattrocento Sans"/>
            </a:endParaRPr>
          </a:p>
        </p:txBody>
      </p:sp>
      <p:sp>
        <p:nvSpPr>
          <p:cNvPr id="713" name="Google Shape;713;g3bbe246bff7_0_74"/>
          <p:cNvSpPr txBox="1"/>
          <p:nvPr/>
        </p:nvSpPr>
        <p:spPr>
          <a:xfrm>
            <a:off x="5853750" y="1518900"/>
            <a:ext cx="2820900" cy="861900"/>
          </a:xfrm>
          <a:prstGeom prst="rect">
            <a:avLst/>
          </a:prstGeom>
          <a:noFill/>
          <a:ln cap="flat" cmpd="sng" w="28575">
            <a:solidFill>
              <a:srgbClr val="ED7C3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100"/>
              <a:buFont typeface="Arial"/>
              <a:buNone/>
            </a:pPr>
            <a:r>
              <a:rPr b="0" i="0" lang="en" sz="1100" u="none" cap="none" strike="noStrike">
                <a:solidFill>
                  <a:srgbClr val="ED7C31"/>
                </a:solidFill>
                <a:highlight>
                  <a:srgbClr val="FFFFFF"/>
                </a:highlight>
                <a:latin typeface="Quattrocento Sans"/>
                <a:ea typeface="Quattrocento Sans"/>
                <a:cs typeface="Quattrocento Sans"/>
                <a:sym typeface="Quattrocento Sans"/>
              </a:rPr>
              <a:t>Uses various techniques, including machine learning &amp; deep learning, to create systems that mimic human-like intelligence, reasoning, &amp; problem-solving.</a:t>
            </a:r>
            <a:endParaRPr b="0" i="0" sz="1200" u="none" cap="none" strike="noStrike">
              <a:solidFill>
                <a:srgbClr val="ED7C31"/>
              </a:solidFill>
              <a:latin typeface="Quattrocento Sans"/>
              <a:ea typeface="Quattrocento Sans"/>
              <a:cs typeface="Quattrocento Sans"/>
              <a:sym typeface="Quattrocento Sans"/>
            </a:endParaRPr>
          </a:p>
        </p:txBody>
      </p:sp>
      <p:sp>
        <p:nvSpPr>
          <p:cNvPr id="714" name="Google Shape;714;g3bbe246bff7_0_74"/>
          <p:cNvSpPr txBox="1"/>
          <p:nvPr/>
        </p:nvSpPr>
        <p:spPr>
          <a:xfrm>
            <a:off x="584250" y="3349138"/>
            <a:ext cx="2385000" cy="692700"/>
          </a:xfrm>
          <a:prstGeom prst="rect">
            <a:avLst/>
          </a:prstGeom>
          <a:noFill/>
          <a:ln cap="flat" cmpd="sng" w="28575">
            <a:solidFill>
              <a:srgbClr val="A5A5A5"/>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100"/>
              <a:buFont typeface="Arial"/>
              <a:buNone/>
            </a:pPr>
            <a:r>
              <a:rPr b="0" i="0" lang="en" sz="1100" u="none" cap="none" strike="noStrike">
                <a:solidFill>
                  <a:srgbClr val="666666"/>
                </a:solidFill>
                <a:highlight>
                  <a:srgbClr val="FFFFFF"/>
                </a:highlight>
                <a:latin typeface="Quattrocento Sans"/>
                <a:ea typeface="Quattrocento Sans"/>
                <a:cs typeface="Quattrocento Sans"/>
                <a:sym typeface="Quattrocento Sans"/>
              </a:rPr>
              <a:t>Involves the use of algorithms to enable computers to learn from data and make predictions or decisions.</a:t>
            </a:r>
            <a:endParaRPr b="0" i="0" sz="1200" u="none" cap="none" strike="noStrike">
              <a:solidFill>
                <a:srgbClr val="666666"/>
              </a:solidFill>
              <a:latin typeface="Quattrocento Sans"/>
              <a:ea typeface="Quattrocento Sans"/>
              <a:cs typeface="Quattrocento Sans"/>
              <a:sym typeface="Quattrocento Sans"/>
            </a:endParaRPr>
          </a:p>
        </p:txBody>
      </p:sp>
      <p:sp>
        <p:nvSpPr>
          <p:cNvPr id="715" name="Google Shape;715;g3bbe246bff7_0_74"/>
          <p:cNvSpPr txBox="1"/>
          <p:nvPr/>
        </p:nvSpPr>
        <p:spPr>
          <a:xfrm>
            <a:off x="6012750" y="2679100"/>
            <a:ext cx="2385000" cy="938100"/>
          </a:xfrm>
          <a:prstGeom prst="rect">
            <a:avLst/>
          </a:prstGeom>
          <a:noFill/>
          <a:ln cap="flat" cmpd="sng" w="28575">
            <a:solidFill>
              <a:srgbClr val="BF900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1100"/>
              <a:buFont typeface="Arial"/>
              <a:buNone/>
            </a:pPr>
            <a:r>
              <a:rPr b="0" i="0" lang="en" sz="1100" u="none" cap="none" strike="noStrike">
                <a:solidFill>
                  <a:srgbClr val="BF9001"/>
                </a:solidFill>
                <a:highlight>
                  <a:srgbClr val="FFFFFF"/>
                </a:highlight>
                <a:latin typeface="Quattrocento Sans"/>
                <a:ea typeface="Quattrocento Sans"/>
                <a:cs typeface="Quattrocento Sans"/>
                <a:sym typeface="Quattrocento Sans"/>
              </a:rPr>
              <a:t>Focuses on neural networks with many layers. It excels at tasks involving unstructured data like images, audio, and natural language.</a:t>
            </a:r>
            <a:endParaRPr b="0" i="0" sz="1000" u="none" cap="none" strike="noStrike">
              <a:solidFill>
                <a:srgbClr val="BF9001"/>
              </a:solidFill>
              <a:highlight>
                <a:srgbClr val="FFFFFF"/>
              </a:highlight>
              <a:latin typeface="Quattrocento Sans"/>
              <a:ea typeface="Quattrocento Sans"/>
              <a:cs typeface="Quattrocento Sans"/>
              <a:sym typeface="Quattrocento Sans"/>
            </a:endParaRPr>
          </a:p>
        </p:txBody>
      </p:sp>
      <p:sp>
        <p:nvSpPr>
          <p:cNvPr id="716" name="Google Shape;716;g3bbe246bff7_0_74"/>
          <p:cNvSpPr txBox="1"/>
          <p:nvPr/>
        </p:nvSpPr>
        <p:spPr>
          <a:xfrm>
            <a:off x="5305000" y="4144700"/>
            <a:ext cx="3034200" cy="743400"/>
          </a:xfrm>
          <a:prstGeom prst="rect">
            <a:avLst/>
          </a:prstGeom>
          <a:noFill/>
          <a:ln cap="flat" cmpd="sng" w="28575">
            <a:solidFill>
              <a:srgbClr val="E7E6E6"/>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0" i="0" lang="en" sz="1100" u="none" cap="none" strike="noStrike">
                <a:solidFill>
                  <a:schemeClr val="dk1"/>
                </a:solidFill>
                <a:highlight>
                  <a:srgbClr val="FFFFFF"/>
                </a:highlight>
                <a:latin typeface="Quattrocento Sans"/>
                <a:ea typeface="Quattrocento Sans"/>
                <a:cs typeface="Quattrocento Sans"/>
                <a:sym typeface="Quattrocento Sans"/>
              </a:rPr>
              <a:t>Focuses on creating systems capable of generating new and creative content, such as text, images, or music, in a human-like manner.</a:t>
            </a:r>
            <a:endParaRPr b="0" i="0" sz="1000" u="none" cap="none" strike="noStrike">
              <a:solidFill>
                <a:schemeClr val="dk1"/>
              </a:solidFill>
              <a:highlight>
                <a:srgbClr val="FFFFFF"/>
              </a:highlight>
              <a:latin typeface="Quattrocento Sans"/>
              <a:ea typeface="Quattrocento Sans"/>
              <a:cs typeface="Quattrocento Sans"/>
              <a:sym typeface="Quattrocento Sans"/>
            </a:endParaRPr>
          </a:p>
        </p:txBody>
      </p:sp>
      <p:cxnSp>
        <p:nvCxnSpPr>
          <p:cNvPr id="717" name="Google Shape;717;g3bbe246bff7_0_74"/>
          <p:cNvCxnSpPr>
            <a:stCxn id="712" idx="3"/>
          </p:cNvCxnSpPr>
          <p:nvPr/>
        </p:nvCxnSpPr>
        <p:spPr>
          <a:xfrm flipH="1" rot="10800000">
            <a:off x="2969250" y="2480400"/>
            <a:ext cx="528600" cy="8700"/>
          </a:xfrm>
          <a:prstGeom prst="straightConnector1">
            <a:avLst/>
          </a:prstGeom>
          <a:noFill/>
          <a:ln cap="flat" cmpd="sng" w="28575">
            <a:solidFill>
              <a:srgbClr val="204E79"/>
            </a:solidFill>
            <a:prstDash val="solid"/>
            <a:round/>
            <a:headEnd len="sm" w="sm" type="none"/>
            <a:tailEnd len="sm" w="sm" type="none"/>
          </a:ln>
        </p:spPr>
      </p:cxnSp>
      <p:cxnSp>
        <p:nvCxnSpPr>
          <p:cNvPr id="718" name="Google Shape;718;g3bbe246bff7_0_74"/>
          <p:cNvCxnSpPr>
            <a:stCxn id="714" idx="3"/>
          </p:cNvCxnSpPr>
          <p:nvPr/>
        </p:nvCxnSpPr>
        <p:spPr>
          <a:xfrm flipH="1" rot="10800000">
            <a:off x="2969250" y="3689788"/>
            <a:ext cx="781200" cy="5700"/>
          </a:xfrm>
          <a:prstGeom prst="straightConnector1">
            <a:avLst/>
          </a:prstGeom>
          <a:noFill/>
          <a:ln cap="flat" cmpd="sng" w="28575">
            <a:solidFill>
              <a:srgbClr val="A5A5A5"/>
            </a:solidFill>
            <a:prstDash val="solid"/>
            <a:round/>
            <a:headEnd len="sm" w="sm" type="none"/>
            <a:tailEnd len="sm" w="sm" type="none"/>
          </a:ln>
        </p:spPr>
      </p:cxnSp>
      <p:cxnSp>
        <p:nvCxnSpPr>
          <p:cNvPr id="719" name="Google Shape;719;g3bbe246bff7_0_74"/>
          <p:cNvCxnSpPr>
            <a:stCxn id="716" idx="1"/>
          </p:cNvCxnSpPr>
          <p:nvPr/>
        </p:nvCxnSpPr>
        <p:spPr>
          <a:xfrm rot="10800000">
            <a:off x="4603000" y="4237100"/>
            <a:ext cx="702000" cy="279300"/>
          </a:xfrm>
          <a:prstGeom prst="straightConnector1">
            <a:avLst/>
          </a:prstGeom>
          <a:noFill/>
          <a:ln cap="flat" cmpd="sng" w="28575">
            <a:solidFill>
              <a:srgbClr val="E7E6E6"/>
            </a:solidFill>
            <a:prstDash val="solid"/>
            <a:round/>
            <a:headEnd len="sm" w="sm" type="none"/>
            <a:tailEnd len="sm" w="sm" type="none"/>
          </a:ln>
        </p:spPr>
      </p:cxnSp>
      <p:cxnSp>
        <p:nvCxnSpPr>
          <p:cNvPr id="720" name="Google Shape;720;g3bbe246bff7_0_74"/>
          <p:cNvCxnSpPr>
            <a:stCxn id="715" idx="1"/>
          </p:cNvCxnSpPr>
          <p:nvPr/>
        </p:nvCxnSpPr>
        <p:spPr>
          <a:xfrm flipH="1">
            <a:off x="4865250" y="3148150"/>
            <a:ext cx="1147500" cy="572400"/>
          </a:xfrm>
          <a:prstGeom prst="straightConnector1">
            <a:avLst/>
          </a:prstGeom>
          <a:noFill/>
          <a:ln cap="flat" cmpd="sng" w="28575">
            <a:solidFill>
              <a:srgbClr val="BF9001"/>
            </a:solidFill>
            <a:prstDash val="solid"/>
            <a:round/>
            <a:headEnd len="sm" w="sm" type="none"/>
            <a:tailEnd len="sm" w="sm" type="none"/>
          </a:ln>
        </p:spPr>
      </p:cxnSp>
      <p:cxnSp>
        <p:nvCxnSpPr>
          <p:cNvPr id="721" name="Google Shape;721;g3bbe246bff7_0_74"/>
          <p:cNvCxnSpPr>
            <a:stCxn id="713" idx="1"/>
          </p:cNvCxnSpPr>
          <p:nvPr/>
        </p:nvCxnSpPr>
        <p:spPr>
          <a:xfrm flipH="1">
            <a:off x="5191350" y="1949850"/>
            <a:ext cx="662400" cy="951900"/>
          </a:xfrm>
          <a:prstGeom prst="straightConnector1">
            <a:avLst/>
          </a:prstGeom>
          <a:noFill/>
          <a:ln cap="flat" cmpd="sng" w="28575">
            <a:solidFill>
              <a:srgbClr val="ED7C3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bbe246bff7_0_0"/>
          <p:cNvSpPr txBox="1"/>
          <p:nvPr>
            <p:ph type="title"/>
          </p:nvPr>
        </p:nvSpPr>
        <p:spPr>
          <a:xfrm>
            <a:off x="1305050" y="896100"/>
            <a:ext cx="41601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 Refresher</a:t>
            </a:r>
            <a:endParaRPr/>
          </a:p>
        </p:txBody>
      </p:sp>
      <p:sp>
        <p:nvSpPr>
          <p:cNvPr id="727" name="Google Shape;727;g3bbe246bff7_0_0"/>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728" name="Google Shape;728;g3bbe246bff7_0_0"/>
          <p:cNvSpPr txBox="1"/>
          <p:nvPr/>
        </p:nvSpPr>
        <p:spPr>
          <a:xfrm>
            <a:off x="578650" y="1527700"/>
            <a:ext cx="8170200" cy="1720200"/>
          </a:xfrm>
          <a:prstGeom prst="rect">
            <a:avLst/>
          </a:prstGeom>
          <a:noFill/>
          <a:ln>
            <a:noFill/>
          </a:ln>
        </p:spPr>
        <p:txBody>
          <a:bodyPr anchorCtr="0" anchor="t" bIns="0" lIns="0" spcFirstLastPara="1" rIns="0" wrap="square" tIns="0">
            <a:noAutofit/>
          </a:bodyPr>
          <a:lstStyle/>
          <a:p>
            <a:pPr indent="-190500" lvl="0" marL="342900" marR="0" rtl="0" algn="l">
              <a:lnSpc>
                <a:spcPct val="100000"/>
              </a:lnSpc>
              <a:spcBef>
                <a:spcPts val="300"/>
              </a:spcBef>
              <a:spcAft>
                <a:spcPts val="0"/>
              </a:spcAft>
              <a:buClr>
                <a:schemeClr val="accent1"/>
              </a:buClr>
              <a:buSzPts val="1200"/>
              <a:buFont typeface="Quattrocento Sans"/>
              <a:buChar char="◉"/>
            </a:pPr>
            <a:r>
              <a:rPr b="1" i="1" lang="en" sz="1400" u="none" cap="none" strike="noStrike">
                <a:solidFill>
                  <a:schemeClr val="dk1"/>
                </a:solidFill>
                <a:highlight>
                  <a:schemeClr val="lt1"/>
                </a:highlight>
                <a:latin typeface="Lora"/>
                <a:ea typeface="Lora"/>
                <a:cs typeface="Lora"/>
                <a:sym typeface="Lora"/>
              </a:rPr>
              <a:t>Computer Science</a:t>
            </a:r>
            <a:r>
              <a:rPr b="0" i="1" lang="en" sz="1400" u="none" cap="none" strike="noStrike">
                <a:solidFill>
                  <a:schemeClr val="dk1"/>
                </a:solidFill>
                <a:highlight>
                  <a:schemeClr val="lt1"/>
                </a:highlight>
                <a:latin typeface="Lora"/>
                <a:ea typeface="Lora"/>
                <a:cs typeface="Lora"/>
                <a:sym typeface="Lora"/>
              </a:rPr>
              <a:t> </a:t>
            </a:r>
            <a:r>
              <a:rPr b="0" i="1" lang="en" sz="1200" u="none" cap="none" strike="noStrike">
                <a:solidFill>
                  <a:schemeClr val="dk1"/>
                </a:solidFill>
                <a:highlight>
                  <a:schemeClr val="lt1"/>
                </a:highlight>
                <a:latin typeface="Lora"/>
                <a:ea typeface="Lora"/>
                <a:cs typeface="Lora"/>
                <a:sym typeface="Lora"/>
              </a:rPr>
              <a:t>is about studying how to use Algorithms to solve problems</a:t>
            </a:r>
            <a:endParaRPr b="0" i="1" sz="1200" u="none" cap="none" strike="noStrike">
              <a:solidFill>
                <a:schemeClr val="dk1"/>
              </a:solidFill>
              <a:highlight>
                <a:schemeClr val="lt1"/>
              </a:highlight>
              <a:latin typeface="Lora"/>
              <a:ea typeface="Lora"/>
              <a:cs typeface="Lora"/>
              <a:sym typeface="Lora"/>
            </a:endParaRPr>
          </a:p>
          <a:p>
            <a:pPr indent="-190500" lvl="0" marL="342900" marR="0" rtl="0" algn="l">
              <a:lnSpc>
                <a:spcPct val="100000"/>
              </a:lnSpc>
              <a:spcBef>
                <a:spcPts val="800"/>
              </a:spcBef>
              <a:spcAft>
                <a:spcPts val="0"/>
              </a:spcAft>
              <a:buClr>
                <a:schemeClr val="accent1"/>
              </a:buClr>
              <a:buSzPts val="1200"/>
              <a:buFont typeface="Quattrocento Sans"/>
              <a:buChar char="◉"/>
            </a:pPr>
            <a:r>
              <a:rPr b="1" i="1" lang="en" sz="1400" u="none" cap="none" strike="noStrike">
                <a:solidFill>
                  <a:schemeClr val="dk1"/>
                </a:solidFill>
                <a:highlight>
                  <a:schemeClr val="lt1"/>
                </a:highlight>
                <a:latin typeface="Lora"/>
                <a:ea typeface="Lora"/>
                <a:cs typeface="Lora"/>
                <a:sym typeface="Lora"/>
              </a:rPr>
              <a:t>Algorithms:</a:t>
            </a:r>
            <a:r>
              <a:rPr b="0" i="0" lang="en" sz="14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highlight>
                  <a:schemeClr val="lt1"/>
                </a:highlight>
                <a:latin typeface="Quattrocento Sans"/>
                <a:ea typeface="Quattrocento Sans"/>
                <a:cs typeface="Quattrocento Sans"/>
                <a:sym typeface="Quattrocento Sans"/>
              </a:rPr>
              <a:t>Sequences of instruction that </a:t>
            </a:r>
            <a:r>
              <a:rPr b="0" i="0" lang="en" sz="1300" u="none" cap="none" strike="noStrike">
                <a:solidFill>
                  <a:schemeClr val="dk1"/>
                </a:solidFill>
                <a:highlight>
                  <a:schemeClr val="lt1"/>
                </a:highlight>
                <a:latin typeface="Quattrocento Sans"/>
                <a:ea typeface="Quattrocento Sans"/>
                <a:cs typeface="Quattrocento Sans"/>
                <a:sym typeface="Quattrocento Sans"/>
              </a:rPr>
              <a:t>does a task and </a:t>
            </a:r>
            <a:r>
              <a:rPr b="0" i="0" lang="en" sz="1200" u="none" cap="none" strike="noStrike">
                <a:solidFill>
                  <a:schemeClr val="dk1"/>
                </a:solidFill>
                <a:highlight>
                  <a:schemeClr val="lt1"/>
                </a:highlight>
                <a:latin typeface="Quattrocento Sans"/>
                <a:ea typeface="Quattrocento Sans"/>
                <a:cs typeface="Quattrocento Sans"/>
                <a:sym typeface="Quattrocento Sans"/>
              </a:rPr>
              <a:t>leads to a solution.</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190500" lvl="0" marL="342900" marR="0" rtl="0" algn="l">
              <a:lnSpc>
                <a:spcPct val="100000"/>
              </a:lnSpc>
              <a:spcBef>
                <a:spcPts val="800"/>
              </a:spcBef>
              <a:spcAft>
                <a:spcPts val="0"/>
              </a:spcAft>
              <a:buClr>
                <a:schemeClr val="accent1"/>
              </a:buClr>
              <a:buSzPts val="1200"/>
              <a:buFont typeface="Quattrocento Sans"/>
              <a:buChar char="◉"/>
            </a:pPr>
            <a:r>
              <a:rPr b="1" i="1" lang="en" sz="1400" u="none" cap="none" strike="noStrike">
                <a:solidFill>
                  <a:schemeClr val="dk1"/>
                </a:solidFill>
                <a:highlight>
                  <a:schemeClr val="lt1"/>
                </a:highlight>
                <a:latin typeface="Lora"/>
                <a:ea typeface="Lora"/>
                <a:cs typeface="Lora"/>
                <a:sym typeface="Lora"/>
              </a:rPr>
              <a:t>Program: </a:t>
            </a:r>
            <a:r>
              <a:rPr b="0" i="0" lang="en" sz="1200" u="none" cap="none" strike="noStrike">
                <a:solidFill>
                  <a:schemeClr val="dk1"/>
                </a:solidFill>
                <a:highlight>
                  <a:schemeClr val="lt1"/>
                </a:highlight>
                <a:latin typeface="Quattrocento Sans"/>
                <a:ea typeface="Quattrocento Sans"/>
                <a:cs typeface="Quattrocento Sans"/>
                <a:sym typeface="Quattrocento Sans"/>
              </a:rPr>
              <a:t>Algorithms expressed in</a:t>
            </a:r>
            <a:r>
              <a:rPr b="0" i="0" lang="en" sz="1300" u="none" cap="none" strike="noStrike">
                <a:solidFill>
                  <a:schemeClr val="dk1"/>
                </a:solidFill>
                <a:highlight>
                  <a:schemeClr val="lt1"/>
                </a:highlight>
                <a:latin typeface="Quattrocento Sans"/>
                <a:ea typeface="Quattrocento Sans"/>
                <a:cs typeface="Quattrocento Sans"/>
                <a:sym typeface="Quattrocento Sans"/>
              </a:rPr>
              <a:t> a language the computer can understand.</a:t>
            </a:r>
            <a:endParaRPr b="0" i="0" sz="1300" u="none" cap="none" strike="noStrike">
              <a:solidFill>
                <a:schemeClr val="dk1"/>
              </a:solidFill>
              <a:highlight>
                <a:schemeClr val="lt1"/>
              </a:highlight>
              <a:latin typeface="Quattrocento Sans"/>
              <a:ea typeface="Quattrocento Sans"/>
              <a:cs typeface="Quattrocento Sans"/>
              <a:sym typeface="Quattrocento Sans"/>
            </a:endParaRPr>
          </a:p>
          <a:p>
            <a:pPr indent="-190500" lvl="0" marL="342900" marR="0" rtl="0" algn="l">
              <a:lnSpc>
                <a:spcPct val="100000"/>
              </a:lnSpc>
              <a:spcBef>
                <a:spcPts val="800"/>
              </a:spcBef>
              <a:spcAft>
                <a:spcPts val="0"/>
              </a:spcAft>
              <a:buClr>
                <a:schemeClr val="accent1"/>
              </a:buClr>
              <a:buSzPts val="1200"/>
              <a:buFont typeface="Quattrocento Sans"/>
              <a:buChar char="◉"/>
            </a:pPr>
            <a:r>
              <a:rPr b="1" i="1" lang="en" sz="1400" u="none" cap="none" strike="noStrike">
                <a:solidFill>
                  <a:schemeClr val="dk1"/>
                </a:solidFill>
                <a:highlight>
                  <a:schemeClr val="lt1"/>
                </a:highlight>
                <a:latin typeface="Lora"/>
                <a:ea typeface="Lora"/>
                <a:cs typeface="Lora"/>
                <a:sym typeface="Lora"/>
              </a:rPr>
              <a:t>Artificial Intelligence:</a:t>
            </a:r>
            <a:r>
              <a:rPr b="1" i="1" lang="en" sz="1200" u="none" cap="none" strike="noStrike">
                <a:solidFill>
                  <a:schemeClr val="dk1"/>
                </a:solidFill>
                <a:latin typeface="Quattrocento Sans"/>
                <a:ea typeface="Quattrocento Sans"/>
                <a:cs typeface="Quattrocento Sans"/>
                <a:sym typeface="Quattrocento Sans"/>
              </a:rPr>
              <a:t> </a:t>
            </a:r>
            <a:endParaRPr b="1" i="1" sz="1200" u="none" cap="none" strike="noStrike">
              <a:solidFill>
                <a:schemeClr val="dk1"/>
              </a:solidFill>
              <a:latin typeface="Quattrocento Sans"/>
              <a:ea typeface="Quattrocento Sans"/>
              <a:cs typeface="Quattrocento Sans"/>
              <a:sym typeface="Quattrocento Sans"/>
            </a:endParaRPr>
          </a:p>
          <a:p>
            <a:pPr indent="0" lvl="0" marL="685800" marR="0" rtl="0" algn="l">
              <a:lnSpc>
                <a:spcPct val="100000"/>
              </a:lnSpc>
              <a:spcBef>
                <a:spcPts val="300"/>
              </a:spcBef>
              <a:spcAft>
                <a:spcPts val="0"/>
              </a:spcAft>
              <a:buClr>
                <a:srgbClr val="000000"/>
              </a:buClr>
              <a:buSzPts val="1300"/>
              <a:buFont typeface="Arial"/>
              <a:buNone/>
            </a:pPr>
            <a:r>
              <a:rPr b="0" i="0" lang="en" sz="1300" u="sng" cap="none" strike="noStrike">
                <a:solidFill>
                  <a:schemeClr val="hlink"/>
                </a:solidFill>
                <a:latin typeface="Quattrocento Sans"/>
                <a:ea typeface="Quattrocento Sans"/>
                <a:cs typeface="Quattrocento Sans"/>
                <a:sym typeface="Quattrocento Sans"/>
                <a:hlinkClick r:id="rId3"/>
              </a:rPr>
              <a:t>Capability of computer systems to perform tasks typically associated with human intelligence</a:t>
            </a:r>
            <a:endParaRPr b="0" i="0" sz="1300" u="none" cap="none" strike="noStrike">
              <a:solidFill>
                <a:schemeClr val="dk1"/>
              </a:solidFill>
              <a:latin typeface="Quattrocento Sans"/>
              <a:ea typeface="Quattrocento Sans"/>
              <a:cs typeface="Quattrocento Sans"/>
              <a:sym typeface="Quattrocento Sans"/>
            </a:endParaRPr>
          </a:p>
          <a:p>
            <a:pPr indent="0" lvl="0" marL="514350" marR="0" rtl="0" algn="l">
              <a:lnSpc>
                <a:spcPct val="100000"/>
              </a:lnSpc>
              <a:spcBef>
                <a:spcPts val="800"/>
              </a:spcBef>
              <a:spcAft>
                <a:spcPts val="0"/>
              </a:spcAft>
              <a:buClr>
                <a:srgbClr val="000000"/>
              </a:buClr>
              <a:buSzPts val="1300"/>
              <a:buFont typeface="Arial"/>
              <a:buNone/>
            </a:pPr>
            <a:r>
              <a:t/>
            </a:r>
            <a:endParaRPr b="0" i="0" sz="1300" u="none" cap="none" strike="noStrike">
              <a:solidFill>
                <a:schemeClr val="dk1"/>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800"/>
              </a:spcBef>
              <a:spcAft>
                <a:spcPts val="800"/>
              </a:spcAft>
              <a:buClr>
                <a:srgbClr val="000000"/>
              </a:buClr>
              <a:buSzPts val="1300"/>
              <a:buFont typeface="Arial"/>
              <a:buNone/>
            </a:pPr>
            <a:r>
              <a:t/>
            </a:r>
            <a:endParaRPr b="0" i="0" sz="1300" u="none" cap="none" strike="noStrike">
              <a:solidFill>
                <a:schemeClr val="dk1"/>
              </a:solidFill>
              <a:highlight>
                <a:srgbClr val="FFFFFF"/>
              </a:highlight>
              <a:latin typeface="Quattrocento Sans"/>
              <a:ea typeface="Quattrocento Sans"/>
              <a:cs typeface="Quattrocento Sans"/>
              <a:sym typeface="Quattrocento Sans"/>
            </a:endParaRPr>
          </a:p>
        </p:txBody>
      </p:sp>
      <p:grpSp>
        <p:nvGrpSpPr>
          <p:cNvPr id="729" name="Google Shape;729;g3bbe246bff7_0_0"/>
          <p:cNvGrpSpPr/>
          <p:nvPr/>
        </p:nvGrpSpPr>
        <p:grpSpPr>
          <a:xfrm>
            <a:off x="916458" y="1019750"/>
            <a:ext cx="214625" cy="214625"/>
            <a:chOff x="2594050" y="1631825"/>
            <a:chExt cx="439625" cy="439625"/>
          </a:xfrm>
        </p:grpSpPr>
        <p:sp>
          <p:nvSpPr>
            <p:cNvPr id="730" name="Google Shape;730;g3bbe246bff7_0_0"/>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g3bbe246bff7_0_0"/>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g3bbe246bff7_0_0"/>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g3bbe246bff7_0_0"/>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4" name="Google Shape;734;g3bbe246bff7_0_0"/>
          <p:cNvSpPr/>
          <p:nvPr/>
        </p:nvSpPr>
        <p:spPr>
          <a:xfrm>
            <a:off x="0" y="3355325"/>
            <a:ext cx="9149700" cy="178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t/>
            </a:r>
            <a:endParaRPr b="1" i="1" sz="1300" u="none" cap="none" strike="noStrike">
              <a:solidFill>
                <a:srgbClr val="000000"/>
              </a:solidFill>
              <a:latin typeface="Lora"/>
              <a:ea typeface="Lora"/>
              <a:cs typeface="Lora"/>
              <a:sym typeface="Lora"/>
            </a:endParaRPr>
          </a:p>
          <a:p>
            <a:pPr indent="0" lvl="0" marL="0" marR="0" rtl="0" algn="ctr">
              <a:lnSpc>
                <a:spcPct val="100000"/>
              </a:lnSpc>
              <a:spcBef>
                <a:spcPts val="0"/>
              </a:spcBef>
              <a:spcAft>
                <a:spcPts val="0"/>
              </a:spcAft>
              <a:buClr>
                <a:srgbClr val="000000"/>
              </a:buClr>
              <a:buSzPts val="1300"/>
              <a:buFont typeface="Arial"/>
              <a:buNone/>
            </a:pPr>
            <a:r>
              <a:rPr b="1" i="1" lang="en" sz="1300" u="none" cap="none" strike="noStrike">
                <a:solidFill>
                  <a:srgbClr val="000000"/>
                </a:solidFill>
                <a:latin typeface="Lora"/>
                <a:ea typeface="Lora"/>
                <a:cs typeface="Lora"/>
                <a:sym typeface="Lora"/>
              </a:rPr>
              <a:t>Programming is Thinking, not Typing.</a:t>
            </a:r>
            <a:endParaRPr b="1" i="1" sz="1300" u="none" cap="none" strike="noStrike">
              <a:solidFill>
                <a:srgbClr val="000000"/>
              </a:solidFill>
              <a:latin typeface="Lora"/>
              <a:ea typeface="Lora"/>
              <a:cs typeface="Lora"/>
              <a:sym typeface="Lora"/>
            </a:endParaRPr>
          </a:p>
          <a:p>
            <a:pPr indent="0" lvl="0" marL="0" marR="0" rtl="0" algn="ctr">
              <a:lnSpc>
                <a:spcPct val="100000"/>
              </a:lnSpc>
              <a:spcBef>
                <a:spcPts val="0"/>
              </a:spcBef>
              <a:spcAft>
                <a:spcPts val="0"/>
              </a:spcAft>
              <a:buClr>
                <a:srgbClr val="000000"/>
              </a:buClr>
              <a:buSzPts val="1300"/>
              <a:buFont typeface="Arial"/>
              <a:buNone/>
            </a:pPr>
            <a:r>
              <a:t/>
            </a:r>
            <a:endParaRPr b="1" i="1" sz="1300" u="none" cap="none" strike="noStrike">
              <a:solidFill>
                <a:srgbClr val="000000"/>
              </a:solidFill>
              <a:latin typeface="Lora"/>
              <a:ea typeface="Lora"/>
              <a:cs typeface="Lora"/>
              <a:sym typeface="Lora"/>
            </a:endParaRPr>
          </a:p>
          <a:p>
            <a:pPr indent="0" lvl="0" marL="0" marR="0" rtl="0" algn="ctr">
              <a:lnSpc>
                <a:spcPct val="100000"/>
              </a:lnSpc>
              <a:spcBef>
                <a:spcPts val="0"/>
              </a:spcBef>
              <a:spcAft>
                <a:spcPts val="0"/>
              </a:spcAft>
              <a:buClr>
                <a:srgbClr val="000000"/>
              </a:buClr>
              <a:buSzPts val="1300"/>
              <a:buFont typeface="Arial"/>
              <a:buNone/>
            </a:pPr>
            <a:r>
              <a:t/>
            </a:r>
            <a:endParaRPr b="1" i="1" sz="1000" u="none" cap="none" strike="noStrike">
              <a:solidFill>
                <a:srgbClr val="000000"/>
              </a:solidFill>
              <a:latin typeface="Lora"/>
              <a:ea typeface="Lora"/>
              <a:cs typeface="Lora"/>
              <a:sym typeface="Lora"/>
            </a:endParaRPr>
          </a:p>
          <a:p>
            <a:pPr indent="0" lvl="0" marL="0" marR="0" rtl="0" algn="ctr">
              <a:lnSpc>
                <a:spcPct val="100000"/>
              </a:lnSpc>
              <a:spcBef>
                <a:spcPts val="0"/>
              </a:spcBef>
              <a:spcAft>
                <a:spcPts val="0"/>
              </a:spcAft>
              <a:buClr>
                <a:srgbClr val="000000"/>
              </a:buClr>
              <a:buSzPts val="1300"/>
              <a:buFont typeface="Arial"/>
              <a:buNone/>
            </a:pPr>
            <a:r>
              <a:rPr b="1" i="1" lang="en" sz="1300" u="sng" cap="none" strike="noStrike">
                <a:solidFill>
                  <a:schemeClr val="hlink"/>
                </a:solidFill>
                <a:latin typeface="Lora"/>
                <a:ea typeface="Lora"/>
                <a:cs typeface="Lora"/>
                <a:sym typeface="Lora"/>
                <a:hlinkClick r:id="rId4"/>
              </a:rPr>
              <a:t>AI vs Programming:</a:t>
            </a:r>
            <a:endParaRPr b="1" i="1" sz="1300" u="none" cap="none" strike="noStrike">
              <a:solidFill>
                <a:srgbClr val="000000"/>
              </a:solidFill>
              <a:latin typeface="Lora"/>
              <a:ea typeface="Lora"/>
              <a:cs typeface="Lora"/>
              <a:sym typeface="Lora"/>
            </a:endParaRPr>
          </a:p>
          <a:p>
            <a:pPr indent="0" lvl="0" marL="0" marR="0" rtl="0" algn="ctr">
              <a:lnSpc>
                <a:spcPct val="115000"/>
              </a:lnSpc>
              <a:spcBef>
                <a:spcPts val="0"/>
              </a:spcBef>
              <a:spcAft>
                <a:spcPts val="0"/>
              </a:spcAft>
              <a:buClr>
                <a:srgbClr val="000000"/>
              </a:buClr>
              <a:buSzPts val="1300"/>
              <a:buFont typeface="Arial"/>
              <a:buNone/>
            </a:pPr>
            <a:r>
              <a:t/>
            </a:r>
            <a:endParaRPr b="1" i="1" sz="700" u="none" cap="none" strike="noStrike">
              <a:solidFill>
                <a:srgbClr val="000000"/>
              </a:solidFill>
              <a:latin typeface="Lora"/>
              <a:ea typeface="Lora"/>
              <a:cs typeface="Lora"/>
              <a:sym typeface="Lora"/>
            </a:endParaRPr>
          </a:p>
          <a:p>
            <a:pPr indent="0" lvl="0" marL="0" marR="0" rtl="0" algn="ctr">
              <a:lnSpc>
                <a:spcPct val="115000"/>
              </a:lnSpc>
              <a:spcBef>
                <a:spcPts val="0"/>
              </a:spcBef>
              <a:spcAft>
                <a:spcPts val="0"/>
              </a:spcAft>
              <a:buClr>
                <a:srgbClr val="000000"/>
              </a:buClr>
              <a:buSzPts val="1300"/>
              <a:buFont typeface="Arial"/>
              <a:buNone/>
            </a:pPr>
            <a:r>
              <a:rPr b="0" i="1" lang="en" sz="1200" u="none" cap="none" strike="noStrike">
                <a:solidFill>
                  <a:schemeClr val="dk1"/>
                </a:solidFill>
                <a:latin typeface="Lora"/>
                <a:ea typeface="Lora"/>
                <a:cs typeface="Lora"/>
                <a:sym typeface="Lora"/>
              </a:rPr>
              <a:t>While traditional programmes follow fixed instructions, </a:t>
            </a:r>
            <a:endParaRPr b="0" i="1" sz="1200" u="none" cap="none" strike="noStrike">
              <a:solidFill>
                <a:schemeClr val="dk1"/>
              </a:solidFill>
              <a:latin typeface="Lora"/>
              <a:ea typeface="Lora"/>
              <a:cs typeface="Lora"/>
              <a:sym typeface="Lora"/>
            </a:endParaRPr>
          </a:p>
          <a:p>
            <a:pPr indent="0" lvl="0" marL="0" marR="0" rtl="0" algn="ctr">
              <a:lnSpc>
                <a:spcPct val="115000"/>
              </a:lnSpc>
              <a:spcBef>
                <a:spcPts val="0"/>
              </a:spcBef>
              <a:spcAft>
                <a:spcPts val="0"/>
              </a:spcAft>
              <a:buClr>
                <a:srgbClr val="000000"/>
              </a:buClr>
              <a:buSzPts val="1300"/>
              <a:buFont typeface="Arial"/>
              <a:buNone/>
            </a:pPr>
            <a:r>
              <a:rPr b="0" i="1" lang="en" sz="1200" u="none" cap="none" strike="noStrike">
                <a:solidFill>
                  <a:schemeClr val="dk1"/>
                </a:solidFill>
                <a:latin typeface="Lora"/>
                <a:ea typeface="Lora"/>
                <a:cs typeface="Lora"/>
                <a:sym typeface="Lora"/>
              </a:rPr>
              <a:t>AI has the ability to learn, adapt, and make decisions based on the </a:t>
            </a:r>
            <a:r>
              <a:rPr b="1" i="1" lang="en" sz="1200" u="none" cap="none" strike="noStrike">
                <a:solidFill>
                  <a:schemeClr val="dk1"/>
                </a:solidFill>
                <a:latin typeface="Lora"/>
                <a:ea typeface="Lora"/>
                <a:cs typeface="Lora"/>
                <a:sym typeface="Lora"/>
              </a:rPr>
              <a:t>data</a:t>
            </a:r>
            <a:r>
              <a:rPr b="0" i="1" lang="en" sz="1200" u="none" cap="none" strike="noStrike">
                <a:solidFill>
                  <a:schemeClr val="dk1"/>
                </a:solidFill>
                <a:latin typeface="Lora"/>
                <a:ea typeface="Lora"/>
                <a:cs typeface="Lora"/>
                <a:sym typeface="Lora"/>
              </a:rPr>
              <a:t> it processes</a:t>
            </a:r>
            <a:endParaRPr b="0" i="1" sz="1200" u="none" cap="none" strike="noStrike">
              <a:solidFill>
                <a:schemeClr val="dk1"/>
              </a:solidFill>
              <a:latin typeface="Lora"/>
              <a:ea typeface="Lora"/>
              <a:cs typeface="Lora"/>
              <a:sym typeface="Lora"/>
            </a:endParaRPr>
          </a:p>
          <a:p>
            <a:pPr indent="0" lvl="0" marL="0" marR="0" rtl="0" algn="ctr">
              <a:lnSpc>
                <a:spcPct val="100000"/>
              </a:lnSpc>
              <a:spcBef>
                <a:spcPts val="0"/>
              </a:spcBef>
              <a:spcAft>
                <a:spcPts val="0"/>
              </a:spcAft>
              <a:buClr>
                <a:srgbClr val="000000"/>
              </a:buClr>
              <a:buSzPts val="1300"/>
              <a:buFont typeface="Arial"/>
              <a:buNone/>
            </a:pPr>
            <a:r>
              <a:t/>
            </a:r>
            <a:endParaRPr b="0" i="1" sz="1200" u="none" cap="none" strike="noStrike">
              <a:solidFill>
                <a:schemeClr val="dk1"/>
              </a:solidFill>
              <a:latin typeface="Lora"/>
              <a:ea typeface="Lora"/>
              <a:cs typeface="Lora"/>
              <a:sym typeface="Lor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5"/>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What is Machine Learning?</a:t>
            </a:r>
            <a:endParaRPr>
              <a:highlight>
                <a:schemeClr val="accent1"/>
              </a:highlight>
            </a:endParaRPr>
          </a:p>
        </p:txBody>
      </p:sp>
      <p:grpSp>
        <p:nvGrpSpPr>
          <p:cNvPr id="740" name="Google Shape;740;p5"/>
          <p:cNvGrpSpPr/>
          <p:nvPr/>
        </p:nvGrpSpPr>
        <p:grpSpPr>
          <a:xfrm>
            <a:off x="916458" y="1019750"/>
            <a:ext cx="214625" cy="214625"/>
            <a:chOff x="2594050" y="1631825"/>
            <a:chExt cx="439625" cy="439625"/>
          </a:xfrm>
        </p:grpSpPr>
        <p:sp>
          <p:nvSpPr>
            <p:cNvPr id="741" name="Google Shape;741;p5"/>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5"/>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5"/>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5"/>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45" name="Google Shape;745;p5"/>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746" name="Google Shape;746;p5"/>
          <p:cNvSpPr txBox="1"/>
          <p:nvPr/>
        </p:nvSpPr>
        <p:spPr>
          <a:xfrm>
            <a:off x="684283" y="1547811"/>
            <a:ext cx="7661700" cy="2477400"/>
          </a:xfrm>
          <a:prstGeom prst="rect">
            <a:avLst/>
          </a:prstGeom>
          <a:noFill/>
          <a:ln>
            <a:noFill/>
          </a:ln>
        </p:spPr>
        <p:txBody>
          <a:bodyPr anchorCtr="0" anchor="t" bIns="91425" lIns="91425" spcFirstLastPara="1" rIns="91425" wrap="square" tIns="91425">
            <a:noAutofit/>
          </a:bodyPr>
          <a:lstStyle/>
          <a:p>
            <a:pPr indent="-203200" lvl="0" marL="342900" marR="0" rtl="0" algn="l">
              <a:lnSpc>
                <a:spcPct val="150000"/>
              </a:lnSpc>
              <a:spcBef>
                <a:spcPts val="0"/>
              </a:spcBef>
              <a:spcAft>
                <a:spcPts val="0"/>
              </a:spcAft>
              <a:buClr>
                <a:srgbClr val="FFCD00"/>
              </a:buClr>
              <a:buSzPts val="1400"/>
              <a:buFont typeface="Quattrocento Sans"/>
              <a:buChar char="◉"/>
            </a:pPr>
            <a:r>
              <a:rPr b="0" i="0" lang="en" sz="1400" u="none" cap="none" strike="noStrike">
                <a:solidFill>
                  <a:srgbClr val="000000"/>
                </a:solidFill>
                <a:latin typeface="Quattrocento Sans"/>
                <a:ea typeface="Quattrocento Sans"/>
                <a:cs typeface="Quattrocento Sans"/>
                <a:sym typeface="Quattrocento Sans"/>
              </a:rPr>
              <a:t>Computers learning from data</a:t>
            </a:r>
            <a:endParaRPr b="0" i="0" sz="1300" u="none" cap="none" strike="noStrike">
              <a:solidFill>
                <a:srgbClr val="000000"/>
              </a:solidFill>
              <a:latin typeface="Quattrocento Sans"/>
              <a:ea typeface="Quattrocento Sans"/>
              <a:cs typeface="Quattrocento Sans"/>
              <a:sym typeface="Quattrocento Sans"/>
            </a:endParaRPr>
          </a:p>
          <a:p>
            <a:pPr indent="-203200" lvl="0" marL="342900" marR="0" rtl="0" algn="l">
              <a:lnSpc>
                <a:spcPct val="150000"/>
              </a:lnSpc>
              <a:spcBef>
                <a:spcPts val="0"/>
              </a:spcBef>
              <a:spcAft>
                <a:spcPts val="0"/>
              </a:spcAft>
              <a:buClr>
                <a:srgbClr val="FFCD00"/>
              </a:buClr>
              <a:buSzPts val="1400"/>
              <a:buFont typeface="Quattrocento Sans"/>
              <a:buChar char="◉"/>
            </a:pPr>
            <a:r>
              <a:rPr b="0" i="0" lang="en" sz="1400" u="none" cap="none" strike="noStrike">
                <a:solidFill>
                  <a:srgbClr val="000000"/>
                </a:solidFill>
                <a:highlight>
                  <a:srgbClr val="FFFFFF"/>
                </a:highlight>
                <a:latin typeface="Quattrocento Sans"/>
                <a:ea typeface="Quattrocento Sans"/>
                <a:cs typeface="Quattrocento Sans"/>
                <a:sym typeface="Quattrocento Sans"/>
              </a:rPr>
              <a:t>Algorithms improve with experience</a:t>
            </a:r>
            <a:endParaRPr b="0" i="0" sz="1400" u="none" cap="none" strike="noStrike">
              <a:solidFill>
                <a:srgbClr val="000000"/>
              </a:solidFill>
              <a:highlight>
                <a:srgbClr val="FFFFFF"/>
              </a:highlight>
              <a:latin typeface="Quattrocento Sans"/>
              <a:ea typeface="Quattrocento Sans"/>
              <a:cs typeface="Quattrocento Sans"/>
              <a:sym typeface="Quattrocento Sans"/>
            </a:endParaRPr>
          </a:p>
          <a:p>
            <a:pPr indent="-203200" lvl="0" marL="342900" marR="0" rtl="0" algn="l">
              <a:lnSpc>
                <a:spcPct val="150000"/>
              </a:lnSpc>
              <a:spcBef>
                <a:spcPts val="0"/>
              </a:spcBef>
              <a:spcAft>
                <a:spcPts val="0"/>
              </a:spcAft>
              <a:buClr>
                <a:srgbClr val="FFCD00"/>
              </a:buClr>
              <a:buSzPts val="1400"/>
              <a:buFont typeface="Quattrocento Sans"/>
              <a:buChar char="◉"/>
            </a:pPr>
            <a:r>
              <a:rPr b="0" i="0" lang="en" sz="1400" u="none" cap="none" strike="noStrike">
                <a:solidFill>
                  <a:srgbClr val="000000"/>
                </a:solidFill>
                <a:highlight>
                  <a:srgbClr val="FFFFFF"/>
                </a:highlight>
                <a:latin typeface="Quattrocento Sans"/>
                <a:ea typeface="Quattrocento Sans"/>
                <a:cs typeface="Quattrocento Sans"/>
                <a:sym typeface="Quattrocento Sans"/>
              </a:rPr>
              <a:t>Not explicitly programmed with rules</a:t>
            </a:r>
            <a:br>
              <a:rPr b="1" i="0" lang="en" sz="1400" u="none" cap="none" strike="noStrike">
                <a:solidFill>
                  <a:srgbClr val="000000"/>
                </a:solidFill>
                <a:highlight>
                  <a:srgbClr val="FFFFFF"/>
                </a:highlight>
                <a:latin typeface="Quattrocento Sans"/>
                <a:ea typeface="Quattrocento Sans"/>
                <a:cs typeface="Quattrocento Sans"/>
                <a:sym typeface="Quattrocento Sans"/>
              </a:rPr>
            </a:br>
            <a:br>
              <a:rPr b="1" i="0" lang="en" sz="1400" u="none" cap="none" strike="noStrike">
                <a:solidFill>
                  <a:srgbClr val="000000"/>
                </a:solidFill>
                <a:highlight>
                  <a:srgbClr val="FFFFFF"/>
                </a:highlight>
                <a:latin typeface="Quattrocento Sans"/>
                <a:ea typeface="Quattrocento Sans"/>
                <a:cs typeface="Quattrocento Sans"/>
                <a:sym typeface="Quattrocento Sans"/>
              </a:rPr>
            </a:br>
            <a:endParaRPr b="1" i="0" sz="1400" u="none" cap="none" strike="noStrike">
              <a:solidFill>
                <a:srgbClr val="000000"/>
              </a:solidFill>
              <a:highlight>
                <a:srgbClr val="FFFFFF"/>
              </a:highlight>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3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pic>
        <p:nvPicPr>
          <p:cNvPr id="747" name="Google Shape;747;p5" title="Screen Shot 2025-09-24 at 12.11.36 PM.png"/>
          <p:cNvPicPr preferRelativeResize="0"/>
          <p:nvPr/>
        </p:nvPicPr>
        <p:blipFill rotWithShape="1">
          <a:blip r:embed="rId3">
            <a:alphaModFix/>
          </a:blip>
          <a:srcRect b="0" l="0" r="0" t="0"/>
          <a:stretch/>
        </p:blipFill>
        <p:spPr>
          <a:xfrm>
            <a:off x="1355744" y="2934421"/>
            <a:ext cx="6385475" cy="18520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8330b8285a_0_72"/>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Types of Machine Learning</a:t>
            </a:r>
            <a:endParaRPr>
              <a:highlight>
                <a:schemeClr val="accent1"/>
              </a:highlight>
            </a:endParaRPr>
          </a:p>
        </p:txBody>
      </p:sp>
      <p:grpSp>
        <p:nvGrpSpPr>
          <p:cNvPr id="753" name="Google Shape;753;g38330b8285a_0_72"/>
          <p:cNvGrpSpPr/>
          <p:nvPr/>
        </p:nvGrpSpPr>
        <p:grpSpPr>
          <a:xfrm>
            <a:off x="916458" y="1019750"/>
            <a:ext cx="214625" cy="214625"/>
            <a:chOff x="2594050" y="1631825"/>
            <a:chExt cx="439625" cy="439625"/>
          </a:xfrm>
        </p:grpSpPr>
        <p:sp>
          <p:nvSpPr>
            <p:cNvPr id="754" name="Google Shape;754;g38330b8285a_0_72"/>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g38330b8285a_0_72"/>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g38330b8285a_0_72"/>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g38330b8285a_0_72"/>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8" name="Google Shape;758;g38330b8285a_0_72"/>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759" name="Google Shape;759;g38330b8285a_0_72" title="Screen Shot 2025-09-24 at 1.39.47 PM.png"/>
          <p:cNvPicPr preferRelativeResize="0"/>
          <p:nvPr/>
        </p:nvPicPr>
        <p:blipFill rotWithShape="1">
          <a:blip r:embed="rId3">
            <a:alphaModFix/>
          </a:blip>
          <a:srcRect b="0" l="0" r="0" t="0"/>
          <a:stretch/>
        </p:blipFill>
        <p:spPr>
          <a:xfrm>
            <a:off x="1493809" y="1462713"/>
            <a:ext cx="5004394" cy="33513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8330b8285a_0_99"/>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Supervised Learning </a:t>
            </a:r>
            <a:endParaRPr>
              <a:highlight>
                <a:schemeClr val="accent1"/>
              </a:highlight>
            </a:endParaRPr>
          </a:p>
        </p:txBody>
      </p:sp>
      <p:grpSp>
        <p:nvGrpSpPr>
          <p:cNvPr id="765" name="Google Shape;765;g38330b8285a_0_99"/>
          <p:cNvGrpSpPr/>
          <p:nvPr/>
        </p:nvGrpSpPr>
        <p:grpSpPr>
          <a:xfrm>
            <a:off x="916458" y="1019750"/>
            <a:ext cx="214625" cy="214625"/>
            <a:chOff x="2594050" y="1631825"/>
            <a:chExt cx="439625" cy="439625"/>
          </a:xfrm>
        </p:grpSpPr>
        <p:sp>
          <p:nvSpPr>
            <p:cNvPr id="766" name="Google Shape;766;g38330b8285a_0_99"/>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g38330b8285a_0_99"/>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g38330b8285a_0_99"/>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g38330b8285a_0_99"/>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0" name="Google Shape;770;g38330b8285a_0_99"/>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771" name="Google Shape;771;g38330b8285a_0_99"/>
          <p:cNvSpPr txBox="1"/>
          <p:nvPr/>
        </p:nvSpPr>
        <p:spPr>
          <a:xfrm>
            <a:off x="684275" y="1547800"/>
            <a:ext cx="5710500" cy="3427800"/>
          </a:xfrm>
          <a:prstGeom prst="rect">
            <a:avLst/>
          </a:prstGeom>
          <a:noFill/>
          <a:ln>
            <a:noFill/>
          </a:ln>
        </p:spPr>
        <p:txBody>
          <a:bodyPr anchorCtr="0" anchor="t" bIns="91425" lIns="91425" spcFirstLastPara="1" rIns="91425" wrap="square" tIns="91425">
            <a:noAutofit/>
          </a:bodyPr>
          <a:lstStyle/>
          <a:p>
            <a:pPr indent="-203200" lvl="0" marL="342900" marR="0" rtl="0" algn="l">
              <a:lnSpc>
                <a:spcPct val="115000"/>
              </a:lnSpc>
              <a:spcBef>
                <a:spcPts val="0"/>
              </a:spcBef>
              <a:spcAft>
                <a:spcPts val="0"/>
              </a:spcAft>
              <a:buClr>
                <a:schemeClr val="accent1"/>
              </a:buClr>
              <a:buSzPts val="1400"/>
              <a:buFont typeface="Arial"/>
              <a:buChar char="◉"/>
            </a:pPr>
            <a:r>
              <a:rPr b="0" i="0" lang="en" sz="1400" u="none" cap="none" strike="noStrike">
                <a:solidFill>
                  <a:srgbClr val="000000"/>
                </a:solidFill>
                <a:highlight>
                  <a:srgbClr val="FFFFFF"/>
                </a:highlight>
                <a:latin typeface="Quattrocento Sans"/>
                <a:ea typeface="Quattrocento Sans"/>
                <a:cs typeface="Quattrocento Sans"/>
                <a:sym typeface="Quattrocento Sans"/>
              </a:rPr>
              <a:t>Process of modeling the relationship between the input data              &amp; labels to make predictions about unseen or future data. </a:t>
            </a:r>
            <a:endParaRPr b="0" i="0" sz="1400" u="none" cap="none" strike="noStrike">
              <a:solidFill>
                <a:srgbClr val="000000"/>
              </a:solidFill>
              <a:highlight>
                <a:srgbClr val="FFFFFF"/>
              </a:highlight>
              <a:latin typeface="Quattrocento Sans"/>
              <a:ea typeface="Quattrocento Sans"/>
              <a:cs typeface="Quattrocento Sans"/>
              <a:sym typeface="Quattrocento Sans"/>
            </a:endParaRPr>
          </a:p>
          <a:p>
            <a:pPr indent="-196850" lvl="1" marL="514350" marR="0" rtl="0" algn="l">
              <a:lnSpc>
                <a:spcPct val="115000"/>
              </a:lnSpc>
              <a:spcBef>
                <a:spcPts val="500"/>
              </a:spcBef>
              <a:spcAft>
                <a:spcPts val="0"/>
              </a:spcAft>
              <a:buClr>
                <a:schemeClr val="accent1"/>
              </a:buClr>
              <a:buSzPts val="1300"/>
              <a:buFont typeface="Quattrocento Sans"/>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Classification:</a:t>
            </a:r>
            <a:r>
              <a:rPr b="0"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latin typeface="Quattrocento Sans"/>
                <a:ea typeface="Quattrocento Sans"/>
                <a:cs typeface="Quattrocento Sans"/>
                <a:sym typeface="Quattrocento Sans"/>
              </a:rPr>
              <a:t>Supervised learning task with discrete class </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96850" lvl="1" marL="514350" marR="0" rtl="0" algn="l">
              <a:lnSpc>
                <a:spcPct val="115000"/>
              </a:lnSpc>
              <a:spcBef>
                <a:spcPts val="0"/>
              </a:spcBef>
              <a:spcAft>
                <a:spcPts val="0"/>
              </a:spcAft>
              <a:buClr>
                <a:schemeClr val="accent1"/>
              </a:buClr>
              <a:buSzPts val="1300"/>
              <a:buFont typeface="Quattrocento Sans"/>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Regression:</a:t>
            </a:r>
            <a:r>
              <a:rPr b="0"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latin typeface="Quattrocento Sans"/>
                <a:ea typeface="Quattrocento Sans"/>
                <a:cs typeface="Quattrocento Sans"/>
                <a:sym typeface="Quattrocento Sans"/>
              </a:rPr>
              <a:t>Supervised learning task where outcome is a continuous value</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3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pic>
        <p:nvPicPr>
          <p:cNvPr id="772" name="Google Shape;772;g38330b8285a_0_99" title="Screen Shot 2025-09-24 at 1.51.52 PM.png"/>
          <p:cNvPicPr preferRelativeResize="0"/>
          <p:nvPr/>
        </p:nvPicPr>
        <p:blipFill rotWithShape="1">
          <a:blip r:embed="rId3">
            <a:alphaModFix/>
          </a:blip>
          <a:srcRect b="4570" l="0" r="0" t="0"/>
          <a:stretch/>
        </p:blipFill>
        <p:spPr>
          <a:xfrm>
            <a:off x="1802721" y="2714125"/>
            <a:ext cx="3341005" cy="2261476"/>
          </a:xfrm>
          <a:prstGeom prst="rect">
            <a:avLst/>
          </a:prstGeom>
          <a:noFill/>
          <a:ln>
            <a:noFill/>
          </a:ln>
        </p:spPr>
      </p:pic>
      <p:pic>
        <p:nvPicPr>
          <p:cNvPr id="773" name="Google Shape;773;g38330b8285a_0_99" title="Screen Shot 2025-09-24 at 1.59.51 PM.png"/>
          <p:cNvPicPr preferRelativeResize="0"/>
          <p:nvPr/>
        </p:nvPicPr>
        <p:blipFill rotWithShape="1">
          <a:blip r:embed="rId4">
            <a:alphaModFix/>
          </a:blip>
          <a:srcRect b="5382" l="7876" r="0" t="0"/>
          <a:stretch/>
        </p:blipFill>
        <p:spPr>
          <a:xfrm>
            <a:off x="6629353" y="1197000"/>
            <a:ext cx="1937501" cy="1898476"/>
          </a:xfrm>
          <a:prstGeom prst="rect">
            <a:avLst/>
          </a:prstGeom>
          <a:noFill/>
          <a:ln>
            <a:noFill/>
          </a:ln>
        </p:spPr>
      </p:pic>
      <p:pic>
        <p:nvPicPr>
          <p:cNvPr id="774" name="Google Shape;774;g38330b8285a_0_99" title="Screen Shot 2025-09-24 at 2.00.13 PM.png"/>
          <p:cNvPicPr preferRelativeResize="0"/>
          <p:nvPr/>
        </p:nvPicPr>
        <p:blipFill rotWithShape="1">
          <a:blip r:embed="rId5">
            <a:alphaModFix/>
          </a:blip>
          <a:srcRect b="5132" l="0" r="0" t="0"/>
          <a:stretch/>
        </p:blipFill>
        <p:spPr>
          <a:xfrm>
            <a:off x="6615134" y="3171116"/>
            <a:ext cx="2108625" cy="179407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g38330b8285a_0_130"/>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Unsupervised Learning </a:t>
            </a:r>
            <a:endParaRPr>
              <a:highlight>
                <a:schemeClr val="accent1"/>
              </a:highlight>
            </a:endParaRPr>
          </a:p>
        </p:txBody>
      </p:sp>
      <p:grpSp>
        <p:nvGrpSpPr>
          <p:cNvPr id="780" name="Google Shape;780;g38330b8285a_0_130"/>
          <p:cNvGrpSpPr/>
          <p:nvPr/>
        </p:nvGrpSpPr>
        <p:grpSpPr>
          <a:xfrm>
            <a:off x="916458" y="1019750"/>
            <a:ext cx="214625" cy="214625"/>
            <a:chOff x="2594050" y="1631825"/>
            <a:chExt cx="439625" cy="439625"/>
          </a:xfrm>
        </p:grpSpPr>
        <p:sp>
          <p:nvSpPr>
            <p:cNvPr id="781" name="Google Shape;781;g38330b8285a_0_130"/>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g38330b8285a_0_130"/>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g38330b8285a_0_130"/>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g38330b8285a_0_130"/>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85" name="Google Shape;785;g38330b8285a_0_130"/>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786" name="Google Shape;786;g38330b8285a_0_130"/>
          <p:cNvSpPr txBox="1"/>
          <p:nvPr/>
        </p:nvSpPr>
        <p:spPr>
          <a:xfrm>
            <a:off x="684275" y="1547800"/>
            <a:ext cx="8167800" cy="3427800"/>
          </a:xfrm>
          <a:prstGeom prst="rect">
            <a:avLst/>
          </a:prstGeom>
          <a:noFill/>
          <a:ln>
            <a:noFill/>
          </a:ln>
        </p:spPr>
        <p:txBody>
          <a:bodyPr anchorCtr="0" anchor="t" bIns="91425" lIns="91425" spcFirstLastPara="1" rIns="91425" wrap="square" tIns="91425">
            <a:noAutofit/>
          </a:bodyPr>
          <a:lstStyle/>
          <a:p>
            <a:pPr indent="-203200" lvl="0" marL="342900" marR="0" rtl="0" algn="l">
              <a:lnSpc>
                <a:spcPct val="115000"/>
              </a:lnSpc>
              <a:spcBef>
                <a:spcPts val="0"/>
              </a:spcBef>
              <a:spcAft>
                <a:spcPts val="0"/>
              </a:spcAft>
              <a:buClr>
                <a:schemeClr val="accent1"/>
              </a:buClr>
              <a:buSzPts val="1400"/>
              <a:buFont typeface="Arial"/>
              <a:buChar char="◉"/>
            </a:pPr>
            <a:r>
              <a:rPr b="0" i="0" lang="en" sz="1400" u="none" cap="none" strike="noStrike">
                <a:solidFill>
                  <a:srgbClr val="000000"/>
                </a:solidFill>
                <a:highlight>
                  <a:srgbClr val="FFFFFF"/>
                </a:highlight>
                <a:latin typeface="Quattrocento Sans"/>
                <a:ea typeface="Quattrocento Sans"/>
                <a:cs typeface="Quattrocento Sans"/>
                <a:sym typeface="Quattrocento Sans"/>
              </a:rPr>
              <a:t>Deals with unlabeled data, aims to explore the structure of data to extract meaningful information without the guidance of a known outcome. </a:t>
            </a:r>
            <a:endParaRPr b="0" i="0" sz="1400" u="none" cap="none" strike="noStrike">
              <a:solidFill>
                <a:srgbClr val="000000"/>
              </a:solidFill>
              <a:highlight>
                <a:srgbClr val="FFFFFF"/>
              </a:highlight>
              <a:latin typeface="Quattrocento Sans"/>
              <a:ea typeface="Quattrocento Sans"/>
              <a:cs typeface="Quattrocento Sans"/>
              <a:sym typeface="Quattrocento Sans"/>
            </a:endParaRPr>
          </a:p>
          <a:p>
            <a:pPr indent="-196850" lvl="1" marL="514350" marR="0" rtl="0" algn="l">
              <a:lnSpc>
                <a:spcPct val="115000"/>
              </a:lnSpc>
              <a:spcBef>
                <a:spcPts val="500"/>
              </a:spcBef>
              <a:spcAft>
                <a:spcPts val="0"/>
              </a:spcAft>
              <a:buClr>
                <a:schemeClr val="accent1"/>
              </a:buClr>
              <a:buSzPts val="1300"/>
              <a:buFont typeface="Quattrocento Sans"/>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Clustering:</a:t>
            </a:r>
            <a:r>
              <a:rPr b="0"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highlight>
                  <a:schemeClr val="lt1"/>
                </a:highlight>
                <a:latin typeface="Quattrocento Sans"/>
                <a:ea typeface="Quattrocento Sans"/>
                <a:cs typeface="Quattrocento Sans"/>
                <a:sym typeface="Quattrocento Sans"/>
              </a:rPr>
              <a:t>Organize data into meaningful subgroups without having any prior knowledge of their group </a:t>
            </a:r>
            <a:endParaRPr b="0" i="0" sz="1100" u="none" cap="none" strike="noStrike">
              <a:solidFill>
                <a:schemeClr val="dk1"/>
              </a:solidFill>
              <a:highlight>
                <a:schemeClr val="lt1"/>
              </a:highlight>
              <a:latin typeface="Quattrocento Sans"/>
              <a:ea typeface="Quattrocento Sans"/>
              <a:cs typeface="Quattrocento Sans"/>
              <a:sym typeface="Quattrocento Sans"/>
            </a:endParaRPr>
          </a:p>
          <a:p>
            <a:pPr indent="-196850" lvl="1" marL="514350" marR="0" rtl="0" algn="l">
              <a:lnSpc>
                <a:spcPct val="115000"/>
              </a:lnSpc>
              <a:spcBef>
                <a:spcPts val="0"/>
              </a:spcBef>
              <a:spcAft>
                <a:spcPts val="0"/>
              </a:spcAft>
              <a:buClr>
                <a:schemeClr val="accent1"/>
              </a:buClr>
              <a:buSzPts val="1300"/>
              <a:buFont typeface="Quattrocento Sans"/>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Dimensionality reduction:</a:t>
            </a:r>
            <a:r>
              <a:rPr b="0"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highlight>
                  <a:schemeClr val="lt1"/>
                </a:highlight>
                <a:latin typeface="Quattrocento Sans"/>
                <a:ea typeface="Quattrocento Sans"/>
                <a:cs typeface="Quattrocento Sans"/>
                <a:sym typeface="Quattrocento Sans"/>
              </a:rPr>
              <a:t>Compresses data into smaller dimension while retaining most of relevant information</a:t>
            </a:r>
            <a:endParaRPr b="0" i="0" sz="11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3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pic>
        <p:nvPicPr>
          <p:cNvPr id="787" name="Google Shape;787;g38330b8285a_0_130" title="Screen Shot 2025-09-24 at 2.17.41 PM.png"/>
          <p:cNvPicPr preferRelativeResize="0"/>
          <p:nvPr/>
        </p:nvPicPr>
        <p:blipFill rotWithShape="1">
          <a:blip r:embed="rId3">
            <a:alphaModFix/>
          </a:blip>
          <a:srcRect b="0" l="0" r="0" t="0"/>
          <a:stretch/>
        </p:blipFill>
        <p:spPr>
          <a:xfrm>
            <a:off x="828976" y="2901883"/>
            <a:ext cx="4672674" cy="2125403"/>
          </a:xfrm>
          <a:prstGeom prst="rect">
            <a:avLst/>
          </a:prstGeom>
          <a:noFill/>
          <a:ln>
            <a:noFill/>
          </a:ln>
        </p:spPr>
      </p:pic>
      <p:pic>
        <p:nvPicPr>
          <p:cNvPr id="788" name="Google Shape;788;g38330b8285a_0_130" title="Screen Shot 2025-09-24 at 2.17.52 PM.png"/>
          <p:cNvPicPr preferRelativeResize="0"/>
          <p:nvPr/>
        </p:nvPicPr>
        <p:blipFill rotWithShape="1">
          <a:blip r:embed="rId4">
            <a:alphaModFix/>
          </a:blip>
          <a:srcRect b="0" l="0" r="0" t="0"/>
          <a:stretch/>
        </p:blipFill>
        <p:spPr>
          <a:xfrm>
            <a:off x="6017540" y="2770611"/>
            <a:ext cx="2689825" cy="221780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2" name="Shape 792"/>
        <p:cNvGrpSpPr/>
        <p:nvPr/>
      </p:nvGrpSpPr>
      <p:grpSpPr>
        <a:xfrm>
          <a:off x="0" y="0"/>
          <a:ext cx="0" cy="0"/>
          <a:chOff x="0" y="0"/>
          <a:chExt cx="0" cy="0"/>
        </a:xfrm>
      </p:grpSpPr>
      <p:sp>
        <p:nvSpPr>
          <p:cNvPr id="793" name="Google Shape;793;g38330b8285a_0_149"/>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Reinforcement Learning </a:t>
            </a:r>
            <a:endParaRPr>
              <a:highlight>
                <a:schemeClr val="accent1"/>
              </a:highlight>
            </a:endParaRPr>
          </a:p>
        </p:txBody>
      </p:sp>
      <p:grpSp>
        <p:nvGrpSpPr>
          <p:cNvPr id="794" name="Google Shape;794;g38330b8285a_0_149"/>
          <p:cNvGrpSpPr/>
          <p:nvPr/>
        </p:nvGrpSpPr>
        <p:grpSpPr>
          <a:xfrm>
            <a:off x="916458" y="1019750"/>
            <a:ext cx="214625" cy="214625"/>
            <a:chOff x="2594050" y="1631825"/>
            <a:chExt cx="439625" cy="439625"/>
          </a:xfrm>
        </p:grpSpPr>
        <p:sp>
          <p:nvSpPr>
            <p:cNvPr id="795" name="Google Shape;795;g38330b8285a_0_149"/>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g38330b8285a_0_149"/>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g38330b8285a_0_149"/>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g38330b8285a_0_149"/>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9" name="Google Shape;799;g38330b8285a_0_149"/>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800" name="Google Shape;800;g38330b8285a_0_149"/>
          <p:cNvSpPr txBox="1"/>
          <p:nvPr/>
        </p:nvSpPr>
        <p:spPr>
          <a:xfrm>
            <a:off x="684275" y="1547800"/>
            <a:ext cx="8167800" cy="3427800"/>
          </a:xfrm>
          <a:prstGeom prst="rect">
            <a:avLst/>
          </a:prstGeom>
          <a:noFill/>
          <a:ln>
            <a:noFill/>
          </a:ln>
        </p:spPr>
        <p:txBody>
          <a:bodyPr anchorCtr="0" anchor="t" bIns="91425" lIns="91425" spcFirstLastPara="1" rIns="91425" wrap="square" tIns="91425">
            <a:noAutofit/>
          </a:bodyPr>
          <a:lstStyle/>
          <a:p>
            <a:pPr indent="-203200" lvl="0" marL="342900" marR="0" rtl="0" algn="l">
              <a:lnSpc>
                <a:spcPct val="115000"/>
              </a:lnSpc>
              <a:spcBef>
                <a:spcPts val="0"/>
              </a:spcBef>
              <a:spcAft>
                <a:spcPts val="0"/>
              </a:spcAft>
              <a:buClr>
                <a:schemeClr val="accent1"/>
              </a:buClr>
              <a:buSzPts val="1400"/>
              <a:buFont typeface="Arial"/>
              <a:buChar char="◉"/>
            </a:pPr>
            <a:r>
              <a:rPr b="0" i="0" lang="en" sz="1400" u="none" cap="none" strike="noStrike">
                <a:solidFill>
                  <a:srgbClr val="000000"/>
                </a:solidFill>
                <a:highlight>
                  <a:srgbClr val="FFFFFF"/>
                </a:highlight>
                <a:latin typeface="Quattrocento Sans"/>
                <a:ea typeface="Quattrocento Sans"/>
                <a:cs typeface="Quattrocento Sans"/>
                <a:sym typeface="Quattrocento Sans"/>
              </a:rPr>
              <a:t>The goal is to develop a system (agent) that improves its performance based on interactions with the environment.</a:t>
            </a:r>
            <a:endParaRPr b="0" i="0" sz="1400" u="none" cap="none" strike="noStrike">
              <a:solidFill>
                <a:srgbClr val="000000"/>
              </a:solidFill>
              <a:highlight>
                <a:srgbClr val="FFFFFF"/>
              </a:highlight>
              <a:latin typeface="Quattrocento Sans"/>
              <a:ea typeface="Quattrocento Sans"/>
              <a:cs typeface="Quattrocento Sans"/>
              <a:sym typeface="Quattrocento Sans"/>
            </a:endParaRPr>
          </a:p>
          <a:p>
            <a:pPr indent="-196850" lvl="1" marL="514350" marR="0" rtl="0" algn="l">
              <a:lnSpc>
                <a:spcPct val="115000"/>
              </a:lnSpc>
              <a:spcBef>
                <a:spcPts val="500"/>
              </a:spcBef>
              <a:spcAft>
                <a:spcPts val="0"/>
              </a:spcAft>
              <a:buClr>
                <a:schemeClr val="accent1"/>
              </a:buClr>
              <a:buSzPts val="1300"/>
              <a:buFont typeface="Quattrocento Sans"/>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Action: </a:t>
            </a:r>
            <a:r>
              <a:rPr b="0" i="0" lang="en" sz="1200" u="none" cap="none" strike="noStrike">
                <a:solidFill>
                  <a:schemeClr val="dk1"/>
                </a:solidFill>
                <a:highlight>
                  <a:schemeClr val="lt1"/>
                </a:highlight>
                <a:latin typeface="Quattrocento Sans"/>
                <a:ea typeface="Quattrocento Sans"/>
                <a:cs typeface="Quattrocento Sans"/>
                <a:sym typeface="Quattrocento Sans"/>
              </a:rPr>
              <a:t>Interaction with the environment</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196850" lvl="1" marL="514350" marR="0" rtl="0" algn="l">
              <a:lnSpc>
                <a:spcPct val="115000"/>
              </a:lnSpc>
              <a:spcBef>
                <a:spcPts val="0"/>
              </a:spcBef>
              <a:spcAft>
                <a:spcPts val="0"/>
              </a:spcAft>
              <a:buClr>
                <a:schemeClr val="accent1"/>
              </a:buClr>
              <a:buSzPts val="1300"/>
              <a:buFont typeface="Quattrocento Sans"/>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Reward/Feedback:</a:t>
            </a:r>
            <a:r>
              <a:rPr b="0"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highlight>
                  <a:schemeClr val="lt1"/>
                </a:highlight>
                <a:latin typeface="Quattrocento Sans"/>
                <a:ea typeface="Quattrocento Sans"/>
                <a:cs typeface="Quattrocento Sans"/>
                <a:sym typeface="Quattrocento Sans"/>
              </a:rPr>
              <a:t>Measure of how well the action was</a:t>
            </a:r>
            <a:endParaRPr b="0" i="0" sz="11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highlight>
                <a:schemeClr val="lt1"/>
              </a:highlight>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914400" marR="0" rtl="0" algn="l">
              <a:lnSpc>
                <a:spcPct val="100000"/>
              </a:lnSpc>
              <a:spcBef>
                <a:spcPts val="300"/>
              </a:spcBef>
              <a:spcAft>
                <a:spcPts val="3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pic>
        <p:nvPicPr>
          <p:cNvPr id="801" name="Google Shape;801;g38330b8285a_0_149" title="Screen Shot 2025-09-24 at 2.39.54 PM.png"/>
          <p:cNvPicPr preferRelativeResize="0"/>
          <p:nvPr/>
        </p:nvPicPr>
        <p:blipFill rotWithShape="1">
          <a:blip r:embed="rId3">
            <a:alphaModFix/>
          </a:blip>
          <a:srcRect b="0" l="0" r="0" t="0"/>
          <a:stretch/>
        </p:blipFill>
        <p:spPr>
          <a:xfrm>
            <a:off x="2811825" y="2933775"/>
            <a:ext cx="3502275" cy="19561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5" name="Shape 805"/>
        <p:cNvGrpSpPr/>
        <p:nvPr/>
      </p:nvGrpSpPr>
      <p:grpSpPr>
        <a:xfrm>
          <a:off x="0" y="0"/>
          <a:ext cx="0" cy="0"/>
          <a:chOff x="0" y="0"/>
          <a:chExt cx="0" cy="0"/>
        </a:xfrm>
      </p:grpSpPr>
      <p:sp>
        <p:nvSpPr>
          <p:cNvPr id="806" name="Google Shape;806;g38330b8285a_0_165"/>
          <p:cNvSpPr txBox="1"/>
          <p:nvPr>
            <p:ph type="title"/>
          </p:nvPr>
        </p:nvSpPr>
        <p:spPr>
          <a:xfrm>
            <a:off x="1381250" y="896100"/>
            <a:ext cx="60138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Example of Tabular Data</a:t>
            </a:r>
            <a:endParaRPr>
              <a:highlight>
                <a:schemeClr val="accent1"/>
              </a:highlight>
            </a:endParaRPr>
          </a:p>
        </p:txBody>
      </p:sp>
      <p:grpSp>
        <p:nvGrpSpPr>
          <p:cNvPr id="807" name="Google Shape;807;g38330b8285a_0_165"/>
          <p:cNvGrpSpPr/>
          <p:nvPr/>
        </p:nvGrpSpPr>
        <p:grpSpPr>
          <a:xfrm>
            <a:off x="916458" y="1019750"/>
            <a:ext cx="214625" cy="214625"/>
            <a:chOff x="2594050" y="1631825"/>
            <a:chExt cx="439625" cy="439625"/>
          </a:xfrm>
        </p:grpSpPr>
        <p:sp>
          <p:nvSpPr>
            <p:cNvPr id="808" name="Google Shape;808;g38330b8285a_0_165"/>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g38330b8285a_0_165"/>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g38330b8285a_0_165"/>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g38330b8285a_0_165"/>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12" name="Google Shape;812;g38330b8285a_0_165"/>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813" name="Google Shape;813;g38330b8285a_0_165"/>
          <p:cNvSpPr txBox="1"/>
          <p:nvPr/>
        </p:nvSpPr>
        <p:spPr>
          <a:xfrm>
            <a:off x="684275" y="1547800"/>
            <a:ext cx="5184600" cy="3427800"/>
          </a:xfrm>
          <a:prstGeom prst="rect">
            <a:avLst/>
          </a:prstGeom>
          <a:noFill/>
          <a:ln>
            <a:noFill/>
          </a:ln>
        </p:spPr>
        <p:txBody>
          <a:bodyPr anchorCtr="0" anchor="t" bIns="91425" lIns="91425" spcFirstLastPara="1" rIns="91425" wrap="square" tIns="91425">
            <a:noAutofit/>
          </a:bodyPr>
          <a:lstStyle/>
          <a:p>
            <a:pPr indent="-196850" lvl="0" marL="342900" marR="0" rtl="0" algn="l">
              <a:lnSpc>
                <a:spcPct val="115000"/>
              </a:lnSpc>
              <a:spcBef>
                <a:spcPts val="0"/>
              </a:spcBef>
              <a:spcAft>
                <a:spcPts val="0"/>
              </a:spcAft>
              <a:buClr>
                <a:schemeClr val="accent1"/>
              </a:buClr>
              <a:buSzPts val="1300"/>
              <a:buFont typeface="Arial"/>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Sample</a:t>
            </a:r>
            <a:r>
              <a:rPr b="0"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highlight>
                  <a:schemeClr val="lt1"/>
                </a:highlight>
                <a:latin typeface="Quattrocento Sans"/>
                <a:ea typeface="Quattrocento Sans"/>
                <a:cs typeface="Quattrocento Sans"/>
                <a:sym typeface="Quattrocento Sans"/>
              </a:rPr>
              <a:t>(Instance, Observation): </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0" lvl="0" marL="342900" marR="0" rtl="0" algn="l">
              <a:lnSpc>
                <a:spcPct val="115000"/>
              </a:lnSpc>
              <a:spcBef>
                <a:spcPts val="300"/>
              </a:spcBef>
              <a:spcAft>
                <a:spcPts val="0"/>
              </a:spcAft>
              <a:buClr>
                <a:srgbClr val="000000"/>
              </a:buClr>
              <a:buSzPts val="1200"/>
              <a:buFont typeface="Arial"/>
              <a:buNone/>
            </a:pPr>
            <a:r>
              <a:rPr b="0" i="0" lang="en" sz="1200" u="none" cap="none" strike="noStrike">
                <a:solidFill>
                  <a:schemeClr val="dk1"/>
                </a:solidFill>
                <a:latin typeface="Quattrocento Sans"/>
                <a:ea typeface="Quattrocento Sans"/>
                <a:cs typeface="Quattrocento Sans"/>
                <a:sym typeface="Quattrocento Sans"/>
              </a:rPr>
              <a:t>Each row in the dataset, which is an example of data </a:t>
            </a:r>
            <a:endParaRPr b="0" i="0" sz="1200" u="none" cap="none" strike="noStrike">
              <a:solidFill>
                <a:srgbClr val="000000"/>
              </a:solidFill>
              <a:highlight>
                <a:srgbClr val="FFFFFF"/>
              </a:highlight>
              <a:latin typeface="Quattrocento Sans"/>
              <a:ea typeface="Quattrocento Sans"/>
              <a:cs typeface="Quattrocento Sans"/>
              <a:sym typeface="Quattrocento Sans"/>
            </a:endParaRPr>
          </a:p>
          <a:p>
            <a:pPr indent="-196850" lvl="0" marL="342900" marR="0" rtl="0" algn="l">
              <a:lnSpc>
                <a:spcPct val="115000"/>
              </a:lnSpc>
              <a:spcBef>
                <a:spcPts val="500"/>
              </a:spcBef>
              <a:spcAft>
                <a:spcPts val="0"/>
              </a:spcAft>
              <a:buClr>
                <a:schemeClr val="accent1"/>
              </a:buClr>
              <a:buSzPts val="1300"/>
              <a:buFont typeface="Arial"/>
              <a:buChar char="◉"/>
            </a:pPr>
            <a:r>
              <a:rPr b="1" i="0" lang="en" sz="1300" u="none" cap="none" strike="noStrike">
                <a:solidFill>
                  <a:schemeClr val="dk1"/>
                </a:solidFill>
                <a:highlight>
                  <a:schemeClr val="lt1"/>
                </a:highlight>
                <a:latin typeface="Quattrocento Sans"/>
                <a:ea typeface="Quattrocento Sans"/>
                <a:cs typeface="Quattrocento Sans"/>
                <a:sym typeface="Quattrocento Sans"/>
              </a:rPr>
              <a:t>Feature</a:t>
            </a:r>
            <a:r>
              <a:rPr b="0" i="0" lang="en" sz="1300" u="none" cap="none" strike="noStrike">
                <a:solidFill>
                  <a:schemeClr val="dk1"/>
                </a:solidFill>
                <a:highlight>
                  <a:schemeClr val="lt1"/>
                </a:highlight>
                <a:latin typeface="Quattrocento Sans"/>
                <a:ea typeface="Quattrocento Sans"/>
                <a:cs typeface="Quattrocento Sans"/>
                <a:sym typeface="Quattrocento Sans"/>
              </a:rPr>
              <a:t> </a:t>
            </a:r>
            <a:r>
              <a:rPr b="0" i="0" lang="en" sz="1200" u="none" cap="none" strike="noStrike">
                <a:solidFill>
                  <a:schemeClr val="dk1"/>
                </a:solidFill>
                <a:highlight>
                  <a:schemeClr val="lt1"/>
                </a:highlight>
                <a:latin typeface="Quattrocento Sans"/>
                <a:ea typeface="Quattrocento Sans"/>
                <a:cs typeface="Quattrocento Sans"/>
                <a:sym typeface="Quattrocento Sans"/>
              </a:rPr>
              <a:t>(Measurement, Attributes, Variable, Predictor ): </a:t>
            </a:r>
            <a:endParaRPr b="0" i="0" sz="1200" u="none" cap="none" strike="noStrike">
              <a:solidFill>
                <a:schemeClr val="dk1"/>
              </a:solidFill>
              <a:highlight>
                <a:schemeClr val="lt1"/>
              </a:highlight>
              <a:latin typeface="Quattrocento Sans"/>
              <a:ea typeface="Quattrocento Sans"/>
              <a:cs typeface="Quattrocento Sans"/>
              <a:sym typeface="Quattrocento Sans"/>
            </a:endParaRPr>
          </a:p>
          <a:p>
            <a:pPr indent="0" lvl="0" marL="342900" marR="0" rtl="0" algn="l">
              <a:lnSpc>
                <a:spcPct val="115000"/>
              </a:lnSpc>
              <a:spcBef>
                <a:spcPts val="300"/>
              </a:spcBef>
              <a:spcAft>
                <a:spcPts val="0"/>
              </a:spcAft>
              <a:buClr>
                <a:srgbClr val="000000"/>
              </a:buClr>
              <a:buSzPts val="1200"/>
              <a:buFont typeface="Arial"/>
              <a:buNone/>
            </a:pPr>
            <a:r>
              <a:rPr b="0" i="0" lang="en" sz="1200" u="none" cap="none" strike="noStrike">
                <a:solidFill>
                  <a:schemeClr val="dk1"/>
                </a:solidFill>
                <a:highlight>
                  <a:schemeClr val="lt1"/>
                </a:highlight>
                <a:latin typeface="Quattrocento Sans"/>
                <a:ea typeface="Quattrocento Sans"/>
                <a:cs typeface="Quattrocento Sans"/>
                <a:sym typeface="Quattrocento Sans"/>
              </a:rPr>
              <a:t>Each column of the dataset which </a:t>
            </a:r>
            <a:r>
              <a:rPr b="0" i="0" lang="en" sz="1200" u="none" cap="none" strike="noStrike">
                <a:solidFill>
                  <a:srgbClr val="001D35"/>
                </a:solidFill>
                <a:highlight>
                  <a:srgbClr val="FFFFFF"/>
                </a:highlight>
                <a:latin typeface="Quattrocento Sans"/>
                <a:ea typeface="Quattrocento Sans"/>
                <a:cs typeface="Quattrocento Sans"/>
                <a:sym typeface="Quattrocento Sans"/>
              </a:rPr>
              <a:t>describe an example</a:t>
            </a:r>
            <a:endParaRPr b="0" i="0" sz="1200" u="none" cap="none" strike="noStrike">
              <a:solidFill>
                <a:srgbClr val="000000"/>
              </a:solidFill>
              <a:highlight>
                <a:srgbClr val="FFFFFF"/>
              </a:highlight>
              <a:latin typeface="Quattrocento Sans"/>
              <a:ea typeface="Quattrocento Sans"/>
              <a:cs typeface="Quattrocento Sans"/>
              <a:sym typeface="Quattrocento Sans"/>
            </a:endParaRPr>
          </a:p>
          <a:p>
            <a:pPr indent="-196850" lvl="0" marL="342900" marR="0" rtl="0" algn="l">
              <a:lnSpc>
                <a:spcPct val="115000"/>
              </a:lnSpc>
              <a:spcBef>
                <a:spcPts val="500"/>
              </a:spcBef>
              <a:spcAft>
                <a:spcPts val="0"/>
              </a:spcAft>
              <a:buClr>
                <a:schemeClr val="accent1"/>
              </a:buClr>
              <a:buSzPts val="1300"/>
              <a:buFont typeface="Arial"/>
              <a:buChar char="◉"/>
            </a:pPr>
            <a:r>
              <a:rPr b="1" i="0" lang="en" sz="1300" u="none" cap="none" strike="noStrike">
                <a:solidFill>
                  <a:srgbClr val="000000"/>
                </a:solidFill>
                <a:highlight>
                  <a:srgbClr val="FFFFFF"/>
                </a:highlight>
                <a:latin typeface="Quattrocento Sans"/>
                <a:ea typeface="Quattrocento Sans"/>
                <a:cs typeface="Quattrocento Sans"/>
                <a:sym typeface="Quattrocento Sans"/>
              </a:rPr>
              <a:t>Label</a:t>
            </a:r>
            <a:r>
              <a:rPr b="1" i="0" lang="en" sz="1200" u="none" cap="none" strike="noStrike">
                <a:solidFill>
                  <a:srgbClr val="000000"/>
                </a:solidFill>
                <a:highlight>
                  <a:srgbClr val="FFFFFF"/>
                </a:highlight>
                <a:latin typeface="Quattrocento Sans"/>
                <a:ea typeface="Quattrocento Sans"/>
                <a:cs typeface="Quattrocento Sans"/>
                <a:sym typeface="Quattrocento Sans"/>
              </a:rPr>
              <a:t> </a:t>
            </a:r>
            <a:r>
              <a:rPr b="0" i="0" lang="en" sz="1200" u="none" cap="none" strike="noStrike">
                <a:solidFill>
                  <a:srgbClr val="000000"/>
                </a:solidFill>
                <a:highlight>
                  <a:srgbClr val="FFFFFF"/>
                </a:highlight>
                <a:latin typeface="Quattrocento Sans"/>
                <a:ea typeface="Quattrocento Sans"/>
                <a:cs typeface="Quattrocento Sans"/>
                <a:sym typeface="Quattrocento Sans"/>
              </a:rPr>
              <a:t>(Target, Outcome, Class, Dependent variable):</a:t>
            </a:r>
            <a:endParaRPr b="0" i="0" sz="1200" u="none" cap="none" strike="noStrike">
              <a:solidFill>
                <a:srgbClr val="000000"/>
              </a:solidFill>
              <a:highlight>
                <a:srgbClr val="FFFFFF"/>
              </a:highlight>
              <a:latin typeface="Quattrocento Sans"/>
              <a:ea typeface="Quattrocento Sans"/>
              <a:cs typeface="Quattrocento Sans"/>
              <a:sym typeface="Quattrocento Sans"/>
            </a:endParaRPr>
          </a:p>
          <a:p>
            <a:pPr indent="0" lvl="0" marL="342900" marR="0" rtl="0" algn="l">
              <a:lnSpc>
                <a:spcPct val="115000"/>
              </a:lnSpc>
              <a:spcBef>
                <a:spcPts val="500"/>
              </a:spcBef>
              <a:spcAft>
                <a:spcPts val="0"/>
              </a:spcAft>
              <a:buClr>
                <a:srgbClr val="000000"/>
              </a:buClr>
              <a:buSzPts val="1200"/>
              <a:buFont typeface="Arial"/>
              <a:buNone/>
            </a:pPr>
            <a:r>
              <a:rPr b="0" i="0" lang="en" sz="1200" u="none" cap="none" strike="noStrike">
                <a:solidFill>
                  <a:srgbClr val="000000"/>
                </a:solidFill>
                <a:highlight>
                  <a:srgbClr val="FFFFFF"/>
                </a:highlight>
                <a:latin typeface="Quattrocento Sans"/>
                <a:ea typeface="Quattrocento Sans"/>
                <a:cs typeface="Quattrocento Sans"/>
                <a:sym typeface="Quattrocento Sans"/>
              </a:rPr>
              <a:t>Target variable that model is trained to predict</a:t>
            </a:r>
            <a:endParaRPr b="0" i="0" sz="1200" u="none" cap="none" strike="noStrike">
              <a:solidFill>
                <a:srgbClr val="000000"/>
              </a:solidFill>
              <a:highlight>
                <a:srgbClr val="FFFFFF"/>
              </a:highlight>
              <a:latin typeface="Quattrocento Sans"/>
              <a:ea typeface="Quattrocento Sans"/>
              <a:cs typeface="Quattrocento Sans"/>
              <a:sym typeface="Quattrocento Sans"/>
            </a:endParaRPr>
          </a:p>
          <a:p>
            <a:pPr indent="0" lvl="0" marL="914400" marR="0" rtl="0" algn="l">
              <a:lnSpc>
                <a:spcPct val="100000"/>
              </a:lnSpc>
              <a:spcBef>
                <a:spcPts val="500"/>
              </a:spcBef>
              <a:spcAft>
                <a:spcPts val="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t/>
            </a:r>
            <a:endParaRPr b="0" i="0" sz="4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t/>
            </a:r>
            <a:endParaRPr b="0" i="0" sz="8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0"/>
              </a:spcAft>
              <a:buClr>
                <a:srgbClr val="000000"/>
              </a:buClr>
              <a:buSzPts val="1300"/>
              <a:buFont typeface="Arial"/>
              <a:buNone/>
            </a:pPr>
            <a:r>
              <a:rPr b="0" i="0" lang="en" sz="1200" u="none" cap="none" strike="noStrike">
                <a:solidFill>
                  <a:srgbClr val="000000"/>
                </a:solidFill>
                <a:latin typeface="Quattrocento Sans"/>
                <a:ea typeface="Quattrocento Sans"/>
                <a:cs typeface="Quattrocento Sans"/>
                <a:sym typeface="Quattrocento Sans"/>
              </a:rPr>
              <a:t>Matrix notation</a:t>
            </a:r>
            <a:endParaRPr b="0" i="0" sz="12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300"/>
              </a:spcBef>
              <a:spcAft>
                <a:spcPts val="300"/>
              </a:spcAft>
              <a:buClr>
                <a:srgbClr val="000000"/>
              </a:buClr>
              <a:buSzPts val="1300"/>
              <a:buFont typeface="Arial"/>
              <a:buNone/>
            </a:pPr>
            <a:r>
              <a:rPr b="0" i="0" lang="en" sz="1200" u="none" cap="none" strike="noStrike">
                <a:solidFill>
                  <a:srgbClr val="000000"/>
                </a:solidFill>
                <a:latin typeface="Quattrocento Sans"/>
                <a:ea typeface="Quattrocento Sans"/>
                <a:cs typeface="Quattrocento Sans"/>
                <a:sym typeface="Quattrocento Sans"/>
              </a:rPr>
              <a:t>of data:</a:t>
            </a:r>
            <a:endParaRPr b="0" i="0" sz="1200" u="none" cap="none" strike="noStrike">
              <a:solidFill>
                <a:srgbClr val="000000"/>
              </a:solidFill>
              <a:latin typeface="Quattrocento Sans"/>
              <a:ea typeface="Quattrocento Sans"/>
              <a:cs typeface="Quattrocento Sans"/>
              <a:sym typeface="Quattrocento Sans"/>
            </a:endParaRPr>
          </a:p>
        </p:txBody>
      </p:sp>
      <p:pic>
        <p:nvPicPr>
          <p:cNvPr id="814" name="Google Shape;814;g38330b8285a_0_165" title="Screen Shot 2025-09-24 at 3.14.03 PM.png"/>
          <p:cNvPicPr preferRelativeResize="0"/>
          <p:nvPr/>
        </p:nvPicPr>
        <p:blipFill rotWithShape="1">
          <a:blip r:embed="rId3">
            <a:alphaModFix/>
          </a:blip>
          <a:srcRect b="0" l="0" r="0" t="0"/>
          <a:stretch/>
        </p:blipFill>
        <p:spPr>
          <a:xfrm>
            <a:off x="4923911" y="1658767"/>
            <a:ext cx="3738549" cy="2732479"/>
          </a:xfrm>
          <a:prstGeom prst="rect">
            <a:avLst/>
          </a:prstGeom>
          <a:noFill/>
          <a:ln>
            <a:noFill/>
          </a:ln>
        </p:spPr>
      </p:pic>
      <p:pic>
        <p:nvPicPr>
          <p:cNvPr id="815" name="Google Shape;815;g38330b8285a_0_165" title="Screen Shot 2025-09-24 at 3.14.12 PM.png"/>
          <p:cNvPicPr preferRelativeResize="0"/>
          <p:nvPr/>
        </p:nvPicPr>
        <p:blipFill rotWithShape="1">
          <a:blip r:embed="rId4">
            <a:alphaModFix/>
          </a:blip>
          <a:srcRect b="0" l="0" r="0" t="0"/>
          <a:stretch/>
        </p:blipFill>
        <p:spPr>
          <a:xfrm>
            <a:off x="1956625" y="3706135"/>
            <a:ext cx="2237175" cy="10067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g3dd637020ec_0_252"/>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Common Scaling Methods</a:t>
            </a:r>
            <a:endParaRPr>
              <a:highlight>
                <a:schemeClr val="accent1"/>
              </a:highlight>
            </a:endParaRPr>
          </a:p>
        </p:txBody>
      </p:sp>
      <p:grpSp>
        <p:nvGrpSpPr>
          <p:cNvPr id="821" name="Google Shape;821;g3dd637020ec_0_252"/>
          <p:cNvGrpSpPr/>
          <p:nvPr/>
        </p:nvGrpSpPr>
        <p:grpSpPr>
          <a:xfrm>
            <a:off x="916458" y="1019750"/>
            <a:ext cx="214625" cy="214625"/>
            <a:chOff x="2594050" y="1631825"/>
            <a:chExt cx="439625" cy="439625"/>
          </a:xfrm>
        </p:grpSpPr>
        <p:sp>
          <p:nvSpPr>
            <p:cNvPr id="822" name="Google Shape;822;g3dd637020ec_0_252"/>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g3dd637020ec_0_252"/>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g3dd637020ec_0_252"/>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g3dd637020ec_0_252"/>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26" name="Google Shape;826;g3dd637020ec_0_252"/>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827" name="Google Shape;827;g3dd637020ec_0_252"/>
          <p:cNvSpPr txBox="1"/>
          <p:nvPr/>
        </p:nvSpPr>
        <p:spPr>
          <a:xfrm>
            <a:off x="684275" y="1547800"/>
            <a:ext cx="8246700" cy="3400800"/>
          </a:xfrm>
          <a:prstGeom prst="rect">
            <a:avLst/>
          </a:prstGeom>
          <a:noFill/>
          <a:ln>
            <a:noFill/>
          </a:ln>
        </p:spPr>
        <p:txBody>
          <a:bodyPr anchorCtr="0" anchor="t" bIns="91425" lIns="91425" spcFirstLastPara="1" rIns="91425" wrap="square" tIns="91425">
            <a:noAutofit/>
          </a:bodyPr>
          <a:lstStyle/>
          <a:p>
            <a:pPr indent="-184150" lvl="0" marL="342900" marR="0" rtl="0" algn="l">
              <a:lnSpc>
                <a:spcPct val="115000"/>
              </a:lnSpc>
              <a:spcBef>
                <a:spcPts val="0"/>
              </a:spcBef>
              <a:spcAft>
                <a:spcPts val="0"/>
              </a:spcAft>
              <a:buClr>
                <a:schemeClr val="accent1"/>
              </a:buClr>
              <a:buSzPts val="1100"/>
              <a:buFont typeface="Arial"/>
              <a:buChar char="◉"/>
            </a:pPr>
            <a:r>
              <a:rPr b="1" i="0" lang="en" sz="1300" u="none" cap="none" strike="noStrike">
                <a:solidFill>
                  <a:schemeClr val="dk1"/>
                </a:solidFill>
                <a:latin typeface="Quattrocento Sans"/>
                <a:ea typeface="Quattrocento Sans"/>
                <a:cs typeface="Quattrocento Sans"/>
                <a:sym typeface="Quattrocento Sans"/>
              </a:rPr>
              <a:t>Min-Max Scaling (Normalization)</a:t>
            </a:r>
            <a:endParaRPr b="1" i="0" sz="13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30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Scales features to [0, 1]</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Preserves the shape of original distribution</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Use when:</a:t>
            </a:r>
            <a:r>
              <a:rPr b="0" i="0" lang="en" sz="1200" u="none" cap="none" strike="noStrike">
                <a:solidFill>
                  <a:schemeClr val="dk1"/>
                </a:solidFill>
                <a:latin typeface="Quattrocento Sans"/>
                <a:ea typeface="Quattrocento Sans"/>
                <a:cs typeface="Quattrocento Sans"/>
                <a:sym typeface="Quattrocento Sans"/>
              </a:rPr>
              <a:t> You want all numbers to fit in the same range, like pixels in an image or percentages</a:t>
            </a:r>
            <a:endParaRPr b="0" i="0" sz="1200" u="none" cap="none" strike="noStrike">
              <a:solidFill>
                <a:schemeClr val="dk1"/>
              </a:solidFill>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Quattrocento Sans"/>
              <a:ea typeface="Quattrocento Sans"/>
              <a:cs typeface="Quattrocento Sans"/>
              <a:sym typeface="Quattrocento Sans"/>
            </a:endParaRPr>
          </a:p>
          <a:p>
            <a:pPr indent="0" lvl="0" marL="51435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Quattrocento Sans"/>
              <a:ea typeface="Quattrocento Sans"/>
              <a:cs typeface="Quattrocento Sans"/>
              <a:sym typeface="Quattrocento Sans"/>
            </a:endParaRPr>
          </a:p>
          <a:p>
            <a:pPr indent="-184150" lvl="0" marL="342900" marR="0" rtl="0" algn="l">
              <a:lnSpc>
                <a:spcPct val="115000"/>
              </a:lnSpc>
              <a:spcBef>
                <a:spcPts val="0"/>
              </a:spcBef>
              <a:spcAft>
                <a:spcPts val="0"/>
              </a:spcAft>
              <a:buClr>
                <a:schemeClr val="accent1"/>
              </a:buClr>
              <a:buSzPts val="1100"/>
              <a:buFont typeface="Arial"/>
              <a:buChar char="◉"/>
            </a:pPr>
            <a:r>
              <a:rPr b="1" i="0" lang="en" sz="1300" u="none" cap="none" strike="noStrike">
                <a:solidFill>
                  <a:schemeClr val="dk1"/>
                </a:solidFill>
                <a:latin typeface="Quattrocento Sans"/>
                <a:ea typeface="Quattrocento Sans"/>
                <a:cs typeface="Quattrocento Sans"/>
                <a:sym typeface="Quattrocento Sans"/>
              </a:rPr>
              <a:t>Z-Score Scaling (Standardization)</a:t>
            </a:r>
            <a:endParaRPr b="1" i="0" sz="13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30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Centers data at 0 with standard deviation 1</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0" i="0" lang="en" sz="1200" u="none" cap="none" strike="noStrike">
                <a:solidFill>
                  <a:schemeClr val="dk1"/>
                </a:solidFill>
                <a:latin typeface="Quattrocento Sans"/>
                <a:ea typeface="Quattrocento Sans"/>
                <a:cs typeface="Quattrocento Sans"/>
                <a:sym typeface="Quattrocento Sans"/>
              </a:rPr>
              <a:t>Can produce negative values</a:t>
            </a:r>
            <a:endParaRPr b="0" i="0" sz="1200" u="none" cap="none" strike="noStrike">
              <a:solidFill>
                <a:schemeClr val="dk1"/>
              </a:solidFill>
              <a:latin typeface="Quattrocento Sans"/>
              <a:ea typeface="Quattrocento Sans"/>
              <a:cs typeface="Quattrocento Sans"/>
              <a:sym typeface="Quattrocento Sans"/>
            </a:endParaRPr>
          </a:p>
          <a:p>
            <a:pPr indent="-184150" lvl="1" marL="514350" marR="0" rtl="0" algn="l">
              <a:lnSpc>
                <a:spcPct val="115000"/>
              </a:lnSpc>
              <a:spcBef>
                <a:spcPts val="0"/>
              </a:spcBef>
              <a:spcAft>
                <a:spcPts val="0"/>
              </a:spcAft>
              <a:buClr>
                <a:schemeClr val="accent1"/>
              </a:buClr>
              <a:buSzPts val="1100"/>
              <a:buFont typeface="Quattrocento Sans"/>
              <a:buChar char="○"/>
            </a:pPr>
            <a:r>
              <a:rPr b="1" i="0" lang="en" sz="1200" u="none" cap="none" strike="noStrike">
                <a:solidFill>
                  <a:schemeClr val="dk1"/>
                </a:solidFill>
                <a:latin typeface="Quattrocento Sans"/>
                <a:ea typeface="Quattrocento Sans"/>
                <a:cs typeface="Quattrocento Sans"/>
                <a:sym typeface="Quattrocento Sans"/>
              </a:rPr>
              <a:t>Use when:</a:t>
            </a:r>
            <a:r>
              <a:rPr b="0" i="0" lang="en" sz="1200" u="none" cap="none" strike="noStrike">
                <a:solidFill>
                  <a:schemeClr val="dk1"/>
                </a:solidFill>
                <a:latin typeface="Quattrocento Sans"/>
                <a:ea typeface="Quattrocento Sans"/>
                <a:cs typeface="Quattrocento Sans"/>
                <a:sym typeface="Quattrocento Sans"/>
              </a:rPr>
              <a:t> Features have very different sizes or units, like height in cm vs weight in kg, </a:t>
            </a:r>
            <a:endParaRPr b="0" i="0" sz="1200" u="none" cap="none" strike="noStrike">
              <a:solidFill>
                <a:schemeClr val="dk1"/>
              </a:solidFill>
              <a:latin typeface="Quattrocento Sans"/>
              <a:ea typeface="Quattrocento Sans"/>
              <a:cs typeface="Quattrocento Sans"/>
              <a:sym typeface="Quattrocento Sans"/>
            </a:endParaRPr>
          </a:p>
          <a:p>
            <a:pPr indent="400050" lvl="0" marL="97155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Quattrocento Sans"/>
                <a:ea typeface="Quattrocento Sans"/>
                <a:cs typeface="Quattrocento Sans"/>
                <a:sym typeface="Quattrocento Sans"/>
              </a:rPr>
              <a:t>so each feature contributes equally</a:t>
            </a:r>
            <a:endParaRPr b="0" i="0" sz="1200" u="none" cap="none" strike="noStrike">
              <a:solidFill>
                <a:schemeClr val="dk1"/>
              </a:solidFill>
              <a:latin typeface="Quattrocento Sans"/>
              <a:ea typeface="Quattrocento Sans"/>
              <a:cs typeface="Quattrocento Sans"/>
              <a:sym typeface="Quattrocento Sans"/>
            </a:endParaRPr>
          </a:p>
          <a:p>
            <a:pPr indent="400050" lvl="0" marL="97155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chemeClr val="dk1"/>
                </a:solidFill>
                <a:latin typeface="Quattrocento Sans"/>
                <a:ea typeface="Quattrocento Sans"/>
                <a:cs typeface="Quattrocento Sans"/>
                <a:sym typeface="Quattrocento Sans"/>
              </a:rPr>
              <a:t>Tip:</a:t>
            </a:r>
            <a:r>
              <a:rPr b="0" i="0" lang="en" sz="1200" u="none" cap="none" strike="noStrike">
                <a:solidFill>
                  <a:schemeClr val="dk1"/>
                </a:solidFill>
                <a:latin typeface="Quattrocento Sans"/>
                <a:ea typeface="Quattrocento Sans"/>
                <a:cs typeface="Quattrocento Sans"/>
                <a:sym typeface="Quattrocento Sans"/>
              </a:rPr>
              <a:t> For gradient descent, standardization is usually safer because it avoids huge gradients caused by large feature values.</a:t>
            </a:r>
            <a:endParaRPr b="0" i="0" sz="1200" u="none" cap="none" strike="noStrike">
              <a:solidFill>
                <a:schemeClr val="dk1"/>
              </a:solidFill>
              <a:latin typeface="Quattrocento Sans"/>
              <a:ea typeface="Quattrocento Sans"/>
              <a:cs typeface="Quattrocento Sans"/>
              <a:sym typeface="Quattrocento Sans"/>
            </a:endParaRPr>
          </a:p>
        </p:txBody>
      </p:sp>
      <p:pic>
        <p:nvPicPr>
          <p:cNvPr id="828" name="Google Shape;828;g3dd637020ec_0_252" title="Screen Shot 2025-10-10 at 1.02.46 PM.png"/>
          <p:cNvPicPr preferRelativeResize="0"/>
          <p:nvPr/>
        </p:nvPicPr>
        <p:blipFill rotWithShape="1">
          <a:blip r:embed="rId3">
            <a:alphaModFix/>
          </a:blip>
          <a:srcRect b="0" l="0" r="0" t="0"/>
          <a:stretch/>
        </p:blipFill>
        <p:spPr>
          <a:xfrm>
            <a:off x="5349713" y="1565604"/>
            <a:ext cx="1869437" cy="607850"/>
          </a:xfrm>
          <a:prstGeom prst="rect">
            <a:avLst/>
          </a:prstGeom>
          <a:noFill/>
          <a:ln>
            <a:noFill/>
          </a:ln>
        </p:spPr>
      </p:pic>
      <p:pic>
        <p:nvPicPr>
          <p:cNvPr id="829" name="Google Shape;829;g3dd637020ec_0_252" title="Screen Shot 2025-10-10 at 1.02.57 PM.png"/>
          <p:cNvPicPr preferRelativeResize="0"/>
          <p:nvPr/>
        </p:nvPicPr>
        <p:blipFill rotWithShape="1">
          <a:blip r:embed="rId4">
            <a:alphaModFix/>
          </a:blip>
          <a:srcRect b="0" l="0" r="0" t="0"/>
          <a:stretch/>
        </p:blipFill>
        <p:spPr>
          <a:xfrm>
            <a:off x="5385323" y="2991394"/>
            <a:ext cx="1237375" cy="513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g3dd637020ec_0_188"/>
          <p:cNvSpPr txBox="1"/>
          <p:nvPr>
            <p:ph type="title"/>
          </p:nvPr>
        </p:nvSpPr>
        <p:spPr>
          <a:xfrm>
            <a:off x="1381250" y="896100"/>
            <a:ext cx="6611400" cy="43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Gradient Descent</a:t>
            </a:r>
            <a:endParaRPr>
              <a:highlight>
                <a:schemeClr val="accent1"/>
              </a:highlight>
            </a:endParaRPr>
          </a:p>
        </p:txBody>
      </p:sp>
      <p:grpSp>
        <p:nvGrpSpPr>
          <p:cNvPr id="835" name="Google Shape;835;g3dd637020ec_0_188"/>
          <p:cNvGrpSpPr/>
          <p:nvPr/>
        </p:nvGrpSpPr>
        <p:grpSpPr>
          <a:xfrm>
            <a:off x="916458" y="1019750"/>
            <a:ext cx="214625" cy="214625"/>
            <a:chOff x="2594050" y="1631825"/>
            <a:chExt cx="439625" cy="439625"/>
          </a:xfrm>
        </p:grpSpPr>
        <p:sp>
          <p:nvSpPr>
            <p:cNvPr id="836" name="Google Shape;836;g3dd637020ec_0_188"/>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g3dd637020ec_0_188"/>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g3dd637020ec_0_188"/>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g3dd637020ec_0_188"/>
            <p:cNvSpPr/>
            <p:nvPr/>
          </p:nvSpPr>
          <p:spPr>
            <a:xfrm>
              <a:off x="2814912" y="1754062"/>
              <a:ext cx="49950" cy="49950"/>
            </a:xfrm>
            <a:custGeom>
              <a:rect b="b" l="l" r="r" t="t"/>
              <a:pathLst>
                <a:path extrusionOk="0" fill="none" h="1998" w="1998">
                  <a:moveTo>
                    <a:pt x="1" y="1997"/>
                  </a:moveTo>
                  <a:lnTo>
                    <a:pt x="1998" y="0"/>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0" name="Google Shape;840;g3dd637020ec_0_188"/>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841" name="Google Shape;841;g3dd637020ec_0_188"/>
          <p:cNvSpPr txBox="1"/>
          <p:nvPr/>
        </p:nvSpPr>
        <p:spPr>
          <a:xfrm>
            <a:off x="684275" y="1547800"/>
            <a:ext cx="4536600" cy="3278700"/>
          </a:xfrm>
          <a:prstGeom prst="rect">
            <a:avLst/>
          </a:prstGeom>
          <a:noFill/>
          <a:ln>
            <a:noFill/>
          </a:ln>
        </p:spPr>
        <p:txBody>
          <a:bodyPr anchorCtr="0" anchor="t" bIns="91425" lIns="91425" spcFirstLastPara="1" rIns="91425" wrap="square" tIns="91425">
            <a:noAutofit/>
          </a:bodyPr>
          <a:lstStyle/>
          <a:p>
            <a:pPr indent="-184150" lvl="0" marL="342900" marR="0" rtl="0" algn="l">
              <a:lnSpc>
                <a:spcPct val="115000"/>
              </a:lnSpc>
              <a:spcBef>
                <a:spcPts val="0"/>
              </a:spcBef>
              <a:spcAft>
                <a:spcPts val="0"/>
              </a:spcAft>
              <a:buClr>
                <a:schemeClr val="accent1"/>
              </a:buClr>
              <a:buSzPts val="1100"/>
              <a:buFont typeface="Arial"/>
              <a:buChar char="◉"/>
            </a:pPr>
            <a:r>
              <a:rPr b="0" i="0" lang="en" sz="1300" u="none" cap="none" strike="noStrike">
                <a:solidFill>
                  <a:schemeClr val="dk1"/>
                </a:solidFill>
                <a:latin typeface="Quattrocento Sans"/>
                <a:ea typeface="Quattrocento Sans"/>
                <a:cs typeface="Quattrocento Sans"/>
                <a:sym typeface="Quattrocento Sans"/>
              </a:rPr>
              <a:t>Update weights by taking a step in the opposite direction of the gradient of the loss function</a:t>
            </a:r>
            <a:endParaRPr b="0" i="0" sz="1300" u="none" cap="none" strike="noStrike">
              <a:solidFill>
                <a:schemeClr val="dk1"/>
              </a:solidFill>
              <a:latin typeface="Quattrocento Sans"/>
              <a:ea typeface="Quattrocento Sans"/>
              <a:cs typeface="Quattrocento Sans"/>
              <a:sym typeface="Quattrocento Sans"/>
            </a:endParaRPr>
          </a:p>
          <a:p>
            <a:pPr indent="0" lvl="0" marL="342900" marR="0" rtl="0" algn="l">
              <a:lnSpc>
                <a:spcPct val="115000"/>
              </a:lnSpc>
              <a:spcBef>
                <a:spcPts val="300"/>
              </a:spcBef>
              <a:spcAft>
                <a:spcPts val="0"/>
              </a:spcAft>
              <a:buClr>
                <a:srgbClr val="000000"/>
              </a:buClr>
              <a:buSzPts val="900"/>
              <a:buFont typeface="Arial"/>
              <a:buNone/>
            </a:pPr>
            <a:r>
              <a:t/>
            </a:r>
            <a:endParaRPr b="0" i="0" sz="900" u="none" cap="none" strike="noStrike">
              <a:solidFill>
                <a:schemeClr val="dk1"/>
              </a:solidFill>
              <a:latin typeface="Quattrocento Sans"/>
              <a:ea typeface="Quattrocento Sans"/>
              <a:cs typeface="Quattrocento Sans"/>
              <a:sym typeface="Quattrocento Sans"/>
            </a:endParaRPr>
          </a:p>
          <a:p>
            <a:pPr indent="0" lvl="0" marL="342900" marR="0" rtl="0" algn="l">
              <a:lnSpc>
                <a:spcPct val="115000"/>
              </a:lnSpc>
              <a:spcBef>
                <a:spcPts val="300"/>
              </a:spcBef>
              <a:spcAft>
                <a:spcPts val="0"/>
              </a:spcAft>
              <a:buClr>
                <a:srgbClr val="000000"/>
              </a:buClr>
              <a:buSzPts val="1000"/>
              <a:buFont typeface="Arial"/>
              <a:buNone/>
            </a:pPr>
            <a:r>
              <a:t/>
            </a:r>
            <a:endParaRPr b="0" i="0" sz="1000" u="none" cap="none" strike="noStrike">
              <a:solidFill>
                <a:schemeClr val="dk1"/>
              </a:solidFill>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0" i="0" lang="en" sz="1300" u="none" cap="none" strike="noStrike">
                <a:solidFill>
                  <a:schemeClr val="dk1"/>
                </a:solidFill>
                <a:latin typeface="Quattrocento Sans"/>
                <a:ea typeface="Quattrocento Sans"/>
                <a:cs typeface="Quattrocento Sans"/>
                <a:sym typeface="Quattrocento Sans"/>
              </a:rPr>
              <a:t>Compute Gradient: Take derivatives w.r.t weights &amp; bias:</a:t>
            </a:r>
            <a:endParaRPr b="0" i="0" sz="13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300"/>
              <a:buFont typeface="Arial"/>
              <a:buNone/>
            </a:pPr>
            <a:r>
              <a:t/>
            </a:r>
            <a:endParaRPr b="0" i="0" sz="13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700"/>
              <a:buFont typeface="Arial"/>
              <a:buNone/>
            </a:pPr>
            <a:r>
              <a:t/>
            </a:r>
            <a:endParaRPr b="0" i="0" sz="17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500"/>
              <a:buFont typeface="Arial"/>
              <a:buNone/>
            </a:pPr>
            <a:r>
              <a:t/>
            </a:r>
            <a:endParaRPr b="0" i="0" sz="1500" u="none" cap="none" strike="noStrike">
              <a:solidFill>
                <a:schemeClr val="dk1"/>
              </a:solidFill>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0" i="0" lang="en" sz="1300" u="none" cap="none" strike="noStrike">
                <a:solidFill>
                  <a:schemeClr val="dk1"/>
                </a:solidFill>
                <a:latin typeface="Quattrocento Sans"/>
                <a:ea typeface="Quattrocento Sans"/>
                <a:cs typeface="Quattrocento Sans"/>
                <a:sym typeface="Quattrocento Sans"/>
              </a:rPr>
              <a:t>So the weight update:</a:t>
            </a:r>
            <a:endParaRPr b="0" i="0" sz="13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1600"/>
              <a:buFont typeface="Arial"/>
              <a:buNone/>
            </a:pPr>
            <a:r>
              <a:t/>
            </a:r>
            <a:endParaRPr b="0" i="0" sz="16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300"/>
              </a:spcBef>
              <a:spcAft>
                <a:spcPts val="0"/>
              </a:spcAft>
              <a:buClr>
                <a:srgbClr val="000000"/>
              </a:buClr>
              <a:buSzPts val="800"/>
              <a:buFont typeface="Arial"/>
              <a:buNone/>
            </a:pPr>
            <a:r>
              <a:t/>
            </a:r>
            <a:endParaRPr b="0" i="0" sz="800" u="none" cap="none" strike="noStrike">
              <a:solidFill>
                <a:schemeClr val="dk1"/>
              </a:solidFill>
              <a:latin typeface="Quattrocento Sans"/>
              <a:ea typeface="Quattrocento Sans"/>
              <a:cs typeface="Quattrocento Sans"/>
              <a:sym typeface="Quattrocento Sans"/>
            </a:endParaRPr>
          </a:p>
          <a:p>
            <a:pPr indent="-184150" lvl="0" marL="342900" marR="0" rtl="0" algn="l">
              <a:lnSpc>
                <a:spcPct val="115000"/>
              </a:lnSpc>
              <a:spcBef>
                <a:spcPts val="300"/>
              </a:spcBef>
              <a:spcAft>
                <a:spcPts val="0"/>
              </a:spcAft>
              <a:buClr>
                <a:schemeClr val="accent1"/>
              </a:buClr>
              <a:buSzPts val="1100"/>
              <a:buFont typeface="Arial"/>
              <a:buChar char="◉"/>
            </a:pPr>
            <a:r>
              <a:rPr b="0" i="0" lang="en" sz="1300" u="none" cap="none" strike="noStrike">
                <a:solidFill>
                  <a:schemeClr val="dk1"/>
                </a:solidFill>
                <a:latin typeface="Quattrocento Sans"/>
                <a:ea typeface="Quattrocento Sans"/>
                <a:cs typeface="Quattrocento Sans"/>
                <a:sym typeface="Quattrocento Sans"/>
              </a:rPr>
              <a:t>So overall:</a:t>
            </a:r>
            <a:endParaRPr b="0" i="0" sz="1200" u="none" cap="none" strike="noStrike">
              <a:solidFill>
                <a:schemeClr val="dk1"/>
              </a:solidFill>
              <a:latin typeface="Quattrocento Sans"/>
              <a:ea typeface="Quattrocento Sans"/>
              <a:cs typeface="Quattrocento Sans"/>
              <a:sym typeface="Quattrocento Sans"/>
            </a:endParaRPr>
          </a:p>
          <a:p>
            <a:pPr indent="0" lvl="0" marL="0" marR="0" rtl="0" algn="l">
              <a:lnSpc>
                <a:spcPct val="115000"/>
              </a:lnSpc>
              <a:spcBef>
                <a:spcPts val="800"/>
              </a:spcBef>
              <a:spcAft>
                <a:spcPts val="200"/>
              </a:spcAft>
              <a:buClr>
                <a:srgbClr val="000000"/>
              </a:buClr>
              <a:buSzPts val="1300"/>
              <a:buFont typeface="Arial"/>
              <a:buNone/>
            </a:pPr>
            <a:r>
              <a:t/>
            </a:r>
            <a:endParaRPr b="0" i="0" sz="1300" u="none" cap="none" strike="noStrike">
              <a:solidFill>
                <a:srgbClr val="000000"/>
              </a:solidFill>
              <a:latin typeface="Quattrocento Sans"/>
              <a:ea typeface="Quattrocento Sans"/>
              <a:cs typeface="Quattrocento Sans"/>
              <a:sym typeface="Quattrocento Sans"/>
            </a:endParaRPr>
          </a:p>
        </p:txBody>
      </p:sp>
      <p:pic>
        <p:nvPicPr>
          <p:cNvPr id="842" name="Google Shape;842;g3dd637020ec_0_188" title="Screen Shot 2025-10-03 at 12.29.26 PM.png"/>
          <p:cNvPicPr preferRelativeResize="0"/>
          <p:nvPr/>
        </p:nvPicPr>
        <p:blipFill rotWithShape="1">
          <a:blip r:embed="rId3">
            <a:alphaModFix/>
          </a:blip>
          <a:srcRect b="26713" l="0" r="0" t="0"/>
          <a:stretch/>
        </p:blipFill>
        <p:spPr>
          <a:xfrm>
            <a:off x="5653941" y="1479725"/>
            <a:ext cx="2281526" cy="275142"/>
          </a:xfrm>
          <a:prstGeom prst="rect">
            <a:avLst/>
          </a:prstGeom>
          <a:noFill/>
          <a:ln>
            <a:noFill/>
          </a:ln>
        </p:spPr>
      </p:pic>
      <p:pic>
        <p:nvPicPr>
          <p:cNvPr id="843" name="Google Shape;843;g3dd637020ec_0_188" title="Screen Shot 2025-10-03 at 12.34.34 PM.png"/>
          <p:cNvPicPr preferRelativeResize="0"/>
          <p:nvPr/>
        </p:nvPicPr>
        <p:blipFill rotWithShape="1">
          <a:blip r:embed="rId4">
            <a:alphaModFix/>
          </a:blip>
          <a:srcRect b="0" l="0" r="0" t="0"/>
          <a:stretch/>
        </p:blipFill>
        <p:spPr>
          <a:xfrm>
            <a:off x="5272375" y="1787575"/>
            <a:ext cx="3108900" cy="347475"/>
          </a:xfrm>
          <a:prstGeom prst="rect">
            <a:avLst/>
          </a:prstGeom>
          <a:noFill/>
          <a:ln>
            <a:noFill/>
          </a:ln>
        </p:spPr>
      </p:pic>
      <p:pic>
        <p:nvPicPr>
          <p:cNvPr id="844" name="Google Shape;844;g3dd637020ec_0_188" title="Screen Shot 2025-10-03 at 12.44.37 PM.png"/>
          <p:cNvPicPr preferRelativeResize="0"/>
          <p:nvPr/>
        </p:nvPicPr>
        <p:blipFill rotWithShape="1">
          <a:blip r:embed="rId5">
            <a:alphaModFix/>
          </a:blip>
          <a:srcRect b="0" l="0" r="0" t="0"/>
          <a:stretch/>
        </p:blipFill>
        <p:spPr>
          <a:xfrm>
            <a:off x="5674920" y="2391171"/>
            <a:ext cx="2281514" cy="516408"/>
          </a:xfrm>
          <a:prstGeom prst="rect">
            <a:avLst/>
          </a:prstGeom>
          <a:noFill/>
          <a:ln>
            <a:noFill/>
          </a:ln>
        </p:spPr>
      </p:pic>
      <p:pic>
        <p:nvPicPr>
          <p:cNvPr id="845" name="Google Shape;845;g3dd637020ec_0_188" title="Screen Shot 2025-10-03 at 12.45.50 PM.png"/>
          <p:cNvPicPr preferRelativeResize="0"/>
          <p:nvPr/>
        </p:nvPicPr>
        <p:blipFill rotWithShape="1">
          <a:blip r:embed="rId6">
            <a:alphaModFix/>
          </a:blip>
          <a:srcRect b="0" l="0" r="0" t="0"/>
          <a:stretch/>
        </p:blipFill>
        <p:spPr>
          <a:xfrm>
            <a:off x="5674920" y="2910974"/>
            <a:ext cx="2281523" cy="646097"/>
          </a:xfrm>
          <a:prstGeom prst="rect">
            <a:avLst/>
          </a:prstGeom>
          <a:noFill/>
          <a:ln>
            <a:noFill/>
          </a:ln>
        </p:spPr>
      </p:pic>
      <p:pic>
        <p:nvPicPr>
          <p:cNvPr id="846" name="Google Shape;846;g3dd637020ec_0_188" title="Screen Shot 2025-10-03 at 12.57.53 PM.png"/>
          <p:cNvPicPr preferRelativeResize="0"/>
          <p:nvPr/>
        </p:nvPicPr>
        <p:blipFill rotWithShape="1">
          <a:blip r:embed="rId7">
            <a:alphaModFix/>
          </a:blip>
          <a:srcRect b="0" l="0" r="0" t="0"/>
          <a:stretch/>
        </p:blipFill>
        <p:spPr>
          <a:xfrm>
            <a:off x="5360970" y="3636377"/>
            <a:ext cx="2601876" cy="516400"/>
          </a:xfrm>
          <a:prstGeom prst="rect">
            <a:avLst/>
          </a:prstGeom>
          <a:noFill/>
          <a:ln>
            <a:noFill/>
          </a:ln>
        </p:spPr>
      </p:pic>
      <p:pic>
        <p:nvPicPr>
          <p:cNvPr id="847" name="Google Shape;847;g3dd637020ec_0_188" title="Screen Shot 2025-10-03 at 1.02.43 PM.png"/>
          <p:cNvPicPr preferRelativeResize="0"/>
          <p:nvPr/>
        </p:nvPicPr>
        <p:blipFill rotWithShape="1">
          <a:blip r:embed="rId8">
            <a:alphaModFix/>
          </a:blip>
          <a:srcRect b="0" l="0" r="0" t="0"/>
          <a:stretch/>
        </p:blipFill>
        <p:spPr>
          <a:xfrm>
            <a:off x="3245910" y="4320675"/>
            <a:ext cx="4931727" cy="572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iola template">
  <a:themeElements>
    <a:clrScheme name="Custom 347">
      <a:dk1>
        <a:srgbClr val="000000"/>
      </a:dk1>
      <a:lt1>
        <a:srgbClr val="FFFFFF"/>
      </a:lt1>
      <a:dk2>
        <a:srgbClr val="8A8682"/>
      </a:dk2>
      <a:lt2>
        <a:srgbClr val="F0EEE9"/>
      </a:lt2>
      <a:accent1>
        <a:srgbClr val="FFCD00"/>
      </a:accent1>
      <a:accent2>
        <a:srgbClr val="F6921D"/>
      </a:accent2>
      <a:accent3>
        <a:srgbClr val="A7693A"/>
      </a:accent3>
      <a:accent4>
        <a:srgbClr val="D8D6D2"/>
      </a:accent4>
      <a:accent5>
        <a:srgbClr val="979593"/>
      </a:accent5>
      <a:accent6>
        <a:srgbClr val="6F6868"/>
      </a:accent6>
      <a:hlink>
        <a:srgbClr val="000000"/>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